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09560" y="960120"/>
            <a:ext cx="4251960" cy="4251960"/>
          </a:xfrm>
          <a:prstGeom prst="ellipse">
            <a:avLst/>
          </a:prstGeom>
          <a:solidFill>
            <a:srgbClr val="13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1463040"/>
            <a:ext cx="3246120" cy="3246120"/>
          </a:xfrm>
          <a:prstGeom prst="ellipse">
            <a:avLst/>
          </a:prstGeom>
          <a:solidFill>
            <a:srgbClr val="1B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4380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4380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4380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4380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4380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4380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4380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4380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4380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4380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4380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4380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4380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4380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9010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9010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9010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9010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9010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9010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9010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010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9010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9010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9010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9010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010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9010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9010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9010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3640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640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3640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3640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3640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3640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3640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3640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3640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3640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3640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3640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3640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83640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83640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83640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8271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8271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8271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8271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98271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8271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98271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8271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8271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98271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8271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8271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8271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8271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8271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98271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12901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12901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2901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12901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12901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12901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2901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2901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12901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12901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12901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12901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12901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12901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12901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12901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27532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7532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27532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7532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7532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27532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7532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7532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532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27532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27532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27532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27532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27532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27532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27532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42162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42162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42162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42162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42162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162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42162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42162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42162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2162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42162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42162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42162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42162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42162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42162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6792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6792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6792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6792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6792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6792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6792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6792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6792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6792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6792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6792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6792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6792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56792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56792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71423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71423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71423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71423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1423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71423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71423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71423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71423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71423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71423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71423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71423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71423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71423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71423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86053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86053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6053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86053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86053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86053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86053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86053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86053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86053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86053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86053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86053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86053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53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86053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00684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0684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900684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900684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00684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0684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00684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00684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00684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00684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00684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00684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00684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00684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00684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00684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15314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15314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5314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15314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15314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15314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5314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915314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915314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915314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915314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15314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15314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915314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15314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15314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29944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29944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29944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29944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29944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29944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29944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929944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29944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929944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929944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29944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929944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29944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29944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929944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944575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4575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944575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944575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44575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944575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44575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44575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44575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944575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944575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944575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944575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44575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4575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44575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59205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59205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959205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59205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59205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9205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959205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959205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959205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959205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59205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959205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959205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959205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959205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959205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973836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973836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973836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73836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836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973836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973836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973836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973836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973836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973836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973836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73836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73836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73836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73836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0" name="Connector 259"/>
          <p:cNvCxnSpPr/>
          <p:nvPr/>
        </p:nvCxnSpPr>
        <p:spPr>
          <a:xfrm>
            <a:off x="749808" y="493776"/>
            <a:ext cx="10698480" cy="0"/>
          </a:xfrm>
          <a:prstGeom prst="line">
            <a:avLst/>
          </a:prstGeom>
          <a:ln w="8890">
            <a:solidFill>
              <a:srgbClr val="1C2A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TextBox 260"/>
          <p:cNvSpPr txBox="1"/>
          <p:nvPr/>
        </p:nvSpPr>
        <p:spPr>
          <a:xfrm>
            <a:off x="768096" y="6583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AURA / 00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49808" y="1353312"/>
            <a:ext cx="47548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300" b="1" i="0">
                <a:solidFill>
                  <a:srgbClr val="F1F5FF"/>
                </a:solidFill>
                <a:latin typeface="Aptos Display"/>
              </a:rPr>
              <a:t>AURA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86384" y="2267712"/>
            <a:ext cx="576072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</a:pPr>
            <a:r>
              <a:rPr sz="2800" b="1" i="0">
                <a:solidFill>
                  <a:srgbClr val="F1F5FF"/>
                </a:solidFill>
                <a:latin typeface="Aptos Display"/>
              </a:rPr>
              <a:t>AI Native Engineering</a:t>
            </a:r>
          </a:p>
          <a:p>
            <a:pPr algn="l">
              <a:lnSpc>
                <a:spcPct val="93000"/>
              </a:lnSpc>
            </a:pPr>
            <a:r>
              <a:rPr sz="2800" b="1" i="0">
                <a:solidFill>
                  <a:srgbClr val="F1F5FF"/>
                </a:solidFill>
                <a:latin typeface="Aptos Display"/>
              </a:rPr>
              <a:t>Operating Environment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04672" y="351129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1A0BA"/>
                </a:solidFill>
                <a:latin typeface="Aptos"/>
              </a:rPr>
              <a:t>A project-first workspace for understanding systems,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1A0BA"/>
                </a:solidFill>
                <a:latin typeface="Aptos"/>
              </a:rPr>
              <a:t>reasoning over evidence, and governing change.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04672" y="4700016"/>
            <a:ext cx="4069080" cy="36576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04672" y="4919472"/>
            <a:ext cx="4983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4BD8F7"/>
                </a:solidFill>
                <a:latin typeface="Aptos"/>
              </a:rPr>
              <a:t>THE UNIT OF WORK IS THE PROJECT — NOT THE PROMPT.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804672" y="6172200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60708D"/>
                </a:solidFill>
                <a:latin typeface="Aptos"/>
              </a:rPr>
              <a:t>Architecture brief  ·  current working tree  ·  31 July 2026</a:t>
            </a:r>
          </a:p>
        </p:txBody>
      </p:sp>
      <p:sp>
        <p:nvSpPr>
          <p:cNvPr id="268" name="Oval 267"/>
          <p:cNvSpPr/>
          <p:nvPr/>
        </p:nvSpPr>
        <p:spPr>
          <a:xfrm>
            <a:off x="9184233" y="2051913"/>
            <a:ext cx="1711756" cy="1711756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9445752" y="2313432"/>
            <a:ext cx="1188720" cy="1188720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9802368" y="2670048"/>
            <a:ext cx="475488" cy="47548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>
            <a:off x="8910828" y="2907792"/>
            <a:ext cx="511149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658246" y="2907792"/>
            <a:ext cx="511150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0040112" y="1778508"/>
            <a:ext cx="0" cy="511149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0040112" y="3525926"/>
            <a:ext cx="0" cy="51115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/>
          <p:cNvSpPr/>
          <p:nvPr/>
        </p:nvSpPr>
        <p:spPr>
          <a:xfrm>
            <a:off x="7406640" y="1353312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7516367" y="1490472"/>
            <a:ext cx="109728" cy="10972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708392" y="1481328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PROJECT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10680192" y="1527048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0789919" y="1664207"/>
            <a:ext cx="109728" cy="10972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10981944" y="1655064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KNOWLEDGE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7498079" y="4535424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607807" y="4672584"/>
            <a:ext cx="109728" cy="10972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799831" y="4663440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REASONING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10570464" y="4334256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0680192" y="4471416"/>
            <a:ext cx="109728" cy="10972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10872216" y="4462272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APPROVAL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8549640" y="1719072"/>
            <a:ext cx="996696" cy="594360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>
            <a:off x="10607040" y="1929384"/>
            <a:ext cx="64008" cy="384048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8668512" y="3529584"/>
            <a:ext cx="896112" cy="1207008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10561320" y="3538728"/>
            <a:ext cx="0" cy="923544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49808" y="6473952"/>
            <a:ext cx="1069848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768096" y="6565392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045952" y="6537960"/>
            <a:ext cx="4023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01 / THE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 chat window can answer a prompt. It cannot hold a project.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856231"/>
            <a:ext cx="45720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 i="0">
                <a:solidFill>
                  <a:srgbClr val="F1F5FF"/>
                </a:solidFill>
                <a:latin typeface="Aptos Display"/>
              </a:rPr>
              <a:t>Today’s AI coding assistant is optimized for</a:t>
            </a:r>
          </a:p>
          <a:p>
            <a:pPr algn="l">
              <a:lnSpc>
                <a:spcPct val="95000"/>
              </a:lnSpc>
            </a:pPr>
            <a:r>
              <a:rPr sz="2200" b="1" i="0">
                <a:solidFill>
                  <a:srgbClr val="F1F5FF"/>
                </a:solidFill>
                <a:latin typeface="Aptos Display"/>
              </a:rPr>
              <a:t>conversation — not engineering continuity.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07792"/>
            <a:ext cx="4315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7000"/>
              </a:lnSpc>
            </a:pPr>
            <a:r>
              <a:rPr sz="1120" b="0" i="0">
                <a:solidFill>
                  <a:srgbClr val="91A0BA"/>
                </a:solidFill>
                <a:latin typeface="Aptos"/>
              </a:rPr>
              <a:t>The missing layer is not another model. It is the environment around the model: durable context, evidence, planning, and controlled change.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9936"/>
            <a:ext cx="4114800" cy="100584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297680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4BD8F7"/>
                </a:solidFill>
                <a:latin typeface="Aptos"/>
              </a:rPr>
              <a:t>PROMPT  → 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2686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19" b="0" i="0">
                <a:solidFill>
                  <a:srgbClr val="91A0BA"/>
                </a:solidFill>
                <a:latin typeface="Aptos"/>
              </a:rPr>
              <a:t>Useful in the moment. Fragile across the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1847088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24728" y="2048256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7336" y="2029968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BD8F7"/>
                </a:solidFill>
                <a:latin typeface="Aptos"/>
              </a:rPr>
              <a:t>CHAT-SHAPED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4728" y="2377440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Conversation is the primary unit; the repository is background.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847088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32520" y="2048256"/>
            <a:ext cx="164592" cy="16459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5128" y="2029968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AE8BFF"/>
                </a:solidFill>
                <a:latin typeface="Aptos"/>
              </a:rPr>
              <a:t>STATELESS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2377440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Context evaporates between tasks, sessions, and engineers.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3474720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24728" y="3675887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17336" y="3657600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5E83FF"/>
                </a:solidFill>
                <a:latin typeface="Aptos"/>
              </a:rPr>
              <a:t>PROMPT-LOCAL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4005072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No durable graph of symbols, dependencies, health, or hotspots.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1352" y="3474720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32520" y="3675887"/>
            <a:ext cx="164592" cy="16459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5128" y="3657600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UNPLANNED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005072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No goal graph, checkpoints, or governed path from intent to change.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2704" y="5257800"/>
            <a:ext cx="2286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THE DESIGN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5495544"/>
            <a:ext cx="5257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7000"/>
              </a:lnSpc>
            </a:pPr>
            <a:r>
              <a:rPr sz="1300" b="1" i="0">
                <a:solidFill>
                  <a:srgbClr val="F1F5FF"/>
                </a:solidFill>
                <a:latin typeface="Aptos Display"/>
              </a:rPr>
              <a:t>How do we make AI useful across the lifecycle of a system —</a:t>
            </a:r>
          </a:p>
          <a:p>
            <a:pPr algn="l">
              <a:lnSpc>
                <a:spcPct val="97000"/>
              </a:lnSpc>
            </a:pPr>
            <a:r>
              <a:rPr sz="1300" b="1" i="0">
                <a:solidFill>
                  <a:srgbClr val="F1F5FF"/>
                </a:solidFill>
                <a:latin typeface="Aptos Display"/>
              </a:rPr>
              <a:t>without surrendering engineering judgment?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02 / THE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Make the environment intelligent before making it autonomous.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AURA changes the unit of work from a prompt to a project.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NORTH STAR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56231"/>
            <a:ext cx="2834640" cy="315468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2247" y="2570927"/>
            <a:ext cx="948049" cy="948049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47088" y="2715768"/>
            <a:ext cx="658368" cy="658368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44598" y="2913278"/>
            <a:ext cx="263347" cy="263347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550822" y="3044952"/>
            <a:ext cx="283098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18623" y="3044952"/>
            <a:ext cx="283098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76272" y="2419502"/>
            <a:ext cx="0" cy="283098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76272" y="3387303"/>
            <a:ext cx="0" cy="283098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33271" y="38679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3000"/>
              </a:lnSpc>
            </a:pPr>
            <a:r>
              <a:rPr sz="1900" b="1" i="0">
                <a:solidFill>
                  <a:srgbClr val="F1F5FF"/>
                </a:solidFill>
                <a:latin typeface="Aptos Display"/>
              </a:rPr>
              <a:t>PROJECT</a:t>
            </a:r>
          </a:p>
          <a:p>
            <a:pPr algn="ctr">
              <a:lnSpc>
                <a:spcPct val="93000"/>
              </a:lnSpc>
            </a:pPr>
            <a:r>
              <a:rPr sz="1900" b="1" i="0">
                <a:solidFill>
                  <a:srgbClr val="F1F5FF"/>
                </a:solidFill>
                <a:latin typeface="Aptos Display"/>
              </a:rPr>
              <a:t>AS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" y="46268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90" b="0" i="0">
                <a:solidFill>
                  <a:srgbClr val="91A0BA"/>
                </a:solidFill>
                <a:latin typeface="Aptos"/>
              </a:rPr>
              <a:t>AURA keeps the repository, its structure, its decisions, and its changes in one governed environment.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03320" y="3383280"/>
            <a:ext cx="594360" cy="0"/>
          </a:xfrm>
          <a:prstGeom prst="line">
            <a:avLst/>
          </a:prstGeom>
          <a:ln w="1905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4251960" y="3337560"/>
            <a:ext cx="91440" cy="91440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1856231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THREE INVERSIONS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221284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73168" y="2414016"/>
            <a:ext cx="402336" cy="40233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2542032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4" y="235915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KNOWLEDGE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GENERATION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38658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The graph and project facts are assembled before the provider is called.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326440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73168" y="3465576"/>
            <a:ext cx="402336" cy="40233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3593591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8384" y="341071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DETERMINISTIC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PROBABILISTIC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90688" y="343814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Signals, checks, limits, and arithmetic constrain model judgment.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31596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773168" y="4517136"/>
            <a:ext cx="402336" cy="40233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4645152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8384" y="446227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PROPOSAL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MUTATION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0688" y="448970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Analyze, diagnose, and plan freely; write only after explicit human acceptance.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0" y="5458968"/>
            <a:ext cx="6382512" cy="475488"/>
          </a:xfrm>
          <a:prstGeom prst="roundRect">
            <a:avLst/>
          </a:prstGeom>
          <a:solidFill>
            <a:srgbClr val="152B3A"/>
          </a:solidFill>
          <a:ln w="12700">
            <a:solidFill>
              <a:srgbClr val="2C5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91456" y="5614416"/>
            <a:ext cx="5943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NOT AN AUTONOMOUS EDITOR  ·  A GOVERNED ENGINEERING ENVIRONMENT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03 / 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vertical system of understanding, reasoning, and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desktop is the frame; intelligence is layered around the project.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ARCHITECTURE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1810512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03320" y="1810512"/>
            <a:ext cx="54864" cy="512064"/>
          </a:xfrm>
          <a:prstGeom prst="rect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04487" y="1984248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1929384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DEVELOPER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1975104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intent · selection · approval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3620" y="2340864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67044" y="2395728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03320" y="2487168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2487168"/>
            <a:ext cx="54864" cy="51206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2660904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5E83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606040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651760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React shell · Monaco · context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03620" y="3017520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67044" y="3072384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03320" y="3163824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03320" y="3163824"/>
            <a:ext cx="54864" cy="512064"/>
          </a:xfrm>
          <a:prstGeom prst="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04487" y="3337560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AE8BFF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3282696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KNOWLEDGE FABRIC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332841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coding index · full-stack graph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03620" y="3694176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6067044" y="3749040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703320" y="3840480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03320" y="3840480"/>
            <a:ext cx="54864" cy="51206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04487" y="4014216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5E83FF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3959352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ENGINEERING 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4005072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actions · diagnosis · project facts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03620" y="4370832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67044" y="4425696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703320" y="4517136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703320" y="4517136"/>
            <a:ext cx="54864" cy="512064"/>
          </a:xfrm>
          <a:prstGeom prst="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04487" y="4690872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FFBF5B"/>
                </a:solidFill>
                <a:latin typeface="Aptos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4636008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4681728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goal graph · DAG · checkpoints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03620" y="5047488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10800000">
            <a:off x="6067044" y="5102352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703320" y="5193792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703320" y="5193792"/>
            <a:ext cx="54864" cy="512064"/>
          </a:xfrm>
          <a:prstGeom prst="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04487" y="5367528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7DCA2"/>
                </a:solidFill>
                <a:latin typeface="Aptos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5312664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65392" y="5358383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health · audits · quality gates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8096" y="1938528"/>
            <a:ext cx="2286000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2176272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LOCAL PROJECT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" y="2487168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Files  ·  Git  ·  profiles</a:t>
            </a:r>
          </a:p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~/.aura JSON stores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090672" y="2551176"/>
            <a:ext cx="566928" cy="0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3621024" y="2514600"/>
            <a:ext cx="73152" cy="73152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68096" y="3867912"/>
            <a:ext cx="2286000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1038758" y="4199656"/>
            <a:ext cx="168981" cy="27158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38758" y="4226814"/>
            <a:ext cx="66385" cy="159928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05143" y="4199656"/>
            <a:ext cx="102596" cy="187086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99530" y="4187586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68511" y="4160428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65916" y="4347514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17320" y="407822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AE8BFF"/>
                </a:solidFill>
                <a:latin typeface="Aptos"/>
              </a:rPr>
              <a:t>PROJECT TRUTH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" y="44348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Facts before opinions</a:t>
            </a:r>
          </a:p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Evidence before action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090672" y="4443984"/>
            <a:ext cx="566928" cy="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3621024" y="4407408"/>
            <a:ext cx="73152" cy="73152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162288" y="1938528"/>
            <a:ext cx="2267712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372600" y="2185416"/>
            <a:ext cx="1691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5E83FF"/>
                </a:solidFill>
                <a:latin typeface="Aptos"/>
              </a:rPr>
              <a:t>BYO AI RUNTIME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248716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Provider adapters</a:t>
            </a:r>
          </a:p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streaming · model discovery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8577072" y="4078224"/>
            <a:ext cx="566928" cy="0"/>
          </a:xfrm>
          <a:prstGeom prst="line">
            <a:avLst/>
          </a:prstGeom>
          <a:ln w="12700">
            <a:solidFill>
              <a:srgbClr val="5E8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Isosceles Triangle 76"/>
          <p:cNvSpPr/>
          <p:nvPr/>
        </p:nvSpPr>
        <p:spPr>
          <a:xfrm rot="16200000">
            <a:off x="8540496" y="4041648"/>
            <a:ext cx="73152" cy="73152"/>
          </a:xfrm>
          <a:prstGeom prst="triangl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162288" y="3867912"/>
            <a:ext cx="2267712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entagon 78"/>
          <p:cNvSpPr/>
          <p:nvPr/>
        </p:nvSpPr>
        <p:spPr>
          <a:xfrm rot="10800000">
            <a:off x="9381744" y="4142232"/>
            <a:ext cx="246888" cy="283921"/>
          </a:xfrm>
          <a:prstGeom prst="homePlate">
            <a:avLst/>
          </a:prstGeom>
          <a:noFill/>
          <a:ln w="1778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9450872" y="4273082"/>
            <a:ext cx="41971" cy="4197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492843" y="4228642"/>
            <a:ext cx="76535" cy="8641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784080" y="407822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7DCA2"/>
                </a:solidFill>
                <a:latin typeface="Aptos"/>
              </a:rPr>
              <a:t>TAURI V2 HOST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72600" y="44348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Thin Rust core</a:t>
            </a:r>
          </a:p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filesystem boundary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577072" y="4581144"/>
            <a:ext cx="566928" cy="0"/>
          </a:xfrm>
          <a:prstGeom prst="line">
            <a:avLst/>
          </a:prstGeom>
          <a:ln w="1270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Isosceles Triangle 84"/>
          <p:cNvSpPr/>
          <p:nvPr/>
        </p:nvSpPr>
        <p:spPr>
          <a:xfrm rot="16200000">
            <a:off x="8540496" y="4544568"/>
            <a:ext cx="73152" cy="73152"/>
          </a:xfrm>
          <a:prstGeom prst="triangl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5925312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1">
                <a:solidFill>
                  <a:srgbClr val="91A0BA"/>
                </a:solidFill>
                <a:latin typeface="Aptos"/>
              </a:rPr>
              <a:t>The architecture is additive: every subsystem reads from the same project context and returns control to the engineer.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04 / KNOWLEDGE FABRIC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The project becomes queryable before it becomes generative.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Two real engines turn files into searchable context and system-level relationships.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LIVE TODAY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47088"/>
            <a:ext cx="5266944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066543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CODING KNOWLEDGE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304288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1" i="0">
                <a:solidFill>
                  <a:srgbClr val="F1F5FF"/>
                </a:solidFill>
                <a:latin typeface="Aptos Display"/>
              </a:rPr>
              <a:t>Files → chunks → lexical retrieval →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4712" y="3035808"/>
            <a:ext cx="146304" cy="146304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filesystem + ignores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58568" y="3127248"/>
            <a:ext cx="146304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2372868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41448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51176" y="3035808"/>
            <a:ext cx="146304" cy="146304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52344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CHUNK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1176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language-aware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85032" y="3127248"/>
            <a:ext cx="146303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3799331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67912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77640" y="3035808"/>
            <a:ext cx="146304" cy="146304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78808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BM25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exact / prefix / fuzzy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639312"/>
            <a:ext cx="4389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91A0BA"/>
                </a:solidFill>
                <a:latin typeface="Aptos"/>
              </a:rPr>
              <a:t>neighboring chunks  ·  token budget  ·  source refs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1847088"/>
            <a:ext cx="5230368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2066543"/>
            <a:ext cx="2834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FULL-STACK KNOWLEDGE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2304288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1" i="0">
                <a:solidFill>
                  <a:srgbClr val="F1F5FF"/>
                </a:solidFill>
                <a:latin typeface="Aptos Display"/>
              </a:rPr>
              <a:t>Extractors → typed entities → relation graph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6248" y="3035808"/>
            <a:ext cx="146304" cy="146304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57416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EXTRACT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8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5 layer extractors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90104" y="3127248"/>
            <a:ext cx="146304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7804404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872983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982711" y="3035808"/>
            <a:ext cx="146304" cy="146304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83879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LINK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82711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cross-layer edges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16567" y="3127248"/>
            <a:ext cx="146305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230867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299448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409176" y="3035808"/>
            <a:ext cx="146304" cy="146304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10344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QUERY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09176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graph-aware search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3639312"/>
            <a:ext cx="4526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91A0BA"/>
                </a:solidFill>
                <a:latin typeface="Aptos"/>
              </a:rPr>
              <a:t>frontend  ·  backend  ·  database  ·  config  ·  architecture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401568" y="3959352"/>
            <a:ext cx="0" cy="411480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10800000">
            <a:off x="3364992" y="4334256"/>
            <a:ext cx="73152" cy="73152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96528" y="3959352"/>
            <a:ext cx="0" cy="41148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10800000">
            <a:off x="8759952" y="4334256"/>
            <a:ext cx="73152" cy="73152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408176" y="4425696"/>
            <a:ext cx="9418320" cy="987552"/>
          </a:xfrm>
          <a:prstGeom prst="roundRect">
            <a:avLst/>
          </a:prstGeom>
          <a:solidFill>
            <a:srgbClr val="12243A"/>
          </a:solidFill>
          <a:ln w="12700">
            <a:solidFill>
              <a:srgbClr val="2B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1783080" y="4778654"/>
            <a:ext cx="179222" cy="28804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783080" y="4807458"/>
            <a:ext cx="70408" cy="169621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853488" y="4778654"/>
            <a:ext cx="108814" cy="198425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741474" y="4765852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20697" y="4737049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811883" y="4935474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21992" y="461772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BD8F7"/>
                </a:solidFill>
                <a:latin typeface="Aptos"/>
              </a:rPr>
              <a:t>CONTEXT PACKAGE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1992" y="4928616"/>
            <a:ext cx="7223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files  ·  symbols  ·  relations  ·  neighbors  ·  source refs  ·  token budget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408176" y="5687568"/>
            <a:ext cx="2816352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81328" y="57652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09344" y="5728716"/>
            <a:ext cx="2569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KEYWORD + GRAPH RETRIEVAL IS LIVE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425696" y="5687568"/>
            <a:ext cx="3749039" cy="246888"/>
          </a:xfrm>
          <a:prstGeom prst="round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498848" y="5765292"/>
            <a:ext cx="82296" cy="8229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26864" y="5728716"/>
            <a:ext cx="35021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VECTOR / EMBEDDING PATH IS A RESERVED SEAM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5660136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40" b="0" i="1">
                <a:solidFill>
                  <a:srgbClr val="91A0BA"/>
                </a:solidFill>
                <a:latin typeface="Aptos"/>
              </a:rPr>
              <a:t>The current engines are deterministic and provider-independent; the model receives assembled context, not the raw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05 / AI CODE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Context is a first-class input to every code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Selection is the starting point; project relationships are what make the response useful.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103120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BD8F7"/>
                </a:solidFill>
                <a:latin typeface="Aptos"/>
              </a:rPr>
              <a:t>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Monaco range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file + symbol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42615" y="2624328"/>
            <a:ext cx="237745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2843784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44368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27248" y="2103120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5E83FF"/>
                </a:solidFill>
                <a:latin typeface="Aptos"/>
              </a:rPr>
              <a:t>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dependencies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dependents + graph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818888" y="2624328"/>
            <a:ext cx="237743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020055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03520" y="2103120"/>
            <a:ext cx="347472" cy="34747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AE8BFF"/>
                </a:solidFill>
                <a:latin typeface="Aptos"/>
              </a:rPr>
              <a:t>REASONING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provider-neutral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runtime call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95159" y="2624328"/>
            <a:ext cx="237745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196328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296912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79792" y="2103120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79792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6992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FBF5B"/>
                </a:solidFill>
                <a:latin typeface="Aptos"/>
              </a:rPr>
              <a:t>RESPONSE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explain · diff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new file · findings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71432" y="2624328"/>
            <a:ext cx="237744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372600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73184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56063" y="2103120"/>
            <a:ext cx="347472" cy="34747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6063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13263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7DCA2"/>
                </a:solidFill>
                <a:latin typeface="Aptos"/>
              </a:rPr>
              <a:t>APPROVAL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6063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accept / reject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save + reindex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858768"/>
            <a:ext cx="3712463" cy="1481328"/>
          </a:xfrm>
          <a:prstGeom prst="roundRect">
            <a:avLst/>
          </a:prstGeom>
          <a:solidFill>
            <a:srgbClr val="101A2A"/>
          </a:solidFill>
          <a:ln w="12700">
            <a:solidFill>
              <a:srgbClr val="294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4984" y="4087368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BD8F7"/>
                </a:solidFill>
                <a:latin typeface="Aptos"/>
              </a:rPr>
              <a:t>PROJECT CONTEXT / CURRENT SYMBOL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" y="4370832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1F5FF"/>
                </a:solidFill>
                <a:latin typeface="Aptos Display"/>
              </a:rPr>
              <a:t>fetchOrders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IMPORTS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5E83FF"/>
                </a:solidFill>
                <a:latin typeface="Aptos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66543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66543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AE8BFF"/>
                </a:solidFill>
                <a:latin typeface="Aptos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18104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RISK FLOOR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18104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BF5B"/>
                </a:solidFill>
                <a:latin typeface="Aptos"/>
              </a:rPr>
              <a:t>medium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2" y="3986784"/>
            <a:ext cx="62910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1F5FF"/>
                </a:solidFill>
                <a:latin typeface="Aptos Display"/>
              </a:rPr>
              <a:t>AURA context is already held client-side before the provider request.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489704"/>
            <a:ext cx="5349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60" b="0" i="0">
                <a:solidFill>
                  <a:srgbClr val="91A0BA"/>
                </a:solidFill>
                <a:latin typeface="Aptos"/>
              </a:rPr>
              <a:t>The action surface is deliberately small: explain, refactor, optimize, diagnose, generate tests, add docs, security review, simplify, convert, rename, or custom.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92040" y="5230368"/>
            <a:ext cx="6236208" cy="438912"/>
          </a:xfrm>
          <a:prstGeom prst="roundRect">
            <a:avLst/>
          </a:prstGeom>
          <a:solidFill>
            <a:srgbClr val="162A2D"/>
          </a:solidFill>
          <a:ln w="12700">
            <a:solidFill>
              <a:srgbClr val="2A5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5376672"/>
            <a:ext cx="576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47DCA2"/>
                </a:solidFill>
                <a:latin typeface="Aptos"/>
              </a:rPr>
              <a:t>NO AUTO-WRITE  ·  ACTION → PREVIEW → HUMAN ACCEPTANCE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06 / ENGINEERING DIAGNOSIS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Diagnosis is an evidence pipeline, not a guess.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Ten stages narrow uncertainty, compare candidate patches, and stop before an unsafe write.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2039112"/>
            <a:ext cx="274320" cy="27432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GATHER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filesystem · graph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git · compiler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6664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72968" y="2039112"/>
            <a:ext cx="274320" cy="27432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2968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5E83FF"/>
                </a:solidFill>
                <a:latin typeface="Aptos"/>
              </a:rPr>
              <a:t>CLASSIFY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2968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deterministic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category + 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31536" y="2039112"/>
            <a:ext cx="274320" cy="27432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31536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FFBF5B"/>
                </a:solidFill>
                <a:latin typeface="Aptos"/>
              </a:rPr>
              <a:t>UNKNOWN?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honest stop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no patch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90104" y="2039112"/>
            <a:ext cx="274320" cy="27432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0104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74152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ROOT CAUSE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0104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explanation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over signals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02368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948672" y="2039112"/>
            <a:ext cx="274320" cy="27432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48672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5E83FF"/>
                </a:solidFill>
                <a:latin typeface="Aptos"/>
              </a:rPr>
              <a:t>A / B /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minimal · defensive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refactor-adjacent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400" y="3273552"/>
            <a:ext cx="274320" cy="27432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8448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LIMIT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diff stats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exports · layers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26664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72968" y="3273552"/>
            <a:ext cx="274320" cy="27432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72968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57016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7DCA2"/>
                </a:solidFill>
                <a:latin typeface="Aptos"/>
              </a:rPr>
              <a:t>SIMULATE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72968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compiler · refs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category · tests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85232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431536" y="3273552"/>
            <a:ext cx="274320" cy="27432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1536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15584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FFBF5B"/>
                </a:solidFill>
                <a:latin typeface="Aptos"/>
              </a:rPr>
              <a:t>CONFIDENCE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31536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scores +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limiter decision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43800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690104" y="3273552"/>
            <a:ext cx="274320" cy="27432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90104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74152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90104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reviewer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per candidate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02368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8672" y="3273552"/>
            <a:ext cx="274320" cy="27432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48672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7DCA2"/>
                </a:solidFill>
                <a:latin typeface="Aptos"/>
              </a:rPr>
              <a:t>RECOMMEND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8672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comparison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ready for human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724912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2939796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0232136" y="3566160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16200000">
            <a:off x="10200132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983480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5198364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H="1">
            <a:off x="7973567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/>
          <p:cNvSpPr/>
          <p:nvPr/>
        </p:nvSpPr>
        <p:spPr>
          <a:xfrm rot="16200000">
            <a:off x="7941563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7242048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7456932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5714999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Isosceles Triangle 77"/>
          <p:cNvSpPr/>
          <p:nvPr/>
        </p:nvSpPr>
        <p:spPr>
          <a:xfrm rot="16200000">
            <a:off x="5682995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500616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5400000">
            <a:off x="9715500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456431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Isosceles Triangle 81"/>
          <p:cNvSpPr/>
          <p:nvPr/>
        </p:nvSpPr>
        <p:spPr>
          <a:xfrm rot="16200000">
            <a:off x="3424427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424160" y="2807208"/>
            <a:ext cx="0" cy="512064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Isosceles Triangle 83"/>
          <p:cNvSpPr/>
          <p:nvPr/>
        </p:nvSpPr>
        <p:spPr>
          <a:xfrm rot="10800000">
            <a:off x="10392156" y="3287268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68096" y="4718304"/>
            <a:ext cx="10826496" cy="694944"/>
          </a:xfrm>
          <a:prstGeom prst="roundRect">
            <a:avLst/>
          </a:prstGeom>
          <a:solidFill>
            <a:srgbClr val="132235"/>
          </a:solidFill>
          <a:ln w="12700">
            <a:solidFill>
              <a:srgbClr val="2B5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entagon 85"/>
          <p:cNvSpPr/>
          <p:nvPr/>
        </p:nvSpPr>
        <p:spPr>
          <a:xfrm rot="10800000">
            <a:off x="1024128" y="4892040"/>
            <a:ext cx="228600" cy="262890"/>
          </a:xfrm>
          <a:prstGeom prst="homePlate">
            <a:avLst/>
          </a:prstGeom>
          <a:noFill/>
          <a:ln w="1778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088136" y="5013198"/>
            <a:ext cx="38862" cy="3886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126998" y="4972050"/>
            <a:ext cx="70866" cy="80009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426464" y="4855464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DECISION SURFACE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27248" y="4846320"/>
            <a:ext cx="6309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Candidate compare  ·  Monaco diff  ·  patch limiter  ·  accept / reject  ·  memory record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24128" y="5166360"/>
            <a:ext cx="8321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Diagnosis runs over SSE stage events and writes nothing until an explicit accept action.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573768" y="4873752"/>
            <a:ext cx="1737360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646920" y="4951476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774936" y="4914900"/>
            <a:ext cx="14904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 WRITE DURING ANALYSIS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096" y="575157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1A0BA"/>
                </a:solidFill>
                <a:latin typeface="Aptos"/>
              </a:rPr>
              <a:t>The current implementation makes “unknown” a valid result — a useful property for an engineering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07 / MISSION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Intent becomes a governed execution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Mission Control turns a request into goals, dependencies, waves, checkpoints, and reviewable proposals.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V3 ENGINE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28800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PLANNING 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6968" y="2295144"/>
            <a:ext cx="265176" cy="26517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INTENT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classification +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refinement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38528" y="2596896"/>
            <a:ext cx="137160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2043684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21408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0279" y="2295144"/>
            <a:ext cx="265176" cy="26517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40279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5184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SIGNALS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health · hotspots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changes · debt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39" y="2596896"/>
            <a:ext cx="137161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3396996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0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3591" y="2295144"/>
            <a:ext cx="265176" cy="26517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1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GOAL GRAPH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8496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goals · tasks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dependencies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645152" y="2596896"/>
            <a:ext cx="137160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4750307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28031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46903" y="2295144"/>
            <a:ext cx="265176" cy="26517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46903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21807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7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deterministic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analysis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98464" y="2596896"/>
            <a:ext cx="137159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6103619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181344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00216" y="2295144"/>
            <a:ext cx="265176" cy="26517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0216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adversarial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quality score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8096" y="3493008"/>
            <a:ext cx="7132320" cy="2084831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40" y="3730752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EXECUTION DAG / DETERMINISTIC WAVES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4BD8F7"/>
                </a:solidFill>
                <a:latin typeface="Aptos"/>
              </a:rPr>
              <a:t>WAVE 01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07592" y="4489704"/>
            <a:ext cx="128016" cy="12801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90472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157984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2706624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80360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5E83FF"/>
                </a:solidFill>
                <a:latin typeface="Aptos"/>
              </a:rPr>
              <a:t>WAVE 02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971800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108960" y="4489704"/>
            <a:ext cx="128016" cy="12801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91840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959352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4507992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81728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AE8BFF"/>
                </a:solidFill>
                <a:latin typeface="Aptos"/>
              </a:rPr>
              <a:t>WAVE 03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73168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910328" y="4489704"/>
            <a:ext cx="128016" cy="12801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93208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760720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6309360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47DCA2"/>
                </a:solidFill>
                <a:latin typeface="Aptos"/>
              </a:rPr>
              <a:t>REVIEW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01383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38544" y="4489704"/>
            <a:ext cx="128016" cy="12801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21424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gate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4128" y="5093208"/>
            <a:ext cx="5212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91A0BA"/>
                </a:solidFill>
                <a:latin typeface="Aptos"/>
              </a:rPr>
              <a:t>queued  →  waiting  →  running  →  review  →  completed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38160" y="2148840"/>
            <a:ext cx="3273552" cy="941832"/>
          </a:xfrm>
          <a:prstGeom prst="roundRect">
            <a:avLst/>
          </a:prstGeom>
          <a:solidFill>
            <a:srgbClr val="2D2618"/>
          </a:solidFill>
          <a:ln w="12700">
            <a:solidFill>
              <a:srgbClr val="6C5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394192" y="2486070"/>
            <a:ext cx="237744" cy="171175"/>
          </a:xfrm>
          <a:prstGeom prst="roundRect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rc 77"/>
          <p:cNvSpPr/>
          <p:nvPr/>
        </p:nvSpPr>
        <p:spPr>
          <a:xfrm rot="10800000">
            <a:off x="8436985" y="2395728"/>
            <a:ext cx="152156" cy="147401"/>
          </a:xfrm>
          <a:prstGeom prst="arc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01176" y="2538374"/>
            <a:ext cx="26151" cy="26151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5672" y="2368296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FBF5B"/>
                </a:solidFill>
                <a:latin typeface="Aptos"/>
              </a:rPr>
              <a:t>PLAN APPROVAL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05672" y="2660904"/>
            <a:ext cx="2240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F1F5FF"/>
                </a:solidFill>
                <a:latin typeface="Aptos"/>
              </a:rPr>
              <a:t>No task starts before the whole plan is approved.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38160" y="3401568"/>
            <a:ext cx="3273552" cy="941832"/>
          </a:xfrm>
          <a:prstGeom prst="roundRect">
            <a:avLst/>
          </a:prstGeom>
          <a:solidFill>
            <a:srgbClr val="162A2D"/>
          </a:solidFill>
          <a:ln w="12700">
            <a:solidFill>
              <a:srgbClr val="2E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394192" y="3738798"/>
            <a:ext cx="237744" cy="171175"/>
          </a:xfrm>
          <a:prstGeom prst="roundRect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rc 83"/>
          <p:cNvSpPr/>
          <p:nvPr/>
        </p:nvSpPr>
        <p:spPr>
          <a:xfrm rot="10800000">
            <a:off x="8436985" y="3648456"/>
            <a:ext cx="152156" cy="147401"/>
          </a:xfrm>
          <a:prstGeom prst="arc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01176" y="3791102"/>
            <a:ext cx="26151" cy="26151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05672" y="3621024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7DCA2"/>
                </a:solidFill>
                <a:latin typeface="Aptos"/>
              </a:rPr>
              <a:t>TASK ACCEPTANCE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05672" y="3913632"/>
            <a:ext cx="2240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F1F5FF"/>
                </a:solidFill>
                <a:latin typeface="Aptos"/>
              </a:rPr>
              <a:t>A proposal is written only after its task is accepted.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138160" y="4690872"/>
            <a:ext cx="3273552" cy="88696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75904" y="4956048"/>
            <a:ext cx="2798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NO UNATTENDED EXECUTION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75904" y="5212080"/>
            <a:ext cx="2779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pause · resume · retry · cancel · replay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08 / ENGINEERING 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surface for the whole loop — not a single editor pane.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current desktop brings project navigation, Monaco, context, knowledge, diagnosis, and missions into one frame.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DESKTOP SURFACE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28800"/>
            <a:ext cx="10826496" cy="4078224"/>
          </a:xfrm>
          <a:prstGeom prst="roundRect">
            <a:avLst/>
          </a:prstGeom>
          <a:solidFill>
            <a:srgbClr val="0D1421"/>
          </a:solidFill>
          <a:ln w="12700">
            <a:solidFill>
              <a:srgbClr val="2C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1828800"/>
            <a:ext cx="10826496" cy="384048"/>
          </a:xfrm>
          <a:prstGeom prst="roundRect">
            <a:avLst/>
          </a:prstGeom>
          <a:solidFill>
            <a:srgbClr val="111C2C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" y="1956816"/>
            <a:ext cx="73152" cy="73152"/>
          </a:xfrm>
          <a:prstGeom prst="ellipse">
            <a:avLst/>
          </a:prstGeom>
          <a:solidFill>
            <a:srgbClr val="FF6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3856" y="1956816"/>
            <a:ext cx="73152" cy="7315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80160" y="1956816"/>
            <a:ext cx="73152" cy="7315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9344" y="194767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90" b="1" i="0">
                <a:solidFill>
                  <a:srgbClr val="91A0BA"/>
                </a:solidFill>
                <a:latin typeface="Aptos"/>
              </a:rPr>
              <a:t>AURA / CHECKOUT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4767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20" b="1" i="0">
                <a:solidFill>
                  <a:srgbClr val="60708D"/>
                </a:solidFill>
                <a:latin typeface="Aptos"/>
              </a:rPr>
              <a:t>⌘K  COMMAND 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" y="2212848"/>
            <a:ext cx="969264" cy="3694176"/>
          </a:xfrm>
          <a:prstGeom prst="rect">
            <a:avLst/>
          </a:prstGeom>
          <a:solidFill>
            <a:srgbClr val="10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4719" y="2384023"/>
            <a:ext cx="316016" cy="316016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43000" y="2432303"/>
            <a:ext cx="219456" cy="219456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08836" y="2498140"/>
            <a:ext cx="87782" cy="8778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044244" y="2542032"/>
            <a:ext cx="94366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366845" y="2542032"/>
            <a:ext cx="94366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52728" y="2333548"/>
            <a:ext cx="0" cy="94366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52728" y="2656149"/>
            <a:ext cx="0" cy="94366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024128" y="2944368"/>
            <a:ext cx="91440" cy="91440"/>
          </a:xfrm>
          <a:prstGeom prst="ellipse">
            <a:avLst/>
          </a:prstGeom>
          <a:solidFill>
            <a:srgbClr val="607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7864" y="29397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HOME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" y="3310128"/>
            <a:ext cx="694944" cy="283464"/>
          </a:xfrm>
          <a:prstGeom prst="roundRect">
            <a:avLst/>
          </a:prstGeom>
          <a:solidFill>
            <a:srgbClr val="203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4128" y="3383280"/>
            <a:ext cx="91440" cy="9144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97864" y="33787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F1F5FF"/>
                </a:solidFill>
                <a:latin typeface="Aptos"/>
              </a:rPr>
              <a:t>PROJECT</a:t>
            </a:r>
          </a:p>
        </p:txBody>
      </p:sp>
      <p:sp>
        <p:nvSpPr>
          <p:cNvPr id="37" name="Oval 36"/>
          <p:cNvSpPr/>
          <p:nvPr/>
        </p:nvSpPr>
        <p:spPr>
          <a:xfrm>
            <a:off x="1024128" y="3822191"/>
            <a:ext cx="91440" cy="9144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7864" y="381762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KNOW</a:t>
            </a:r>
          </a:p>
        </p:txBody>
      </p:sp>
      <p:sp>
        <p:nvSpPr>
          <p:cNvPr id="39" name="Oval 38"/>
          <p:cNvSpPr/>
          <p:nvPr/>
        </p:nvSpPr>
        <p:spPr>
          <a:xfrm>
            <a:off x="1024128" y="4261104"/>
            <a:ext cx="91440" cy="9144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97864" y="4256532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AI</a:t>
            </a:r>
          </a:p>
        </p:txBody>
      </p:sp>
      <p:sp>
        <p:nvSpPr>
          <p:cNvPr id="41" name="Oval 40"/>
          <p:cNvSpPr/>
          <p:nvPr/>
        </p:nvSpPr>
        <p:spPr>
          <a:xfrm>
            <a:off x="1024128" y="4700016"/>
            <a:ext cx="91440" cy="9144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97864" y="469544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MISSION</a:t>
            </a:r>
          </a:p>
        </p:txBody>
      </p:sp>
      <p:sp>
        <p:nvSpPr>
          <p:cNvPr id="43" name="Oval 42"/>
          <p:cNvSpPr/>
          <p:nvPr/>
        </p:nvSpPr>
        <p:spPr>
          <a:xfrm>
            <a:off x="1024128" y="5138928"/>
            <a:ext cx="91440" cy="9144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97864" y="513435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GOV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2212848"/>
            <a:ext cx="1920240" cy="3694176"/>
          </a:xfrm>
          <a:prstGeom prst="rect">
            <a:avLst/>
          </a:prstGeom>
          <a:solidFill>
            <a:srgbClr val="101927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56816" y="24871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EXPLORER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93392" y="288036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src</a:t>
            </a:r>
          </a:p>
        </p:txBody>
      </p:sp>
      <p:sp>
        <p:nvSpPr>
          <p:cNvPr id="48" name="Oval 47"/>
          <p:cNvSpPr/>
          <p:nvPr/>
        </p:nvSpPr>
        <p:spPr>
          <a:xfrm>
            <a:off x="2157984" y="3218688"/>
            <a:ext cx="64008" cy="64008"/>
          </a:xfrm>
          <a:prstGeom prst="ellipse">
            <a:avLst/>
          </a:prstGeom>
          <a:solidFill>
            <a:srgbClr val="91A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22576" y="3191256"/>
            <a:ext cx="10607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91A0BA"/>
                </a:solidFill>
                <a:latin typeface="Aptos"/>
              </a:rPr>
              <a:t>components</a:t>
            </a:r>
          </a:p>
        </p:txBody>
      </p:sp>
      <p:sp>
        <p:nvSpPr>
          <p:cNvPr id="50" name="Oval 49"/>
          <p:cNvSpPr/>
          <p:nvPr/>
        </p:nvSpPr>
        <p:spPr>
          <a:xfrm>
            <a:off x="2340864" y="3520439"/>
            <a:ext cx="64008" cy="6400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05456" y="3493008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App.tsx</a:t>
            </a:r>
          </a:p>
        </p:txBody>
      </p:sp>
      <p:sp>
        <p:nvSpPr>
          <p:cNvPr id="52" name="Oval 51"/>
          <p:cNvSpPr/>
          <p:nvPr/>
        </p:nvSpPr>
        <p:spPr>
          <a:xfrm>
            <a:off x="2157984" y="3822192"/>
            <a:ext cx="64008" cy="64008"/>
          </a:xfrm>
          <a:prstGeom prst="ellipse">
            <a:avLst/>
          </a:prstGeom>
          <a:solidFill>
            <a:srgbClr val="91A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22576" y="3794760"/>
            <a:ext cx="10607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91A0BA"/>
                </a:solidFill>
                <a:latin typeface="Aptos"/>
              </a:rPr>
              <a:t>workspace</a:t>
            </a:r>
          </a:p>
        </p:txBody>
      </p:sp>
      <p:sp>
        <p:nvSpPr>
          <p:cNvPr id="54" name="Oval 53"/>
          <p:cNvSpPr/>
          <p:nvPr/>
        </p:nvSpPr>
        <p:spPr>
          <a:xfrm>
            <a:off x="2340864" y="4123944"/>
            <a:ext cx="64008" cy="6400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05456" y="4096512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mission</a:t>
            </a:r>
          </a:p>
        </p:txBody>
      </p:sp>
      <p:sp>
        <p:nvSpPr>
          <p:cNvPr id="56" name="Oval 55"/>
          <p:cNvSpPr/>
          <p:nvPr/>
        </p:nvSpPr>
        <p:spPr>
          <a:xfrm>
            <a:off x="2340864" y="4425696"/>
            <a:ext cx="64008" cy="6400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05456" y="4398264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pipeline.ts</a:t>
            </a:r>
          </a:p>
        </p:txBody>
      </p:sp>
      <p:sp>
        <p:nvSpPr>
          <p:cNvPr id="58" name="Oval 57"/>
          <p:cNvSpPr/>
          <p:nvPr/>
        </p:nvSpPr>
        <p:spPr>
          <a:xfrm>
            <a:off x="2340864" y="4727448"/>
            <a:ext cx="64008" cy="6400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05456" y="4700016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index.ts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56816" y="5212080"/>
            <a:ext cx="1408176" cy="384048"/>
          </a:xfrm>
          <a:prstGeom prst="roundRect">
            <a:avLst/>
          </a:prstGeom>
          <a:solidFill>
            <a:srgbClr val="16283E"/>
          </a:solidFill>
          <a:ln w="12700">
            <a:solidFill>
              <a:srgbClr val="2B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21408" y="5340096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50" b="1" i="0">
                <a:solidFill>
                  <a:srgbClr val="4BD8F7"/>
                </a:solidFill>
                <a:latin typeface="Aptos"/>
              </a:rPr>
              <a:t>+ ASK AURA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0" y="2212848"/>
            <a:ext cx="4242816" cy="3694176"/>
          </a:xfrm>
          <a:prstGeom prst="rect">
            <a:avLst/>
          </a:prstGeom>
          <a:solidFill>
            <a:srgbClr val="0B111C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5344" y="24871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orders.ts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88152" y="24871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00" b="1" i="0">
                <a:solidFill>
                  <a:srgbClr val="60708D"/>
                </a:solidFill>
                <a:latin typeface="Aptos"/>
              </a:rPr>
              <a:t>CODE  ·  DIFF  ·  DIAGNOSE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77056" y="290779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52544" y="2916936"/>
            <a:ext cx="2578608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77056" y="3127248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52544" y="3136391"/>
            <a:ext cx="2048256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77056" y="3346704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52544" y="3355848"/>
            <a:ext cx="2816352" cy="50292"/>
          </a:xfrm>
          <a:prstGeom prst="rect">
            <a:avLst/>
          </a:prstGeom>
          <a:solidFill>
            <a:srgbClr val="36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61104" y="3282696"/>
            <a:ext cx="3401568" cy="182880"/>
          </a:xfrm>
          <a:prstGeom prst="rect">
            <a:avLst/>
          </a:prstGeom>
          <a:solidFill>
            <a:srgbClr val="15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77056" y="3566160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52544" y="3575304"/>
            <a:ext cx="155448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77056" y="3785616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52544" y="3794760"/>
            <a:ext cx="265176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77056" y="400507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52544" y="4014215"/>
            <a:ext cx="2249424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77056" y="4224528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52544" y="4233672"/>
            <a:ext cx="3044952" cy="50292"/>
          </a:xfrm>
          <a:prstGeom prst="rect">
            <a:avLst/>
          </a:prstGeom>
          <a:solidFill>
            <a:srgbClr val="36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61104" y="4160520"/>
            <a:ext cx="3401568" cy="182880"/>
          </a:xfrm>
          <a:prstGeom prst="rect">
            <a:avLst/>
          </a:prstGeom>
          <a:solidFill>
            <a:srgbClr val="15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77056" y="4443984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52544" y="4453128"/>
            <a:ext cx="146304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77056" y="4663440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52544" y="4672583"/>
            <a:ext cx="2450592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77056" y="4882896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52544" y="4892040"/>
            <a:ext cx="1938528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877056" y="510235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52544" y="5111496"/>
            <a:ext cx="2871216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00416" y="2212848"/>
            <a:ext cx="3694176" cy="3694176"/>
          </a:xfrm>
          <a:prstGeom prst="rect">
            <a:avLst/>
          </a:prstGeom>
          <a:solidFill>
            <a:srgbClr val="101927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7304" y="24871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PROJECT CONTEXT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47304" y="28346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1F5FF"/>
                </a:solidFill>
                <a:latin typeface="Aptos Display"/>
              </a:rPr>
              <a:t>fetchOrders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47304" y="327355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SYMBOL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40696" y="327355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5E83FF"/>
                </a:solidFill>
                <a:latin typeface="Aptos"/>
              </a:rPr>
              <a:t>function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7304" y="363931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DEPENDENCIES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140696" y="363931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AE8BFF"/>
                </a:solidFill>
                <a:latin typeface="Apto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47304" y="400507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40696" y="400507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4BD8F7"/>
                </a:solidFill>
                <a:latin typeface="Aptos"/>
              </a:rPr>
              <a:t>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47304" y="437083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ARCHITECTURE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40696" y="437083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FFBF5B"/>
                </a:solidFill>
                <a:latin typeface="Aptos"/>
              </a:rPr>
              <a:t>backend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147304" y="4855464"/>
            <a:ext cx="3081528" cy="438912"/>
          </a:xfrm>
          <a:prstGeom prst="roundRect">
            <a:avLst/>
          </a:prstGeom>
          <a:solidFill>
            <a:srgbClr val="172A32"/>
          </a:solidFill>
          <a:ln w="12700">
            <a:solidFill>
              <a:srgbClr val="2B5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85048" y="5010912"/>
            <a:ext cx="2596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10" b="1" i="0">
                <a:solidFill>
                  <a:srgbClr val="47DCA2"/>
                </a:solidFill>
                <a:latin typeface="Aptos"/>
              </a:rPr>
              <a:t>OPEN DIAGNOSIS  →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657600" y="5449824"/>
            <a:ext cx="4242816" cy="457200"/>
          </a:xfrm>
          <a:prstGeom prst="roundRect">
            <a:avLst/>
          </a:prstGeom>
          <a:solidFill>
            <a:srgbClr val="162137"/>
          </a:solidFill>
          <a:ln w="12700">
            <a:solidFill>
              <a:srgbClr val="2B45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67912" y="5605272"/>
            <a:ext cx="13258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 i="0">
                <a:solidFill>
                  <a:srgbClr val="FFBF5B"/>
                </a:solidFill>
                <a:latin typeface="Aptos"/>
              </a:rPr>
              <a:t>MISSION CONTROL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85816" y="5605272"/>
            <a:ext cx="21579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80" b="1" i="0">
                <a:solidFill>
                  <a:srgbClr val="F1F5FF"/>
                </a:solidFill>
                <a:latin typeface="Aptos"/>
              </a:rPr>
              <a:t>3 tasks  ·  1 review  ·  0 writes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6126480"/>
            <a:ext cx="10424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91A0BA"/>
                </a:solidFill>
                <a:latin typeface="Aptos"/>
              </a:rPr>
              <a:t>One fixed frame. Many project surfaces. State-driven navigation keeps the environment coherent.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09 / SAFETY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Intelligence can be fast. Mutation must be deliberate.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AURA separates analysis, proposal, approval, and file writes into inspectable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HUMAN GATED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2103120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facts + signals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42032" y="2276856"/>
            <a:ext cx="310895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2816351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3522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0672" y="2103120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goals + DAG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90872" y="2276856"/>
            <a:ext cx="310896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4965192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8406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39512" y="2103120"/>
            <a:ext cx="164592" cy="16459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PROPOSE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diff + explanation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39712" y="2276856"/>
            <a:ext cx="310896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7114032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3290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88352" y="2103120"/>
            <a:ext cx="164592" cy="16459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WRITE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accept + reindex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74336" y="2935224"/>
            <a:ext cx="1938528" cy="420624"/>
          </a:xfrm>
          <a:prstGeom prst="roundRect">
            <a:avLst/>
          </a:prstGeom>
          <a:solidFill>
            <a:srgbClr val="30291A"/>
          </a:solidFill>
          <a:ln w="12700">
            <a:solidFill>
              <a:srgbClr val="755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193792" y="3107496"/>
            <a:ext cx="164592" cy="118506"/>
          </a:xfrm>
          <a:prstGeom prst="roundRect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 rot="10800000">
            <a:off x="5223418" y="3044952"/>
            <a:ext cx="105338" cy="102047"/>
          </a:xfrm>
          <a:prstGeom prst="arc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267858" y="3143707"/>
            <a:ext cx="18105" cy="18105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95544" y="3081528"/>
            <a:ext cx="12252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BF5B"/>
                </a:solidFill>
                <a:latin typeface="Aptos"/>
              </a:rPr>
              <a:t>APPROVE PLAN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14032" y="2935224"/>
            <a:ext cx="1938528" cy="420624"/>
          </a:xfrm>
          <a:prstGeom prst="roundRect">
            <a:avLst/>
          </a:prstGeom>
          <a:solidFill>
            <a:srgbClr val="172D2D"/>
          </a:solidFill>
          <a:ln w="12700">
            <a:solidFill>
              <a:srgbClr val="2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33488" y="3107496"/>
            <a:ext cx="164592" cy="118506"/>
          </a:xfrm>
          <a:prstGeom prst="roundRect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rc 45"/>
          <p:cNvSpPr/>
          <p:nvPr/>
        </p:nvSpPr>
        <p:spPr>
          <a:xfrm rot="10800000">
            <a:off x="7363114" y="3044952"/>
            <a:ext cx="105338" cy="102047"/>
          </a:xfrm>
          <a:prstGeom prst="arc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07554" y="3143707"/>
            <a:ext cx="18105" cy="18105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35240" y="3081528"/>
            <a:ext cx="12252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47DCA2"/>
                </a:solidFill>
                <a:latin typeface="Aptos"/>
              </a:rPr>
              <a:t>ACCEPT TASK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0" y="2706624"/>
            <a:ext cx="0" cy="228600"/>
          </a:xfrm>
          <a:prstGeom prst="line">
            <a:avLst/>
          </a:prstGeom>
          <a:ln w="12700">
            <a:solidFill>
              <a:srgbClr val="FFBF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083296" y="2706624"/>
            <a:ext cx="0" cy="228600"/>
          </a:xfrm>
          <a:prstGeom prst="line">
            <a:avLst/>
          </a:prstGeom>
          <a:ln w="1270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786384" y="377647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6696" y="4005072"/>
            <a:ext cx="164592" cy="16459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07592" y="394106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RISK ENGINE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3784" y="392277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Deterministic risk floors prevent the model from downgrading a dangerous change.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91072" y="377647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01384" y="4005072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12280" y="394106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DIFF + SIMULATION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48471" y="392277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A/B/C candidates are compared, limited, and checked before acceptance.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6384" y="473659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96696" y="4965192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07592" y="490118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PATH GUARD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43784" y="488289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Writes resolve inside the project root; traversal outside the project is rejected.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91072" y="473659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01384" y="4965192"/>
            <a:ext cx="164592" cy="16459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80" y="490118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REINDEX + 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48471" y="488289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Accepted changes reindex the project and record the engineering decision.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75887" y="5760720"/>
            <a:ext cx="4791456" cy="365760"/>
          </a:xfrm>
          <a:prstGeom prst="roundRect">
            <a:avLst/>
          </a:prstGeom>
          <a:solidFill>
            <a:srgbClr val="172B33"/>
          </a:solidFill>
          <a:ln w="12700">
            <a:solidFill>
              <a:srgbClr val="2E6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13632" y="5879592"/>
            <a:ext cx="43159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90" b="1" i="0">
                <a:solidFill>
                  <a:srgbClr val="47DCA2"/>
                </a:solidFill>
                <a:latin typeface="Aptos"/>
              </a:rPr>
              <a:t>HUMAN IN CONTROL  ·  NO UNATTENDED FILE MUTATION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10 / ENGINEERING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One project truth. Multiple intelligence surfaces.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Knowledge, diagnosis, missions, and workspace are different views over the same engineering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SYSTEM 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2020824"/>
            <a:ext cx="2148840" cy="2999232"/>
          </a:xfrm>
          <a:prstGeom prst="roundRect">
            <a:avLst/>
          </a:prstGeom>
          <a:solidFill>
            <a:srgbClr val="12253A"/>
          </a:solidFill>
          <a:ln w="12700">
            <a:solidFill>
              <a:srgbClr val="2C5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660550" y="2456809"/>
            <a:ext cx="245791" cy="39503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60550" y="2496312"/>
            <a:ext cx="96561" cy="232623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757111" y="2456809"/>
            <a:ext cx="149230" cy="272126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603491" y="2439253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9282" y="2399751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0052" y="2671876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" y="3044952"/>
            <a:ext cx="16459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2000" b="1" i="0">
                <a:solidFill>
                  <a:srgbClr val="F1F5FF"/>
                </a:solidFill>
                <a:latin typeface="Aptos Display"/>
              </a:rPr>
              <a:t>KNOWLEDGE</a:t>
            </a:r>
          </a:p>
          <a:p>
            <a:pPr algn="ctr">
              <a:lnSpc>
                <a:spcPct val="92000"/>
              </a:lnSpc>
            </a:pPr>
            <a:r>
              <a:rPr sz="2000" b="1" i="0">
                <a:solidFill>
                  <a:srgbClr val="F1F5FF"/>
                </a:solidFill>
                <a:latin typeface="Aptos Display"/>
              </a:rPr>
              <a:t>FABRIC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3904487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1A0BA"/>
                </a:solidFill>
                <a:latin typeface="Aptos"/>
              </a:rPr>
              <a:t>facts · entities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1A0BA"/>
                </a:solidFill>
                <a:latin typeface="Aptos"/>
              </a:rPr>
              <a:t>relations · context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990088" y="2615184"/>
            <a:ext cx="585216" cy="905256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3543300" y="2583179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990088" y="3520440"/>
            <a:ext cx="585216" cy="9144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3543300" y="3497579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990088" y="3520440"/>
            <a:ext cx="585216" cy="923544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3543300" y="4411980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57600" y="20208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0" y="2020824"/>
            <a:ext cx="54864" cy="69494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2776" y="21579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CODE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776" y="24140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selection → context → action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86600" y="2368296"/>
            <a:ext cx="621792" cy="0"/>
          </a:xfrm>
          <a:prstGeom prst="line">
            <a:avLst/>
          </a:prstGeom>
          <a:ln w="12700">
            <a:solidFill>
              <a:srgbClr val="5E8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676388" y="2336291"/>
            <a:ext cx="64008" cy="64008"/>
          </a:xfrm>
          <a:prstGeom prst="triangl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57600" y="29352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2935224"/>
            <a:ext cx="54864" cy="694944"/>
          </a:xfrm>
          <a:prstGeom prst="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2776" y="30723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DIAGNOSIS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776" y="33284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signals → candidates → review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86600" y="3282696"/>
            <a:ext cx="621792" cy="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7676388" y="3250691"/>
            <a:ext cx="64008" cy="64008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57600" y="38496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0" y="3849624"/>
            <a:ext cx="54864" cy="694944"/>
          </a:xfrm>
          <a:prstGeom prst="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22776" y="39867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22776" y="42428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intent → graph → execution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86600" y="4197096"/>
            <a:ext cx="621792" cy="0"/>
          </a:xfrm>
          <a:prstGeom prst="line">
            <a:avLst/>
          </a:prstGeom>
          <a:ln w="12700">
            <a:solidFill>
              <a:srgbClr val="FFBF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676388" y="4165091"/>
            <a:ext cx="64008" cy="64008"/>
          </a:xfrm>
          <a:prstGeom prst="triangl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772400" y="2020824"/>
            <a:ext cx="3639312" cy="2999232"/>
          </a:xfrm>
          <a:prstGeom prst="roundRect">
            <a:avLst/>
          </a:prstGeom>
          <a:solidFill>
            <a:srgbClr val="131F2D"/>
          </a:solidFill>
          <a:ln w="12700">
            <a:solidFill>
              <a:srgbClr val="2F4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230428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SHARED GOVERNED LOOP</a:t>
            </a:r>
          </a:p>
        </p:txBody>
      </p:sp>
      <p:sp>
        <p:nvSpPr>
          <p:cNvPr id="52" name="Oval 51"/>
          <p:cNvSpPr/>
          <p:nvPr/>
        </p:nvSpPr>
        <p:spPr>
          <a:xfrm>
            <a:off x="8083296" y="2706624"/>
            <a:ext cx="109728" cy="10972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268833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DIFF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138160" y="282549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8083296" y="3072384"/>
            <a:ext cx="109728" cy="10972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305409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APPROVAL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138160" y="319125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8083296" y="3438144"/>
            <a:ext cx="109728" cy="10972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341985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EXECUTION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138160" y="355701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8083296" y="3803904"/>
            <a:ext cx="109728" cy="10972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378561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REINDEX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138160" y="392277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083296" y="4169663"/>
            <a:ext cx="109728" cy="10972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15137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459028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1">
                <a:solidFill>
                  <a:srgbClr val="91A0BA"/>
                </a:solidFill>
                <a:latin typeface="Aptos"/>
              </a:rPr>
              <a:t>The provider is a verbalizer over AURA context — not the source of truth.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68096" y="5449824"/>
            <a:ext cx="10643616" cy="512064"/>
          </a:xfrm>
          <a:prstGeom prst="roundRect">
            <a:avLst/>
          </a:prstGeom>
          <a:solidFill>
            <a:srgbClr val="162A39"/>
          </a:solidFill>
          <a:ln w="12700">
            <a:solidFill>
              <a:srgbClr val="2C5B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0704" y="5623560"/>
            <a:ext cx="100766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19" b="1" i="0">
                <a:solidFill>
                  <a:srgbClr val="4BD8F7"/>
                </a:solidFill>
                <a:latin typeface="Aptos"/>
              </a:rPr>
              <a:t>ONE GRAPH  ·  DIFFERENT CONTEXT PACKS  ·  EXPLICIT HUMAN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11 / CURRENT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What is real in the current working tree.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Implemented surfaces only. No roadmap concepts are included on this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057400"/>
            <a:ext cx="155448" cy="15544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584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DESKTOP 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React/Vite · Zustand · command palette · theme tokens · Tauri v2 host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3983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2057400"/>
            <a:ext cx="155448" cy="15544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1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PROJECT LIFECYCLE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add / open / profile · session restore · project-scoped workspace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9871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1" y="2057400"/>
            <a:ext cx="155448" cy="15544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59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CODING KNOWLEDGE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1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recursive + incremental index · BM25 search · token-budgeted context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50976" y="3127248"/>
            <a:ext cx="155448" cy="15544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584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AE8BFF"/>
                </a:solidFill>
                <a:latin typeface="Aptos"/>
              </a:rPr>
              <a:t>FULL-STACK GRAPH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five extractors · typed entities / relations · persistent graph-aware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3983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26864" y="3127248"/>
            <a:ext cx="155448" cy="15544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1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BYO AI RUNTIME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6864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provider adapters · streaming · model discovery · local HTTP/SSE 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9871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02751" y="3127248"/>
            <a:ext cx="155448" cy="15544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59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AE8BFF"/>
                </a:solidFill>
                <a:latin typeface="Aptos"/>
              </a:rPr>
              <a:t>AI CODE WORKSPACE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1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context panel · grounded actions · diff / new-file / findings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0976" y="4197096"/>
            <a:ext cx="155448" cy="15544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584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DIAGNOSIS ENGINE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real signals · A/B/C candidates · simulation · review · accept/reject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3983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6864" y="4197096"/>
            <a:ext cx="155448" cy="15544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19471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MISSION 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goal graph · DAG waves · checkpoints · replay · global dashboard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9871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02751" y="4197096"/>
            <a:ext cx="155448" cy="15544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59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WORKFLOWS + MEMORY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1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visual workflow store/run path · basic engineering decision/event records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" y="5385816"/>
            <a:ext cx="10771632" cy="512064"/>
          </a:xfrm>
          <a:prstGeom prst="roundRect">
            <a:avLst/>
          </a:prstGeom>
          <a:solidFill>
            <a:srgbClr val="172A2D"/>
          </a:solidFill>
          <a:ln w="12700">
            <a:solidFill>
              <a:srgbClr val="2D5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559552"/>
            <a:ext cx="10277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47DCA2"/>
                </a:solidFill>
                <a:latin typeface="Aptos"/>
              </a:rPr>
              <a:t>CURRENT TRUTH  ·  REAL FILES  ·  REAL INDEXES  ·  REAL SSE EVENTS  ·  HUMAN-GATED WRITES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12 / 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Build the learning loop — without weakening the gates.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next horizon is separated from today’s implemented behavior by design.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FUTURE / IN PROGRESS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65376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2029968"/>
            <a:ext cx="1426464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21076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20711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IN 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8336" y="2048256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ENGINEERING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238658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Durable decision and event records are integrated; pattern, experience, graph, and insight depth are still expanding.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3" y="1865376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2029968"/>
            <a:ext cx="1426464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65392" y="21076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7" y="20711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IN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2048256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8658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Backend modules and a dashboard surface exist; deeper product integration and enforcement are next.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" y="3072384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7552" y="3236976"/>
            <a:ext cx="1097280" cy="246888"/>
          </a:xfrm>
          <a:prstGeom prst="round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0704" y="3314700"/>
            <a:ext cx="82296" cy="8229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3278124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5E83FF"/>
                </a:solidFill>
                <a:latin typeface="Aptos"/>
              </a:rPr>
              <a:t>FUTURE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3255264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359359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Forecast hotspots, risk, and likely failure modes from accumulated engineering evidence.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2783" y="3072384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236976"/>
            <a:ext cx="1097280" cy="246888"/>
          </a:xfrm>
          <a:prstGeom prst="round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65392" y="3314700"/>
            <a:ext cx="82296" cy="8229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7" y="3278124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AE8BFF"/>
                </a:solidFill>
                <a:latin typeface="Aptos"/>
              </a:rPr>
              <a:t>FUTURE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255264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LEARNING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359359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Close the loop from accepted, rejected, and reverted outcomes — with provenance.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" y="4279392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87552" y="4443983"/>
            <a:ext cx="1097280" cy="246888"/>
          </a:xfrm>
          <a:prstGeom prst="roundRect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60704" y="4521707"/>
            <a:ext cx="82296" cy="8229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720" y="4485131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BD8F7"/>
                </a:solidFill>
                <a:latin typeface="Aptos"/>
              </a:rPr>
              <a:t>FUTURE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59152" y="4462272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DIGITAL TWIN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" y="4800600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Continuously model system state, dependencies, health, and change impact.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2783" y="4279392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92240" y="4443983"/>
            <a:ext cx="1097280" cy="246888"/>
          </a:xfrm>
          <a:prstGeom prst="round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5392" y="4521707"/>
            <a:ext cx="82296" cy="8229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93407" y="4485131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FUTURE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4462272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AUTONOMOUS 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800600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Bounded execution policies may grow; explicit control remains a product principle.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" y="5669280"/>
            <a:ext cx="10771632" cy="384048"/>
          </a:xfrm>
          <a:prstGeom prst="roundRect">
            <a:avLst/>
          </a:prstGeom>
          <a:solidFill>
            <a:srgbClr val="2A2116"/>
          </a:solidFill>
          <a:ln w="12700">
            <a:solidFill>
              <a:srgbClr val="6A5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788152"/>
            <a:ext cx="10277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" b="1" i="0">
                <a:solidFill>
                  <a:srgbClr val="FFBF5B"/>
                </a:solidFill>
                <a:latin typeface="Aptos"/>
              </a:rPr>
              <a:t>NORTH STAR  ·  MORE CAPABLE PROPOSALS  ·  NEVER LESS EXPLICIT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13 / 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local-first stack with provider-neutral intelligence.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architecture keeps the desktop responsive, the AI runtime replaceable, and the project data close to the engineer.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STACK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05740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5E83FF"/>
                </a:solidFill>
                <a:latin typeface="Aptos"/>
              </a:rPr>
              <a:t>EXPERIENCE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9152" y="2240279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1635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207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React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TypeScript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4243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8815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Vite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547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119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Monaco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6851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@aura/ui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852928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DESKTOP + SERVICE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59152" y="3035808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81635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207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Tauri v2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2511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thin Rust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4243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Node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0547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5119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localhost HTTP/SSE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6851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1423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Zustand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64845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AE8BFF"/>
                </a:solidFill>
                <a:latin typeface="Aptos"/>
              </a:rPr>
              <a:t>KNOWLEDGE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59152" y="3831336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81635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6207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Coding Engine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7939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FullStack Engine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4243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8815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BM25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0547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5119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persistent graph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6851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1423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graphify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443984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FFBF5B"/>
                </a:solidFill>
                <a:latin typeface="Aptos"/>
              </a:rPr>
              <a:t>AI RUNTIME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59152" y="4626864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2816352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62072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Anthropic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94760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0480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OpenAI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773168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18888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Gemini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1576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97296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Groq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729984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75704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Mistral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708392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54112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NVIDIA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86800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32520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OpenRouter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65208" y="4361688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10928" y="4535424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Kimi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5239512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7DCA2"/>
                </a:solidFill>
                <a:latin typeface="Aptos"/>
              </a:rPr>
              <a:t>ENGINEERING SYSTEMS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59152" y="5422392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816352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6207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Git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42232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8795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JSON stores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68112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1383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Diagnosis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93992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971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119871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6559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445752" y="5157216"/>
            <a:ext cx="118872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491472" y="5330951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Architecture docs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68096" y="6007608"/>
            <a:ext cx="10771632" cy="274320"/>
          </a:xfrm>
          <a:prstGeom prst="roundRect">
            <a:avLst/>
          </a:prstGeom>
          <a:solidFill>
            <a:srgbClr val="182236"/>
          </a:solidFill>
          <a:ln w="12700">
            <a:solidFill>
              <a:srgbClr val="2D4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69264" y="6089904"/>
            <a:ext cx="103692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90" b="1" i="0">
                <a:solidFill>
                  <a:srgbClr val="91A0BA"/>
                </a:solidFill>
                <a:latin typeface="Aptos"/>
              </a:rPr>
              <a:t>CURRENT RETRIEVAL IS KEYWORD + GRAPH; EMBEDDINGS / VECTOR SEARCH REMAIN A REPLACEABLE SEAM.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14 / LIVE DEMONSTRATION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From an open project to an approved change.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 single path makes the architecture tangible: each step exposes a real artifact or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DEMO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157984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3895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BD8F7"/>
                </a:solidFill>
                <a:latin typeface="Aptos"/>
              </a:rPr>
              <a:t>OPEN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profile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index status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99815" y="2542032"/>
            <a:ext cx="301753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364991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12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94176" y="2157984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41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70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5E83FF"/>
                </a:solidFill>
                <a:latin typeface="Aptos"/>
              </a:rPr>
              <a:t>KNOWLEDGE FABRIC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files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graph context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43016" y="2542032"/>
            <a:ext cx="301752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108192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37376" y="2157984"/>
            <a:ext cx="347472" cy="34747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AE8BFF"/>
                </a:solidFill>
                <a:latin typeface="Aptos"/>
              </a:rPr>
              <a:t>ASK AURA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grounded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conversation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86216" y="2542032"/>
            <a:ext cx="301751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8851392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9976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180576" y="2157984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05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FFBF5B"/>
                </a:solidFill>
                <a:latin typeface="Aptos"/>
              </a:rPr>
              <a:t>DIAGNOSIS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signals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A/B/C patches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50976" y="3941064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3895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FFBF5B"/>
                </a:solidFill>
                <a:latin typeface="Aptos"/>
              </a:rPr>
              <a:t>MISSION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goal graph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execution DAG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099815" y="4325112"/>
            <a:ext cx="301753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3364991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112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4176" y="3941064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941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970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5E83FF"/>
                </a:solidFill>
                <a:latin typeface="Aptos"/>
              </a:rPr>
              <a:t>REVIEW DIFF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proposal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limiter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43016" y="4325112"/>
            <a:ext cx="301752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6108192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544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37376" y="3941064"/>
            <a:ext cx="347472" cy="34747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373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7DCA2"/>
                </a:solidFill>
                <a:latin typeface="Aptos"/>
              </a:rPr>
              <a:t>APPROVE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73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human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acceptance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586216" y="4325112"/>
            <a:ext cx="301751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8851392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9976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80576" y="3941064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805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834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BD8F7"/>
                </a:solidFill>
                <a:latin typeface="Aptos"/>
              </a:rPr>
              <a:t>REINDEX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05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memory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new context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235440" y="3108960"/>
            <a:ext cx="0" cy="54864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10800000">
            <a:off x="9198864" y="3621024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072384" y="4882896"/>
            <a:ext cx="0" cy="530352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10800000">
            <a:off x="3035808" y="5376672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68096" y="5577840"/>
            <a:ext cx="10771632" cy="438912"/>
          </a:xfrm>
          <a:prstGeom prst="roundRect">
            <a:avLst/>
          </a:prstGeom>
          <a:solidFill>
            <a:srgbClr val="142A37"/>
          </a:solidFill>
          <a:ln w="12700">
            <a:solidFill>
              <a:srgbClr val="2C5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4128" y="5724144"/>
            <a:ext cx="10277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" b="1" i="0">
                <a:solidFill>
                  <a:srgbClr val="4BD8F7"/>
                </a:solidFill>
                <a:latin typeface="Aptos"/>
              </a:rPr>
              <a:t>REAL FILES  ·  SSE STAGES  ·  SOURCE CONTEXT  ·  HUMAN CLICK BEFORE WRITE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699248" y="841248"/>
            <a:ext cx="4370832" cy="4370832"/>
          </a:xfrm>
          <a:prstGeom prst="ellipse">
            <a:avLst/>
          </a:prstGeom>
          <a:solidFill>
            <a:srgbClr val="102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11896" y="1453896"/>
            <a:ext cx="3127248" cy="3127248"/>
          </a:xfrm>
          <a:prstGeom prst="ellipse">
            <a:avLst/>
          </a:prstGeom>
          <a:solidFill>
            <a:srgbClr val="1A3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346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346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346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346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346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346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346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46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346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346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346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346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346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346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346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346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346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718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718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718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718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718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718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718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718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718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718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718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718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718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718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718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718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718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089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089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089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089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089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089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089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089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089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089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089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8089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8089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8089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089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8089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8089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461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9461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461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9461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461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461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9461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461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461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461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461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461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9461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9461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9461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9461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9461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0832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0832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0832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0832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0832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0832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0832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0832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0832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0832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0832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0832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0832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0832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0832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0832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0832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2204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204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204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204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2204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2204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2204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2204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2204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2204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2204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2204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2204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2204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2204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2204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2204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576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576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576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3576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576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3576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3576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3576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3576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576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3576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3576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3576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3576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3576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3576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3576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4947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4947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47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4947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4947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4947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4947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4947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4947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4947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947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4947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4947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4947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4947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4947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4947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319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6319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6319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6319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6319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6319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6319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6319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6319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6319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6319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6319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6319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6319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6319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6319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6319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7690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7690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7690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7690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7690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7690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7690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7690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7690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7690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7690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7690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87690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7690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7690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7690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7690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9062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89062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89062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9062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89062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89062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9062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89062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89062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89062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89062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89062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9062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9062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9062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9062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9062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0434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0434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90434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0434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0434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0434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0434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0434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0434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0434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0434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0434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90434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0434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90434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90434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0434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91805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1805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1805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91805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91805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1805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91805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91805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1805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91805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1805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1805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1805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91805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91805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91805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91805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3177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3177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3177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3177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3177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93177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3177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3177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3177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93177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93177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93177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93177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3177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93177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93177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93177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94548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94548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94548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94548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94548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4548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4548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94548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94548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94548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94548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94548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94548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94548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4548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4548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4548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5920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95920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95920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95920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95920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95920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95920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95920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95920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95920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95920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95920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95920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95920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95920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95920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5920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292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97292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97292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97292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97292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97292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97292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97292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7292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97292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97292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97292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97292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97292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97292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97292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7292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3" name="Connector 292"/>
          <p:cNvCxnSpPr/>
          <p:nvPr/>
        </p:nvCxnSpPr>
        <p:spPr>
          <a:xfrm>
            <a:off x="749808" y="493776"/>
            <a:ext cx="10698480" cy="0"/>
          </a:xfrm>
          <a:prstGeom prst="line">
            <a:avLst/>
          </a:prstGeom>
          <a:ln w="8890">
            <a:solidFill>
              <a:srgbClr val="1C2A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768096" y="6583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AURA / CLOSING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68096" y="1481328"/>
            <a:ext cx="5486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100" b="1" i="0">
                <a:solidFill>
                  <a:srgbClr val="F1F5FF"/>
                </a:solidFill>
                <a:latin typeface="Aptos Display"/>
              </a:rPr>
              <a:t>The next engineering</a:t>
            </a:r>
          </a:p>
          <a:p>
            <a:pPr algn="l">
              <a:lnSpc>
                <a:spcPct val="92000"/>
              </a:lnSpc>
            </a:pPr>
            <a:r>
              <a:rPr sz="3100" b="1" i="0">
                <a:solidFill>
                  <a:srgbClr val="F1F5FF"/>
                </a:solidFill>
                <a:latin typeface="Aptos Display"/>
              </a:rPr>
              <a:t>environment is a system.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804672" y="2971800"/>
            <a:ext cx="49377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600" b="0" i="0">
                <a:solidFill>
                  <a:srgbClr val="91A0BA"/>
                </a:solidFill>
                <a:latin typeface="Aptos"/>
              </a:rPr>
              <a:t>It understands the project, reasons over evidence,</a:t>
            </a:r>
          </a:p>
          <a:p>
            <a:pPr algn="l">
              <a:lnSpc>
                <a:spcPct val="103000"/>
              </a:lnSpc>
            </a:pPr>
            <a:r>
              <a:rPr sz="1600" b="0" i="0">
                <a:solidFill>
                  <a:srgbClr val="91A0BA"/>
                </a:solidFill>
                <a:latin typeface="Aptos"/>
              </a:rPr>
              <a:t>and waits for the engineer.</a:t>
            </a:r>
          </a:p>
        </p:txBody>
      </p:sp>
      <p:sp>
        <p:nvSpPr>
          <p:cNvPr id="297" name="Oval 296"/>
          <p:cNvSpPr/>
          <p:nvPr/>
        </p:nvSpPr>
        <p:spPr>
          <a:xfrm>
            <a:off x="9071579" y="1939259"/>
            <a:ext cx="1790760" cy="1790760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9345168" y="2212848"/>
            <a:ext cx="1243584" cy="1243584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9718243" y="2585923"/>
            <a:ext cx="497433" cy="497433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" name="Connector 299"/>
          <p:cNvCxnSpPr/>
          <p:nvPr/>
        </p:nvCxnSpPr>
        <p:spPr>
          <a:xfrm>
            <a:off x="8785555" y="2834640"/>
            <a:ext cx="534741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613623" y="2834640"/>
            <a:ext cx="534741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9966960" y="1653235"/>
            <a:ext cx="0" cy="534741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966960" y="3481303"/>
            <a:ext cx="0" cy="534741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303"/>
          <p:cNvSpPr/>
          <p:nvPr/>
        </p:nvSpPr>
        <p:spPr>
          <a:xfrm>
            <a:off x="804672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969264" y="5047488"/>
            <a:ext cx="137160" cy="13716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1225296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BD8F7"/>
                </a:solidFill>
                <a:latin typeface="Aptos"/>
              </a:rPr>
              <a:t>SHARED TRUTH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69264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The repository becomes queryable context.</a:t>
            </a:r>
          </a:p>
        </p:txBody>
      </p:sp>
      <p:sp>
        <p:nvSpPr>
          <p:cNvPr id="308" name="Rounded Rectangle 307"/>
          <p:cNvSpPr/>
          <p:nvPr/>
        </p:nvSpPr>
        <p:spPr>
          <a:xfrm>
            <a:off x="3291840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456432" y="5047488"/>
            <a:ext cx="137160" cy="13716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3712464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7DCA2"/>
                </a:solidFill>
                <a:latin typeface="Aptos"/>
              </a:rPr>
              <a:t>SAFER CHANGE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56432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Every mutation has a visible gate.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5779008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943600" y="5047488"/>
            <a:ext cx="137160" cy="13716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199632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E8BFF"/>
                </a:solidFill>
                <a:latin typeface="Aptos"/>
              </a:rPr>
              <a:t>DURABLE CONTEXT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5943600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Decisions can outlive the chat.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8540496" y="4965192"/>
            <a:ext cx="2880360" cy="457200"/>
          </a:xfrm>
          <a:prstGeom prst="roundRect">
            <a:avLst/>
          </a:prstGeom>
          <a:solidFill>
            <a:srgbClr val="172A37"/>
          </a:solidFill>
          <a:ln w="12700">
            <a:solidFill>
              <a:srgbClr val="2E5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714232" y="5120640"/>
            <a:ext cx="2542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4BD8F7"/>
                </a:solidFill>
                <a:latin typeface="Aptos"/>
              </a:rPr>
              <a:t>AURA HUB  ·  AI NATIVE ENGINEERING OPERATING ENVIRONMENT</a:t>
            </a:r>
          </a:p>
        </p:txBody>
      </p:sp>
      <p:cxnSp>
        <p:nvCxnSpPr>
          <p:cNvPr id="318" name="Connector 317"/>
          <p:cNvCxnSpPr/>
          <p:nvPr/>
        </p:nvCxnSpPr>
        <p:spPr>
          <a:xfrm>
            <a:off x="749808" y="6473952"/>
            <a:ext cx="1069848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TextBox 318"/>
          <p:cNvSpPr txBox="1"/>
          <p:nvPr/>
        </p:nvSpPr>
        <p:spPr>
          <a:xfrm>
            <a:off x="768096" y="6565392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1045952" y="6537960"/>
            <a:ext cx="4023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AI Native Engineering Operating Environment</dc:title>
  <dc:subject>Repository-grounded architecture presentation</dc:subject>
  <dc:creator>AURA Hub</dc:creator>
  <cp:keywords>AURA, engineering intelligence, knowledge fabric, mission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