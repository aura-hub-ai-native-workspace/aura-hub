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09560" y="960120"/>
            <a:ext cx="4251960" cy="4251960"/>
          </a:xfrm>
          <a:prstGeom prst="ellipse">
            <a:avLst/>
          </a:prstGeom>
          <a:solidFill>
            <a:srgbClr val="13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1463040"/>
            <a:ext cx="3246120" cy="3246120"/>
          </a:xfrm>
          <a:prstGeom prst="ellipse">
            <a:avLst/>
          </a:prstGeom>
          <a:solidFill>
            <a:srgbClr val="1B3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43800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43800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0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43800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43800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43800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43800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543800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43800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43800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43800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43800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43800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43800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43800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90104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90104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0104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90104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90104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90104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90104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0104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90104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90104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90104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90104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90104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90104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90104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90104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36408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36408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36408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836408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36408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36408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836408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36408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836408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36408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36408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836408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836408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836408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836408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36408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82712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82712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982712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982712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2712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982712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982712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82712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982712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82712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82712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2712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982712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982712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982712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82712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129016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129016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129016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129016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129016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29016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129016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129016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129016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29016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129016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129016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129016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29016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129016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129016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275320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275320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275320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275320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275320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275320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275320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275320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275320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275320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275320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275320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275320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275320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75320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275320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421624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421624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421624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421624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421624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21624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421624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421624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421624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421624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421624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421624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421624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421624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421624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421624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67928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67928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67928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67928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67928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67928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67928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67928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67928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67928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67928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67928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67928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67928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567928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567928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714232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714232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714232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714232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714232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714232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714232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714232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8714232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714232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714232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714232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8714232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714232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714232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714232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860536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860536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860536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860536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860536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8860536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8860536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8860536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860536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860536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8860536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860536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8860536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860536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60536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8860536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006840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9006840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9006840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9006840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9006840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9006840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9006840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9006840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9006840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9006840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006840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9006840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9006840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9006840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006840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06840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153144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9153144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9153144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9153144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9153144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9153144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9153144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9153144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9153144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9153144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9153144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153144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153144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9153144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9153144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9153144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9299448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9299448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9299448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9299448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9299448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299448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299448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299448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299448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299448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299448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299448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299448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299448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299448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299448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445752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445752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445752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445752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445752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445752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445752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445752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445752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445752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445752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445752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445752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445752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445752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445752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592056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592056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592056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592056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592056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592056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592056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9592056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9592056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592056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592056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9592056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9592056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592056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592056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592056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738360" y="111556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738360" y="126187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738360" y="140817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738360" y="155448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38360" y="170078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738360" y="184708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9738360" y="1993391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9738360" y="2139696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9738360" y="228600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9738360" y="243230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9738360" y="257860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9738360" y="2724912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9738360" y="2871215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9738360" y="3017520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9738360" y="3163824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9738360" y="3310128"/>
            <a:ext cx="22860" cy="22860"/>
          </a:xfrm>
          <a:prstGeom prst="ellipse">
            <a:avLst/>
          </a:prstGeom>
          <a:solidFill>
            <a:srgbClr val="20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0" name="Connector 259"/>
          <p:cNvCxnSpPr/>
          <p:nvPr/>
        </p:nvCxnSpPr>
        <p:spPr>
          <a:xfrm>
            <a:off x="749808" y="493776"/>
            <a:ext cx="10698480" cy="0"/>
          </a:xfrm>
          <a:prstGeom prst="line">
            <a:avLst/>
          </a:prstGeom>
          <a:ln w="8890">
            <a:solidFill>
              <a:srgbClr val="1C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TextBox 260"/>
          <p:cNvSpPr txBox="1"/>
          <p:nvPr/>
        </p:nvSpPr>
        <p:spPr>
          <a:xfrm>
            <a:off x="768096" y="658368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AURA / 00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749808" y="1353312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300" b="1" i="0">
                <a:solidFill>
                  <a:srgbClr val="F1F5FF"/>
                </a:solidFill>
                <a:latin typeface="Aptos Display"/>
              </a:rPr>
              <a:t>AURA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86384" y="2267712"/>
            <a:ext cx="576072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3000"/>
              </a:lnSpc>
            </a:pPr>
            <a:r>
              <a:rPr sz="2800" b="1" i="0">
                <a:solidFill>
                  <a:srgbClr val="F1F5FF"/>
                </a:solidFill>
                <a:latin typeface="Aptos Display"/>
              </a:rPr>
              <a:t>AI Native Engineering</a:t>
            </a:r>
          </a:p>
          <a:p>
            <a:pPr algn="l">
              <a:lnSpc>
                <a:spcPct val="93000"/>
              </a:lnSpc>
            </a:pPr>
            <a:r>
              <a:rPr sz="2800" b="1" i="0">
                <a:solidFill>
                  <a:srgbClr val="F1F5FF"/>
                </a:solidFill>
                <a:latin typeface="Aptos Display"/>
              </a:rPr>
              <a:t>Operating Environment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804672" y="3511296"/>
            <a:ext cx="4846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91A0BA"/>
                </a:solidFill>
                <a:latin typeface="Aptos"/>
              </a:rPr>
              <a:t>A project-first workspace for understanding systems,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91A0BA"/>
                </a:solidFill>
                <a:latin typeface="Aptos"/>
              </a:rPr>
              <a:t>reasoning over evidence, and governing change.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804672" y="4700016"/>
            <a:ext cx="4069080" cy="36576"/>
          </a:xfrm>
          <a:prstGeom prst="rect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804672" y="4919472"/>
            <a:ext cx="4983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1" i="0">
                <a:solidFill>
                  <a:srgbClr val="4BD8F7"/>
                </a:solidFill>
                <a:latin typeface="Aptos"/>
              </a:rPr>
              <a:t>THE UNIT OF WORK IS THE PROJECT — NOT THE PROMPT.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804672" y="6172200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 i="0">
                <a:solidFill>
                  <a:srgbClr val="60708D"/>
                </a:solidFill>
                <a:latin typeface="Aptos"/>
              </a:rPr>
              <a:t>Architecture brief  ·  current working tree  ·  31 July 2026</a:t>
            </a:r>
          </a:p>
        </p:txBody>
      </p:sp>
      <p:sp>
        <p:nvSpPr>
          <p:cNvPr id="268" name="Oval 267"/>
          <p:cNvSpPr/>
          <p:nvPr/>
        </p:nvSpPr>
        <p:spPr>
          <a:xfrm>
            <a:off x="9184233" y="2051913"/>
            <a:ext cx="1711756" cy="1711756"/>
          </a:xfrm>
          <a:prstGeom prst="ellipse">
            <a:avLst/>
          </a:prstGeom>
          <a:noFill/>
          <a:ln w="12700">
            <a:solidFill>
              <a:srgbClr val="284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9445752" y="2313432"/>
            <a:ext cx="1188720" cy="1188720"/>
          </a:xfrm>
          <a:prstGeom prst="ellipse">
            <a:avLst/>
          </a:prstGeom>
          <a:noFill/>
          <a:ln w="22860">
            <a:solidFill>
              <a:srgbClr val="5E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9802368" y="2670048"/>
            <a:ext cx="475488" cy="475488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>
            <a:off x="8910828" y="2907792"/>
            <a:ext cx="511149" cy="0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0658246" y="2907792"/>
            <a:ext cx="511150" cy="0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0040112" y="1778508"/>
            <a:ext cx="0" cy="511149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0040112" y="3525926"/>
            <a:ext cx="0" cy="511150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Rounded Rectangle 274"/>
          <p:cNvSpPr/>
          <p:nvPr/>
        </p:nvSpPr>
        <p:spPr>
          <a:xfrm>
            <a:off x="7406640" y="1353312"/>
            <a:ext cx="1188720" cy="40233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7516367" y="1490472"/>
            <a:ext cx="109728" cy="109728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7708392" y="1481328"/>
            <a:ext cx="7955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1F5FF"/>
                </a:solidFill>
                <a:latin typeface="Aptos"/>
              </a:rPr>
              <a:t>PROJECT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10680192" y="1527048"/>
            <a:ext cx="1188720" cy="40233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0789919" y="1664207"/>
            <a:ext cx="109728" cy="109728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10981944" y="1655064"/>
            <a:ext cx="7955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1F5FF"/>
                </a:solidFill>
                <a:latin typeface="Aptos"/>
              </a:rPr>
              <a:t>KNOWLEDGE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7498079" y="4535424"/>
            <a:ext cx="1188720" cy="40233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7607807" y="4672584"/>
            <a:ext cx="109728" cy="109728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7799831" y="4663440"/>
            <a:ext cx="7955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1F5FF"/>
                </a:solidFill>
                <a:latin typeface="Aptos"/>
              </a:rPr>
              <a:t>REASONING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10570464" y="4334256"/>
            <a:ext cx="1188720" cy="40233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0680192" y="4471416"/>
            <a:ext cx="109728" cy="109728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0872216" y="4462272"/>
            <a:ext cx="7955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1F5FF"/>
                </a:solidFill>
                <a:latin typeface="Aptos"/>
              </a:rPr>
              <a:t>APPROVAL</a:t>
            </a:r>
          </a:p>
        </p:txBody>
      </p:sp>
      <p:cxnSp>
        <p:nvCxnSpPr>
          <p:cNvPr id="287" name="Connector 286"/>
          <p:cNvCxnSpPr/>
          <p:nvPr/>
        </p:nvCxnSpPr>
        <p:spPr>
          <a:xfrm>
            <a:off x="8549640" y="1719072"/>
            <a:ext cx="996696" cy="594360"/>
          </a:xfrm>
          <a:prstGeom prst="line">
            <a:avLst/>
          </a:prstGeom>
          <a:ln w="12700">
            <a:solidFill>
              <a:srgbClr val="2E4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H="1">
            <a:off x="10607040" y="1929384"/>
            <a:ext cx="64008" cy="384048"/>
          </a:xfrm>
          <a:prstGeom prst="line">
            <a:avLst/>
          </a:prstGeom>
          <a:ln w="12700">
            <a:solidFill>
              <a:srgbClr val="2E4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8668512" y="3529584"/>
            <a:ext cx="896112" cy="1207008"/>
          </a:xfrm>
          <a:prstGeom prst="line">
            <a:avLst/>
          </a:prstGeom>
          <a:ln w="12700">
            <a:solidFill>
              <a:srgbClr val="2E4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10561320" y="3538728"/>
            <a:ext cx="0" cy="923544"/>
          </a:xfrm>
          <a:prstGeom prst="line">
            <a:avLst/>
          </a:prstGeom>
          <a:ln w="12700">
            <a:solidFill>
              <a:srgbClr val="2E4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749808" y="6473952"/>
            <a:ext cx="1069848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768096" y="6565392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1045952" y="6537960"/>
            <a:ext cx="40233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01 / THE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A chat window can answer a prompt. It cannot hold a project.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1"/>
            <a:ext cx="45720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F1F5FF"/>
                </a:solidFill>
                <a:latin typeface="Aptos Display"/>
              </a:rPr>
              <a:t>Today’s AI coding assistant is optimized for</a:t>
            </a:r>
          </a:p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F1F5FF"/>
                </a:solidFill>
                <a:latin typeface="Aptos Display"/>
              </a:rPr>
              <a:t>conversation — not engineering continuity.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907792"/>
            <a:ext cx="4315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7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The missing layer is not another model. It is the environment around the model: durable context, evidence, planning, and controlled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059936"/>
            <a:ext cx="4114800" cy="100584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297680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4BD8F7"/>
                </a:solidFill>
                <a:latin typeface="Aptos"/>
              </a:rPr>
              <a:t>PROMPT  → 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2686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 i="0">
                <a:solidFill>
                  <a:srgbClr val="91A0BA"/>
                </a:solidFill>
                <a:latin typeface="Aptos"/>
              </a:rPr>
              <a:t>Useful in the moment. Fragile across the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1847088"/>
            <a:ext cx="2633472" cy="126187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24728" y="2048256"/>
            <a:ext cx="164592" cy="164592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7336" y="2029968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4BD8F7"/>
                </a:solidFill>
                <a:latin typeface="Aptos"/>
              </a:rPr>
              <a:t>CHAT-SHAPED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24728" y="2377440"/>
            <a:ext cx="21762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10" b="1" i="0">
                <a:solidFill>
                  <a:srgbClr val="F1F5FF"/>
                </a:solidFill>
                <a:latin typeface="Aptos"/>
              </a:rPr>
              <a:t>Conversation is the primary unit; the repository is background.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31352" y="1847088"/>
            <a:ext cx="2633472" cy="126187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32520" y="2048256"/>
            <a:ext cx="164592" cy="164592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5128" y="2029968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AE8BFF"/>
                </a:solidFill>
                <a:latin typeface="Aptos"/>
              </a:rPr>
              <a:t>STATELESS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377440"/>
            <a:ext cx="21762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10" b="1" i="0">
                <a:solidFill>
                  <a:srgbClr val="F1F5FF"/>
                </a:solidFill>
                <a:latin typeface="Aptos"/>
              </a:rPr>
              <a:t>Context evaporates between tasks, sessions, and engineers.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3474720"/>
            <a:ext cx="2633472" cy="126187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24728" y="3675887"/>
            <a:ext cx="164592" cy="164592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7336" y="3657600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5E83FF"/>
                </a:solidFill>
                <a:latin typeface="Aptos"/>
              </a:rPr>
              <a:t>PROMPT-LOCAL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4728" y="4005072"/>
            <a:ext cx="21762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10" b="1" i="0">
                <a:solidFill>
                  <a:srgbClr val="F1F5FF"/>
                </a:solidFill>
                <a:latin typeface="Aptos"/>
              </a:rPr>
              <a:t>No durable graph of symbols, dependencies, health, or hotspots.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31352" y="3474720"/>
            <a:ext cx="2633472" cy="126187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32520" y="3675887"/>
            <a:ext cx="164592" cy="164592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5128" y="3657600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FBF5B"/>
                </a:solidFill>
                <a:latin typeface="Aptos"/>
              </a:rPr>
              <a:t>UNPLANNED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4005072"/>
            <a:ext cx="21762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10" b="1" i="0">
                <a:solidFill>
                  <a:srgbClr val="F1F5FF"/>
                </a:solidFill>
                <a:latin typeface="Aptos"/>
              </a:rPr>
              <a:t>No goal graph, checkpoints, or governed path from intent to change.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32704" y="5257800"/>
            <a:ext cx="2286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THE DESIGN QUESTION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5495544"/>
            <a:ext cx="5257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7000"/>
              </a:lnSpc>
            </a:pPr>
            <a:r>
              <a:rPr sz="1300" b="1" i="0">
                <a:solidFill>
                  <a:srgbClr val="F1F5FF"/>
                </a:solidFill>
                <a:latin typeface="Aptos Display"/>
              </a:rPr>
              <a:t>How do we make AI useful across the lifecycle of a system —</a:t>
            </a:r>
          </a:p>
          <a:p>
            <a:pPr algn="l">
              <a:lnSpc>
                <a:spcPct val="97000"/>
              </a:lnSpc>
            </a:pPr>
            <a:r>
              <a:rPr sz="1300" b="1" i="0">
                <a:solidFill>
                  <a:srgbClr val="F1F5FF"/>
                </a:solidFill>
                <a:latin typeface="Aptos Display"/>
              </a:rPr>
              <a:t>without surrendering engineering judgment?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02 / THE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Make the environment intelligent before making it autonomous.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AURA changes the unit of work from a prompt to a project.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75488"/>
            <a:ext cx="1417320" cy="228600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6688" y="507492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NORTH STAR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1856231"/>
            <a:ext cx="2834640" cy="315468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02247" y="2570927"/>
            <a:ext cx="948049" cy="948049"/>
          </a:xfrm>
          <a:prstGeom prst="ellipse">
            <a:avLst/>
          </a:prstGeom>
          <a:noFill/>
          <a:ln w="12700">
            <a:solidFill>
              <a:srgbClr val="284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47088" y="2715768"/>
            <a:ext cx="658368" cy="658368"/>
          </a:xfrm>
          <a:prstGeom prst="ellipse">
            <a:avLst/>
          </a:prstGeom>
          <a:noFill/>
          <a:ln w="22860">
            <a:solidFill>
              <a:srgbClr val="5E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44598" y="2913278"/>
            <a:ext cx="263347" cy="263347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550822" y="3044952"/>
            <a:ext cx="283098" cy="0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518623" y="3044952"/>
            <a:ext cx="283098" cy="0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76272" y="2419502"/>
            <a:ext cx="0" cy="283098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176272" y="3387303"/>
            <a:ext cx="0" cy="283098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33271" y="3867912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3000"/>
              </a:lnSpc>
            </a:pPr>
            <a:r>
              <a:rPr sz="1900" b="1" i="0">
                <a:solidFill>
                  <a:srgbClr val="F1F5FF"/>
                </a:solidFill>
                <a:latin typeface="Aptos Display"/>
              </a:rPr>
              <a:t>PROJECT</a:t>
            </a:r>
          </a:p>
          <a:p>
            <a:pPr algn="ctr">
              <a:lnSpc>
                <a:spcPct val="93000"/>
              </a:lnSpc>
            </a:pPr>
            <a:r>
              <a:rPr sz="1900" b="1" i="0">
                <a:solidFill>
                  <a:srgbClr val="F1F5FF"/>
                </a:solidFill>
                <a:latin typeface="Aptos Display"/>
              </a:rPr>
              <a:t>AS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46268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90" b="0" i="0">
                <a:solidFill>
                  <a:srgbClr val="91A0BA"/>
                </a:solidFill>
                <a:latin typeface="Aptos"/>
              </a:rPr>
              <a:t>AURA keeps the repository, its structure, its decisions, and its changes in one governed environment.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03320" y="3383280"/>
            <a:ext cx="594360" cy="0"/>
          </a:xfrm>
          <a:prstGeom prst="line">
            <a:avLst/>
          </a:prstGeom>
          <a:ln w="1905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4251960" y="3337560"/>
            <a:ext cx="91440" cy="91440"/>
          </a:xfrm>
          <a:prstGeom prst="triangl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1856231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THREE INVERSIONS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2212848"/>
            <a:ext cx="6382512" cy="83210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73168" y="2414016"/>
            <a:ext cx="402336" cy="402336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2542032"/>
            <a:ext cx="4023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235915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30" b="1" i="0">
                <a:solidFill>
                  <a:srgbClr val="F1F5FF"/>
                </a:solidFill>
                <a:latin typeface="Aptos"/>
              </a:rPr>
              <a:t>KNOWLEDGE BEFORE</a:t>
            </a:r>
          </a:p>
          <a:p>
            <a:pPr algn="l">
              <a:lnSpc>
                <a:spcPct val="92000"/>
              </a:lnSpc>
            </a:pPr>
            <a:r>
              <a:rPr sz="1030" b="1" i="0">
                <a:solidFill>
                  <a:srgbClr val="F1F5FF"/>
                </a:solidFill>
                <a:latin typeface="Aptos"/>
              </a:rPr>
              <a:t>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2386584"/>
            <a:ext cx="28620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1A0BA"/>
                </a:solidFill>
                <a:latin typeface="Aptos"/>
              </a:rPr>
              <a:t>The graph and project facts are assembled before the provider is called.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264408"/>
            <a:ext cx="6382512" cy="83210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773168" y="3465576"/>
            <a:ext cx="402336" cy="402336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3593591"/>
            <a:ext cx="4023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58384" y="341071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30" b="1" i="0">
                <a:solidFill>
                  <a:srgbClr val="F1F5FF"/>
                </a:solidFill>
                <a:latin typeface="Aptos"/>
              </a:rPr>
              <a:t>DETERMINISTIC BEFORE</a:t>
            </a:r>
          </a:p>
          <a:p>
            <a:pPr algn="l">
              <a:lnSpc>
                <a:spcPct val="92000"/>
              </a:lnSpc>
            </a:pPr>
            <a:r>
              <a:rPr sz="1030" b="1" i="0">
                <a:solidFill>
                  <a:srgbClr val="F1F5FF"/>
                </a:solidFill>
                <a:latin typeface="Aptos"/>
              </a:rPr>
              <a:t>PROBABILISTIC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3438144"/>
            <a:ext cx="28620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1A0BA"/>
                </a:solidFill>
                <a:latin typeface="Aptos"/>
              </a:rPr>
              <a:t>Signals, checks, limits, and arithmetic constrain model judgment.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4315968"/>
            <a:ext cx="6382512" cy="83210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773168" y="4517136"/>
            <a:ext cx="402336" cy="402336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73168" y="4645152"/>
            <a:ext cx="4023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58384" y="446227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30" b="1" i="0">
                <a:solidFill>
                  <a:srgbClr val="F1F5FF"/>
                </a:solidFill>
                <a:latin typeface="Aptos"/>
              </a:rPr>
              <a:t>PROPOSAL BEFORE</a:t>
            </a:r>
          </a:p>
          <a:p>
            <a:pPr algn="l">
              <a:lnSpc>
                <a:spcPct val="92000"/>
              </a:lnSpc>
            </a:pPr>
            <a:r>
              <a:rPr sz="1030" b="1" i="0">
                <a:solidFill>
                  <a:srgbClr val="F1F5FF"/>
                </a:solidFill>
                <a:latin typeface="Aptos"/>
              </a:rPr>
              <a:t>MUTATION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90688" y="4489704"/>
            <a:ext cx="28620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1A0BA"/>
                </a:solidFill>
                <a:latin typeface="Aptos"/>
              </a:rPr>
              <a:t>Analyze, diagnose, and plan freely; write only after explicit human acceptance.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0" y="5458968"/>
            <a:ext cx="6382512" cy="475488"/>
          </a:xfrm>
          <a:prstGeom prst="roundRect">
            <a:avLst/>
          </a:prstGeom>
          <a:solidFill>
            <a:srgbClr val="152B3A"/>
          </a:solidFill>
          <a:ln w="12700">
            <a:solidFill>
              <a:srgbClr val="2C5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91456" y="5614416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47DCA2"/>
                </a:solidFill>
                <a:latin typeface="Aptos"/>
              </a:rPr>
              <a:t>NOT AN AUTONOMOUS EDITOR  ·  A GOVERNED ENGINEERING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03 / 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A vertical system of understanding, reasoning, and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The desktop is the frame; intelligence is layered around the project.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75488"/>
            <a:ext cx="1417320" cy="228600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6688" y="507492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ARCHITECTURE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1810512"/>
            <a:ext cx="4800600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03320" y="1810512"/>
            <a:ext cx="54864" cy="512064"/>
          </a:xfrm>
          <a:prstGeom prst="rect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04487" y="1984248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4BD8F7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1929384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 i="0">
                <a:solidFill>
                  <a:srgbClr val="F1F5FF"/>
                </a:solidFill>
                <a:latin typeface="Aptos"/>
              </a:rPr>
              <a:t>DEVELOPER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1975104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40" b="0" i="0">
                <a:solidFill>
                  <a:srgbClr val="91A0BA"/>
                </a:solidFill>
                <a:latin typeface="Aptos"/>
              </a:rPr>
              <a:t>intent · selection · approval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03620" y="2340864"/>
            <a:ext cx="0" cy="91440"/>
          </a:xfrm>
          <a:prstGeom prst="line">
            <a:avLst/>
          </a:prstGeom>
          <a:ln w="13970">
            <a:solidFill>
              <a:srgbClr val="3D56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6067044" y="2395728"/>
            <a:ext cx="73152" cy="73152"/>
          </a:xfrm>
          <a:prstGeom prst="triangle">
            <a:avLst/>
          </a:prstGeom>
          <a:solidFill>
            <a:srgbClr val="3D5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03320" y="2487168"/>
            <a:ext cx="4800600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03320" y="2487168"/>
            <a:ext cx="54864" cy="512064"/>
          </a:xfrm>
          <a:prstGeom prst="rect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4487" y="2660904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5E83FF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2606040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 i="0">
                <a:solidFill>
                  <a:srgbClr val="F1F5FF"/>
                </a:solidFill>
                <a:latin typeface="Aptos"/>
              </a:rPr>
              <a:t>WORKSPACE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2651760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40" b="0" i="0">
                <a:solidFill>
                  <a:srgbClr val="91A0BA"/>
                </a:solidFill>
                <a:latin typeface="Aptos"/>
              </a:rPr>
              <a:t>React shell · Monaco · context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03620" y="3017520"/>
            <a:ext cx="0" cy="91440"/>
          </a:xfrm>
          <a:prstGeom prst="line">
            <a:avLst/>
          </a:prstGeom>
          <a:ln w="13970">
            <a:solidFill>
              <a:srgbClr val="3D56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0800000">
            <a:off x="6067044" y="3072384"/>
            <a:ext cx="73152" cy="73152"/>
          </a:xfrm>
          <a:prstGeom prst="triangle">
            <a:avLst/>
          </a:prstGeom>
          <a:solidFill>
            <a:srgbClr val="3D5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03320" y="3163824"/>
            <a:ext cx="4800600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163824"/>
            <a:ext cx="54864" cy="512064"/>
          </a:xfrm>
          <a:prstGeom prst="rect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04487" y="333756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AE8BFF"/>
                </a:solidFill>
                <a:latin typeface="Apto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3282696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 i="0">
                <a:solidFill>
                  <a:srgbClr val="F1F5FF"/>
                </a:solidFill>
                <a:latin typeface="Aptos"/>
              </a:rPr>
              <a:t>KNOWLEDGE FABRIC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3328416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40" b="0" i="0">
                <a:solidFill>
                  <a:srgbClr val="91A0BA"/>
                </a:solidFill>
                <a:latin typeface="Aptos"/>
              </a:rPr>
              <a:t>coding index · full-stack graph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103620" y="3694176"/>
            <a:ext cx="0" cy="91440"/>
          </a:xfrm>
          <a:prstGeom prst="line">
            <a:avLst/>
          </a:prstGeom>
          <a:ln w="13970">
            <a:solidFill>
              <a:srgbClr val="3D56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10800000">
            <a:off x="6067044" y="3749040"/>
            <a:ext cx="73152" cy="73152"/>
          </a:xfrm>
          <a:prstGeom prst="triangle">
            <a:avLst/>
          </a:prstGeom>
          <a:solidFill>
            <a:srgbClr val="3D5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703320" y="3840480"/>
            <a:ext cx="4800600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03320" y="3840480"/>
            <a:ext cx="54864" cy="512064"/>
          </a:xfrm>
          <a:prstGeom prst="rect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04487" y="4014216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5E83FF"/>
                </a:solidFill>
                <a:latin typeface="Apto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3959352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 i="0">
                <a:solidFill>
                  <a:srgbClr val="F1F5FF"/>
                </a:solidFill>
                <a:latin typeface="Aptos"/>
              </a:rPr>
              <a:t>ENGINEERING 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4005072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40" b="0" i="0">
                <a:solidFill>
                  <a:srgbClr val="91A0BA"/>
                </a:solidFill>
                <a:latin typeface="Aptos"/>
              </a:rPr>
              <a:t>actions · diagnosis · project facts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03620" y="4370832"/>
            <a:ext cx="0" cy="91440"/>
          </a:xfrm>
          <a:prstGeom prst="line">
            <a:avLst/>
          </a:prstGeom>
          <a:ln w="13970">
            <a:solidFill>
              <a:srgbClr val="3D56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10800000">
            <a:off x="6067044" y="4425696"/>
            <a:ext cx="73152" cy="73152"/>
          </a:xfrm>
          <a:prstGeom prst="triangle">
            <a:avLst/>
          </a:prstGeom>
          <a:solidFill>
            <a:srgbClr val="3D5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703320" y="4517136"/>
            <a:ext cx="4800600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703320" y="4517136"/>
            <a:ext cx="54864" cy="512064"/>
          </a:xfrm>
          <a:prstGeom prst="rect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04487" y="4690872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FFBF5B"/>
                </a:solidFill>
                <a:latin typeface="Aptos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61688" y="4636008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 i="0">
                <a:solidFill>
                  <a:srgbClr val="F1F5FF"/>
                </a:solidFill>
                <a:latin typeface="Aptos"/>
              </a:rPr>
              <a:t>MISSION CONTROL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5392" y="4681728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40" b="0" i="0">
                <a:solidFill>
                  <a:srgbClr val="91A0BA"/>
                </a:solidFill>
                <a:latin typeface="Aptos"/>
              </a:rPr>
              <a:t>goal graph · DAG · checkpoints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03620" y="5047488"/>
            <a:ext cx="0" cy="91440"/>
          </a:xfrm>
          <a:prstGeom prst="line">
            <a:avLst/>
          </a:prstGeom>
          <a:ln w="13970">
            <a:solidFill>
              <a:srgbClr val="3D56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10800000">
            <a:off x="6067044" y="5102352"/>
            <a:ext cx="73152" cy="73152"/>
          </a:xfrm>
          <a:prstGeom prst="triangle">
            <a:avLst/>
          </a:prstGeom>
          <a:solidFill>
            <a:srgbClr val="3D5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703320" y="5193792"/>
            <a:ext cx="4800600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703320" y="5193792"/>
            <a:ext cx="54864" cy="512064"/>
          </a:xfrm>
          <a:prstGeom prst="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04487" y="5367528"/>
            <a:ext cx="292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47DCA2"/>
                </a:solidFill>
                <a:latin typeface="Aptos"/>
              </a:rP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61688" y="5312664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 i="0">
                <a:solidFill>
                  <a:srgbClr val="F1F5FF"/>
                </a:solidFill>
                <a:latin typeface="Aptos"/>
              </a:rPr>
              <a:t>GOVERNANCE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65392" y="5358383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40" b="0" i="0">
                <a:solidFill>
                  <a:srgbClr val="91A0BA"/>
                </a:solidFill>
                <a:latin typeface="Aptos"/>
              </a:rPr>
              <a:t>health · audits · quality gates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8096" y="1938528"/>
            <a:ext cx="2286000" cy="12161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2176272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LOCAL PROJECT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" y="2487168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F1F5FF"/>
                </a:solidFill>
                <a:latin typeface="Aptos"/>
              </a:rPr>
              <a:t>Files  ·  Git  ·  profiles</a:t>
            </a:r>
          </a:p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F1F5FF"/>
                </a:solidFill>
                <a:latin typeface="Aptos"/>
              </a:rPr>
              <a:t>~/.aura JSON stores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090672" y="2551176"/>
            <a:ext cx="566928" cy="0"/>
          </a:xfrm>
          <a:prstGeom prst="line">
            <a:avLst/>
          </a:prstGeom>
          <a:ln w="1270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5400000">
            <a:off x="3621024" y="2514600"/>
            <a:ext cx="73152" cy="73152"/>
          </a:xfrm>
          <a:prstGeom prst="triangl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68096" y="3867912"/>
            <a:ext cx="2286000" cy="12161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1038758" y="4199656"/>
            <a:ext cx="168981" cy="27158"/>
          </a:xfrm>
          <a:prstGeom prst="line">
            <a:avLst/>
          </a:prstGeom>
          <a:ln w="12700">
            <a:solidFill>
              <a:srgbClr val="AE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38758" y="4226814"/>
            <a:ext cx="66385" cy="159928"/>
          </a:xfrm>
          <a:prstGeom prst="line">
            <a:avLst/>
          </a:prstGeom>
          <a:ln w="12700">
            <a:solidFill>
              <a:srgbClr val="AE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105143" y="4199656"/>
            <a:ext cx="102596" cy="187086"/>
          </a:xfrm>
          <a:prstGeom prst="line">
            <a:avLst/>
          </a:prstGeom>
          <a:ln w="12700">
            <a:solidFill>
              <a:srgbClr val="AE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999530" y="4187586"/>
            <a:ext cx="78455" cy="78455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68511" y="4160428"/>
            <a:ext cx="78455" cy="78455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916" y="4347514"/>
            <a:ext cx="78455" cy="78455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17320" y="4078224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AE8BFF"/>
                </a:solidFill>
                <a:latin typeface="Aptos"/>
              </a:rPr>
              <a:t>PROJECT TRUTH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" y="44348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F1F5FF"/>
                </a:solidFill>
                <a:latin typeface="Aptos"/>
              </a:rPr>
              <a:t>Facts before opinions</a:t>
            </a:r>
          </a:p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F1F5FF"/>
                </a:solidFill>
                <a:latin typeface="Aptos"/>
              </a:rPr>
              <a:t>Evidence before action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090672" y="4443984"/>
            <a:ext cx="566928" cy="0"/>
          </a:xfrm>
          <a:prstGeom prst="line">
            <a:avLst/>
          </a:prstGeom>
          <a:ln w="12700">
            <a:solidFill>
              <a:srgbClr val="AE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5400000">
            <a:off x="3621024" y="4407408"/>
            <a:ext cx="73152" cy="73152"/>
          </a:xfrm>
          <a:prstGeom prst="triangl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162288" y="1938528"/>
            <a:ext cx="2267712" cy="12161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72600" y="2185416"/>
            <a:ext cx="1691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5E83FF"/>
                </a:solidFill>
                <a:latin typeface="Aptos"/>
              </a:rPr>
              <a:t>BYO AI RUNTIME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72600" y="2487168"/>
            <a:ext cx="16824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 i="0">
                <a:solidFill>
                  <a:srgbClr val="F1F5FF"/>
                </a:solidFill>
                <a:latin typeface="Aptos"/>
              </a:rPr>
              <a:t>Provider adapters</a:t>
            </a:r>
          </a:p>
          <a:p>
            <a:pPr algn="l">
              <a:lnSpc>
                <a:spcPct val="100000"/>
              </a:lnSpc>
            </a:pPr>
            <a:r>
              <a:rPr sz="1010" b="1" i="0">
                <a:solidFill>
                  <a:srgbClr val="F1F5FF"/>
                </a:solidFill>
                <a:latin typeface="Aptos"/>
              </a:rPr>
              <a:t>streaming · model discovery</a:t>
            </a:r>
          </a:p>
        </p:txBody>
      </p:sp>
      <p:cxnSp>
        <p:nvCxnSpPr>
          <p:cNvPr id="76" name="Connector 75"/>
          <p:cNvCxnSpPr/>
          <p:nvPr/>
        </p:nvCxnSpPr>
        <p:spPr>
          <a:xfrm flipH="1">
            <a:off x="8577072" y="4078224"/>
            <a:ext cx="566928" cy="0"/>
          </a:xfrm>
          <a:prstGeom prst="line">
            <a:avLst/>
          </a:prstGeom>
          <a:ln w="12700">
            <a:solidFill>
              <a:srgbClr val="5E8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/>
          <p:cNvSpPr/>
          <p:nvPr/>
        </p:nvSpPr>
        <p:spPr>
          <a:xfrm rot="16200000">
            <a:off x="8540496" y="4041648"/>
            <a:ext cx="73152" cy="73152"/>
          </a:xfrm>
          <a:prstGeom prst="triangl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162288" y="3867912"/>
            <a:ext cx="2267712" cy="12161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7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Pentagon 78"/>
          <p:cNvSpPr/>
          <p:nvPr/>
        </p:nvSpPr>
        <p:spPr>
          <a:xfrm rot="10800000">
            <a:off x="9381744" y="4142232"/>
            <a:ext cx="246888" cy="283921"/>
          </a:xfrm>
          <a:prstGeom prst="homePlate">
            <a:avLst/>
          </a:prstGeom>
          <a:noFill/>
          <a:ln w="17780">
            <a:solidFill>
              <a:srgbClr val="47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9450872" y="4273082"/>
            <a:ext cx="41971" cy="41971"/>
          </a:xfrm>
          <a:prstGeom prst="line">
            <a:avLst/>
          </a:prstGeom>
          <a:ln w="13970">
            <a:solidFill>
              <a:srgbClr val="47D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492843" y="4228642"/>
            <a:ext cx="76535" cy="86411"/>
          </a:xfrm>
          <a:prstGeom prst="line">
            <a:avLst/>
          </a:prstGeom>
          <a:ln w="13970">
            <a:solidFill>
              <a:srgbClr val="47D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9784080" y="4078224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7DCA2"/>
                </a:solidFill>
                <a:latin typeface="Aptos"/>
              </a:rPr>
              <a:t>TAURI V2 HOST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72600" y="44348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 i="0">
                <a:solidFill>
                  <a:srgbClr val="F1F5FF"/>
                </a:solidFill>
                <a:latin typeface="Aptos"/>
              </a:rPr>
              <a:t>Thin Rust core</a:t>
            </a:r>
          </a:p>
          <a:p>
            <a:pPr algn="l">
              <a:lnSpc>
                <a:spcPct val="100000"/>
              </a:lnSpc>
            </a:pPr>
            <a:r>
              <a:rPr sz="1010" b="1" i="0">
                <a:solidFill>
                  <a:srgbClr val="F1F5FF"/>
                </a:solidFill>
                <a:latin typeface="Aptos"/>
              </a:rPr>
              <a:t>filesystem boundary</a:t>
            </a:r>
          </a:p>
        </p:txBody>
      </p:sp>
      <p:cxnSp>
        <p:nvCxnSpPr>
          <p:cNvPr id="84" name="Connector 83"/>
          <p:cNvCxnSpPr/>
          <p:nvPr/>
        </p:nvCxnSpPr>
        <p:spPr>
          <a:xfrm flipH="1">
            <a:off x="8577072" y="4581144"/>
            <a:ext cx="566928" cy="0"/>
          </a:xfrm>
          <a:prstGeom prst="line">
            <a:avLst/>
          </a:prstGeom>
          <a:ln w="12700">
            <a:solidFill>
              <a:srgbClr val="47D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Isosceles Triangle 84"/>
          <p:cNvSpPr/>
          <p:nvPr/>
        </p:nvSpPr>
        <p:spPr>
          <a:xfrm rot="16200000">
            <a:off x="8540496" y="4544568"/>
            <a:ext cx="73152" cy="73152"/>
          </a:xfrm>
          <a:prstGeom prst="triangl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68096" y="592531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1">
                <a:solidFill>
                  <a:srgbClr val="91A0BA"/>
                </a:solidFill>
                <a:latin typeface="Aptos"/>
              </a:rPr>
              <a:t>The architecture is additive: every subsystem reads from the same project context and returns control to the engineer.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04 / KNOWLEDGE FABRIC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The project becomes queryable before it becomes generative.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Two real engines turn files into searchable context and system-level relationships.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75488"/>
            <a:ext cx="1417320" cy="228600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6688" y="507492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LIVE TODAY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1847088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066543"/>
            <a:ext cx="2743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1" i="0">
                <a:solidFill>
                  <a:srgbClr val="4BD8F7"/>
                </a:solidFill>
                <a:latin typeface="Aptos"/>
              </a:rPr>
              <a:t>CODING KNOWLEDGE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304288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 i="0">
                <a:solidFill>
                  <a:srgbClr val="F1F5FF"/>
                </a:solidFill>
                <a:latin typeface="Aptos Display"/>
              </a:rPr>
              <a:t>Files → chunks → lexical retrieval →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" y="2852928"/>
            <a:ext cx="1188720" cy="55778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4712" y="3035808"/>
            <a:ext cx="146304" cy="146304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2944368"/>
            <a:ext cx="7498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1" i="0">
                <a:solidFill>
                  <a:srgbClr val="F1F5FF"/>
                </a:solidFill>
                <a:latin typeface="Aptos"/>
              </a:rPr>
              <a:t>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18211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 i="0">
                <a:solidFill>
                  <a:srgbClr val="91A0BA"/>
                </a:solidFill>
                <a:latin typeface="Aptos"/>
              </a:rPr>
              <a:t>filesystem + ignores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58568" y="3127248"/>
            <a:ext cx="146304" cy="0"/>
          </a:xfrm>
          <a:prstGeom prst="line">
            <a:avLst/>
          </a:prstGeom>
          <a:ln w="12700">
            <a:solidFill>
              <a:srgbClr val="3D5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2372868" y="3095244"/>
            <a:ext cx="64008" cy="64008"/>
          </a:xfrm>
          <a:prstGeom prst="triangle">
            <a:avLst/>
          </a:prstGeom>
          <a:solidFill>
            <a:srgbClr val="3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41448" y="2852928"/>
            <a:ext cx="1188720" cy="55778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51176" y="3035808"/>
            <a:ext cx="146304" cy="146304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52344" y="2944368"/>
            <a:ext cx="7498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1" i="0">
                <a:solidFill>
                  <a:srgbClr val="F1F5FF"/>
                </a:solidFill>
                <a:latin typeface="Aptos"/>
              </a:rPr>
              <a:t>CHUNK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51176" y="318211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 i="0">
                <a:solidFill>
                  <a:srgbClr val="91A0BA"/>
                </a:solidFill>
                <a:latin typeface="Aptos"/>
              </a:rPr>
              <a:t>language-aware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685032" y="3127248"/>
            <a:ext cx="146303" cy="0"/>
          </a:xfrm>
          <a:prstGeom prst="line">
            <a:avLst/>
          </a:prstGeom>
          <a:ln w="12700">
            <a:solidFill>
              <a:srgbClr val="3D5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3799331" y="3095244"/>
            <a:ext cx="64008" cy="64008"/>
          </a:xfrm>
          <a:prstGeom prst="triangle">
            <a:avLst/>
          </a:prstGeom>
          <a:solidFill>
            <a:srgbClr val="3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67912" y="2852928"/>
            <a:ext cx="1188720" cy="55778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977640" y="3035808"/>
            <a:ext cx="146304" cy="146304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78808" y="2944368"/>
            <a:ext cx="7498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1" i="0">
                <a:solidFill>
                  <a:srgbClr val="F1F5FF"/>
                </a:solidFill>
                <a:latin typeface="Aptos"/>
              </a:rPr>
              <a:t>BM25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40" y="318211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 i="0">
                <a:solidFill>
                  <a:srgbClr val="91A0BA"/>
                </a:solidFill>
                <a:latin typeface="Aptos"/>
              </a:rPr>
              <a:t>exact / prefix / fuzzy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639312"/>
            <a:ext cx="4389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 i="0">
                <a:solidFill>
                  <a:srgbClr val="91A0BA"/>
                </a:solidFill>
                <a:latin typeface="Aptos"/>
              </a:rPr>
              <a:t>neighboring chunks  ·  token budget  ·  source refs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1847088"/>
            <a:ext cx="5230368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7376" y="2066543"/>
            <a:ext cx="2834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1" i="0">
                <a:solidFill>
                  <a:srgbClr val="AE8BFF"/>
                </a:solidFill>
                <a:latin typeface="Aptos"/>
              </a:rPr>
              <a:t>FULL-STACK KNOWLEDGE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7376" y="2304288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 i="0">
                <a:solidFill>
                  <a:srgbClr val="F1F5FF"/>
                </a:solidFill>
                <a:latin typeface="Aptos Display"/>
              </a:rPr>
              <a:t>Extractors → typed entities → relation graph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2852928"/>
            <a:ext cx="1188720" cy="55778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6248" y="3035808"/>
            <a:ext cx="146304" cy="146304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57416" y="2944368"/>
            <a:ext cx="7498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1" i="0">
                <a:solidFill>
                  <a:srgbClr val="F1F5FF"/>
                </a:solidFill>
                <a:latin typeface="Aptos"/>
              </a:rPr>
              <a:t>EXTRACT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6248" y="318211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 i="0">
                <a:solidFill>
                  <a:srgbClr val="91A0BA"/>
                </a:solidFill>
                <a:latin typeface="Aptos"/>
              </a:rPr>
              <a:t>5 layer extractors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690104" y="3127248"/>
            <a:ext cx="146304" cy="0"/>
          </a:xfrm>
          <a:prstGeom prst="line">
            <a:avLst/>
          </a:prstGeom>
          <a:ln w="12700">
            <a:solidFill>
              <a:srgbClr val="3D5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7804404" y="3095244"/>
            <a:ext cx="64008" cy="64008"/>
          </a:xfrm>
          <a:prstGeom prst="triangle">
            <a:avLst/>
          </a:prstGeom>
          <a:solidFill>
            <a:srgbClr val="3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872983" y="2852928"/>
            <a:ext cx="1188720" cy="55778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982711" y="3035808"/>
            <a:ext cx="146304" cy="146304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79" y="2944368"/>
            <a:ext cx="7498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1" i="0">
                <a:solidFill>
                  <a:srgbClr val="F1F5FF"/>
                </a:solidFill>
                <a:latin typeface="Aptos"/>
              </a:rPr>
              <a:t>LINK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82711" y="318211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 i="0">
                <a:solidFill>
                  <a:srgbClr val="91A0BA"/>
                </a:solidFill>
                <a:latin typeface="Aptos"/>
              </a:rPr>
              <a:t>cross-layer edges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116567" y="3127248"/>
            <a:ext cx="146305" cy="0"/>
          </a:xfrm>
          <a:prstGeom prst="line">
            <a:avLst/>
          </a:prstGeom>
          <a:ln w="12700">
            <a:solidFill>
              <a:srgbClr val="3D5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9230867" y="3095244"/>
            <a:ext cx="64008" cy="64008"/>
          </a:xfrm>
          <a:prstGeom prst="triangle">
            <a:avLst/>
          </a:prstGeom>
          <a:solidFill>
            <a:srgbClr val="3D5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299448" y="2852928"/>
            <a:ext cx="1188720" cy="55778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409176" y="3035808"/>
            <a:ext cx="146304" cy="146304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10344" y="2944368"/>
            <a:ext cx="7498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1" i="0">
                <a:solidFill>
                  <a:srgbClr val="F1F5FF"/>
                </a:solidFill>
                <a:latin typeface="Aptos"/>
              </a:rPr>
              <a:t>QUERY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09176" y="318211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 i="0">
                <a:solidFill>
                  <a:srgbClr val="91A0BA"/>
                </a:solidFill>
                <a:latin typeface="Aptos"/>
              </a:rPr>
              <a:t>graph-aware search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7376" y="3639312"/>
            <a:ext cx="4526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 i="0">
                <a:solidFill>
                  <a:srgbClr val="91A0BA"/>
                </a:solidFill>
                <a:latin typeface="Aptos"/>
              </a:rPr>
              <a:t>frontend  ·  backend  ·  database  ·  config  ·  architecture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401568" y="3959352"/>
            <a:ext cx="0" cy="411480"/>
          </a:xfrm>
          <a:prstGeom prst="line">
            <a:avLst/>
          </a:prstGeom>
          <a:ln w="1270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 rot="10800000">
            <a:off x="3364992" y="4334256"/>
            <a:ext cx="73152" cy="73152"/>
          </a:xfrm>
          <a:prstGeom prst="triangl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8796528" y="3959352"/>
            <a:ext cx="0" cy="411480"/>
          </a:xfrm>
          <a:prstGeom prst="line">
            <a:avLst/>
          </a:prstGeom>
          <a:ln w="12700">
            <a:solidFill>
              <a:srgbClr val="AE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10800000">
            <a:off x="8759952" y="4334256"/>
            <a:ext cx="73152" cy="73152"/>
          </a:xfrm>
          <a:prstGeom prst="triangl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408176" y="4425696"/>
            <a:ext cx="9418320" cy="987552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2B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V="1">
            <a:off x="1783080" y="4778654"/>
            <a:ext cx="179222" cy="28804"/>
          </a:xfrm>
          <a:prstGeom prst="line">
            <a:avLst/>
          </a:prstGeom>
          <a:ln w="1270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783080" y="4807458"/>
            <a:ext cx="70408" cy="169621"/>
          </a:xfrm>
          <a:prstGeom prst="line">
            <a:avLst/>
          </a:prstGeom>
          <a:ln w="1270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853488" y="4778654"/>
            <a:ext cx="108814" cy="198425"/>
          </a:xfrm>
          <a:prstGeom prst="line">
            <a:avLst/>
          </a:prstGeom>
          <a:ln w="1270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741474" y="4765852"/>
            <a:ext cx="83210" cy="83210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920697" y="4737049"/>
            <a:ext cx="83210" cy="83210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811883" y="4935474"/>
            <a:ext cx="83210" cy="83210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21992" y="4617720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BD8F7"/>
                </a:solidFill>
                <a:latin typeface="Aptos"/>
              </a:rPr>
              <a:t>CONTEXT PACKAGE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21992" y="4928616"/>
            <a:ext cx="7223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F1F5FF"/>
                </a:solidFill>
                <a:latin typeface="Aptos"/>
              </a:rPr>
              <a:t>files  ·  symbols  ·  relations  ·  neighbors  ·  source refs  ·  token budget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408176" y="5687568"/>
            <a:ext cx="2816352" cy="246888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481328" y="5765292"/>
            <a:ext cx="82296" cy="82296"/>
          </a:xfrm>
          <a:prstGeom prst="ellipse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09344" y="5728716"/>
            <a:ext cx="2569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KEYWORD + GRAPH RETRIEVAL IS LIVE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25696" y="5687568"/>
            <a:ext cx="3749039" cy="246888"/>
          </a:xfrm>
          <a:prstGeom prst="roundRect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498848" y="5765292"/>
            <a:ext cx="82296" cy="82296"/>
          </a:xfrm>
          <a:prstGeom prst="ellipse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26864" y="5728716"/>
            <a:ext cx="35021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VECTOR / EMBEDDING PATH IS A RESERVED SEAM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49056" y="5660136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 i="1">
                <a:solidFill>
                  <a:srgbClr val="91A0BA"/>
                </a:solidFill>
                <a:latin typeface="Aptos"/>
              </a:rPr>
              <a:t>The current engines are deterministic and provider-independent; the model receives assembled context, not the raw repository.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05 / AI CODE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Context is a first-class input to every code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Selection is the starting point; project relationships are what make the response useful.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75488"/>
            <a:ext cx="1417320" cy="228600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6688" y="507492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IMPLEMENTED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1920240"/>
            <a:ext cx="1847088" cy="141732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976" y="2103120"/>
            <a:ext cx="347472" cy="347472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22219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2075688"/>
            <a:ext cx="96926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i="0">
                <a:solidFill>
                  <a:srgbClr val="4BD8F7"/>
                </a:solidFill>
                <a:latin typeface="Aptos"/>
              </a:rPr>
              <a:t>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268833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1F5FF"/>
                </a:solidFill>
                <a:latin typeface="Aptos"/>
              </a:rPr>
              <a:t>Monaco range</a:t>
            </a:r>
          </a:p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1F5FF"/>
                </a:solidFill>
                <a:latin typeface="Aptos"/>
              </a:rPr>
              <a:t>file + symbol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42615" y="2624328"/>
            <a:ext cx="237745" cy="0"/>
          </a:xfrm>
          <a:prstGeom prst="line">
            <a:avLst/>
          </a:prstGeom>
          <a:ln w="13970">
            <a:solidFill>
              <a:srgbClr val="4965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2843784" y="2587752"/>
            <a:ext cx="73152" cy="73152"/>
          </a:xfrm>
          <a:prstGeom prst="triangle">
            <a:avLst/>
          </a:prstGeom>
          <a:solidFill>
            <a:srgbClr val="496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44368" y="1920240"/>
            <a:ext cx="1847088" cy="141732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27248" y="2103120"/>
            <a:ext cx="347472" cy="347472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7248" y="22219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2075688"/>
            <a:ext cx="96926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i="0">
                <a:solidFill>
                  <a:srgbClr val="5E83FF"/>
                </a:solidFill>
                <a:latin typeface="Aptos"/>
              </a:rPr>
              <a:t>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7248" y="268833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1F5FF"/>
                </a:solidFill>
                <a:latin typeface="Aptos"/>
              </a:rPr>
              <a:t>dependencies</a:t>
            </a:r>
          </a:p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1F5FF"/>
                </a:solidFill>
                <a:latin typeface="Aptos"/>
              </a:rPr>
              <a:t>dependents + graph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18888" y="2624328"/>
            <a:ext cx="237743" cy="0"/>
          </a:xfrm>
          <a:prstGeom prst="line">
            <a:avLst/>
          </a:prstGeom>
          <a:ln w="13970">
            <a:solidFill>
              <a:srgbClr val="4965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5020055" y="2587752"/>
            <a:ext cx="73152" cy="73152"/>
          </a:xfrm>
          <a:prstGeom prst="triangle">
            <a:avLst/>
          </a:prstGeom>
          <a:solidFill>
            <a:srgbClr val="496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20640" y="1920240"/>
            <a:ext cx="1847088" cy="141732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303520" y="2103120"/>
            <a:ext cx="347472" cy="347472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22219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2075688"/>
            <a:ext cx="96926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i="0">
                <a:solidFill>
                  <a:srgbClr val="AE8BFF"/>
                </a:solidFill>
                <a:latin typeface="Aptos"/>
              </a:rPr>
              <a:t>REASONING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268833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1F5FF"/>
                </a:solidFill>
                <a:latin typeface="Aptos"/>
              </a:rPr>
              <a:t>provider-neutral</a:t>
            </a:r>
          </a:p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1F5FF"/>
                </a:solidFill>
                <a:latin typeface="Aptos"/>
              </a:rPr>
              <a:t>runtime call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995159" y="2624328"/>
            <a:ext cx="237745" cy="0"/>
          </a:xfrm>
          <a:prstGeom prst="line">
            <a:avLst/>
          </a:prstGeom>
          <a:ln w="13970">
            <a:solidFill>
              <a:srgbClr val="4965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7196328" y="2587752"/>
            <a:ext cx="73152" cy="73152"/>
          </a:xfrm>
          <a:prstGeom prst="triangle">
            <a:avLst/>
          </a:prstGeom>
          <a:solidFill>
            <a:srgbClr val="496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96912" y="1920240"/>
            <a:ext cx="1847088" cy="141732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79792" y="2103120"/>
            <a:ext cx="347472" cy="347472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79792" y="22219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6992" y="2075688"/>
            <a:ext cx="96926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i="0">
                <a:solidFill>
                  <a:srgbClr val="FFBF5B"/>
                </a:solidFill>
                <a:latin typeface="Aptos"/>
              </a:rPr>
              <a:t>RESPONSE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268833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1F5FF"/>
                </a:solidFill>
                <a:latin typeface="Aptos"/>
              </a:rPr>
              <a:t>explain · diff</a:t>
            </a:r>
          </a:p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1F5FF"/>
                </a:solidFill>
                <a:latin typeface="Aptos"/>
              </a:rPr>
              <a:t>new file · findings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71432" y="2624328"/>
            <a:ext cx="237744" cy="0"/>
          </a:xfrm>
          <a:prstGeom prst="line">
            <a:avLst/>
          </a:prstGeom>
          <a:ln w="13970">
            <a:solidFill>
              <a:srgbClr val="4965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9372600" y="2587752"/>
            <a:ext cx="73152" cy="73152"/>
          </a:xfrm>
          <a:prstGeom prst="triangle">
            <a:avLst/>
          </a:prstGeom>
          <a:solidFill>
            <a:srgbClr val="496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473184" y="1920240"/>
            <a:ext cx="1847088" cy="141732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656063" y="2103120"/>
            <a:ext cx="347472" cy="347472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56063" y="22219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13263" y="2075688"/>
            <a:ext cx="96926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i="0">
                <a:solidFill>
                  <a:srgbClr val="47DCA2"/>
                </a:solidFill>
                <a:latin typeface="Aptos"/>
              </a:rPr>
              <a:t>APPROVAL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56063" y="268833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1F5FF"/>
                </a:solidFill>
                <a:latin typeface="Aptos"/>
              </a:rPr>
              <a:t>accept / reject</a:t>
            </a:r>
          </a:p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1F5FF"/>
                </a:solidFill>
                <a:latin typeface="Aptos"/>
              </a:rPr>
              <a:t>save + reindex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8096" y="3858768"/>
            <a:ext cx="3712463" cy="1481328"/>
          </a:xfrm>
          <a:prstGeom prst="roundRect">
            <a:avLst/>
          </a:prstGeom>
          <a:solidFill>
            <a:srgbClr val="101A2A"/>
          </a:solidFill>
          <a:ln w="12700">
            <a:solidFill>
              <a:srgbClr val="294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4984" y="4087368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4BD8F7"/>
                </a:solidFill>
                <a:latin typeface="Aptos"/>
              </a:rPr>
              <a:t>PROJECT CONTEXT / CURRENT SYMBOL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" y="437083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1F5FF"/>
                </a:solidFill>
                <a:latin typeface="Aptos Display"/>
              </a:rPr>
              <a:t>fetchOrders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" y="4800600"/>
            <a:ext cx="8686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10" b="0" i="0">
                <a:solidFill>
                  <a:srgbClr val="91A0BA"/>
                </a:solidFill>
                <a:latin typeface="Aptos"/>
              </a:rPr>
              <a:t>IMPORTS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" y="499262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5E83FF"/>
                </a:solidFill>
                <a:latin typeface="Aptos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66543" y="4800600"/>
            <a:ext cx="8686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10" b="0" i="0">
                <a:solidFill>
                  <a:srgbClr val="91A0BA"/>
                </a:solidFill>
                <a:latin typeface="Aptos"/>
              </a:rPr>
              <a:t>DEPENDENTS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66543" y="499262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AE8BFF"/>
                </a:solidFill>
                <a:latin typeface="Aptos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18104" y="4800600"/>
            <a:ext cx="8686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10" b="0" i="0">
                <a:solidFill>
                  <a:srgbClr val="91A0BA"/>
                </a:solidFill>
                <a:latin typeface="Aptos"/>
              </a:rPr>
              <a:t>RISK FLOOR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18104" y="499262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BF5B"/>
                </a:solidFill>
                <a:latin typeface="Aptos"/>
              </a:rPr>
              <a:t>medium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73752" y="3986784"/>
            <a:ext cx="6291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1F5FF"/>
                </a:solidFill>
                <a:latin typeface="Aptos Display"/>
              </a:rPr>
              <a:t>AURA context is already held client-side before the provider request.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92040" y="4489704"/>
            <a:ext cx="5349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60" b="0" i="0">
                <a:solidFill>
                  <a:srgbClr val="91A0BA"/>
                </a:solidFill>
                <a:latin typeface="Aptos"/>
              </a:rPr>
              <a:t>The action surface is deliberately small: explain, refactor, optimize, diagnose, generate tests, add docs, security review, simplify, convert, rename, or custom.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892040" y="5230368"/>
            <a:ext cx="6236208" cy="438912"/>
          </a:xfrm>
          <a:prstGeom prst="roundRect">
            <a:avLst/>
          </a:prstGeom>
          <a:solidFill>
            <a:srgbClr val="162A2D"/>
          </a:solidFill>
          <a:ln w="12700">
            <a:solidFill>
              <a:srgbClr val="2A5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0640" y="5376672"/>
            <a:ext cx="5760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47DCA2"/>
                </a:solidFill>
                <a:latin typeface="Aptos"/>
              </a:rPr>
              <a:t>NO AUTO-WRITE  ·  ACTION → PREVIEW → HUMAN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06 / ENGINEERING DIAGNOSIS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Diagnosis is an evidence pipeline, not a guess.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Ten stages narrow uncertainty, compare candidate patches, and stop before an unsafe write.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75488"/>
            <a:ext cx="1417320" cy="228600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6688" y="507492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IMPLEMENTED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07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1883664"/>
            <a:ext cx="1938528" cy="9144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2039112"/>
            <a:ext cx="274320" cy="274320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139696"/>
            <a:ext cx="274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080C14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202996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1" i="0">
                <a:solidFill>
                  <a:srgbClr val="4BD8F7"/>
                </a:solidFill>
                <a:latin typeface="Aptos"/>
              </a:rPr>
              <a:t>GATHER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37744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filesystem · graph</a:t>
            </a:r>
          </a:p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git · compiler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26664" y="1883664"/>
            <a:ext cx="1938528" cy="9144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72968" y="2039112"/>
            <a:ext cx="274320" cy="274320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2968" y="2139696"/>
            <a:ext cx="274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080C14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202996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1" i="0">
                <a:solidFill>
                  <a:srgbClr val="5E83FF"/>
                </a:solidFill>
                <a:latin typeface="Aptos"/>
              </a:rPr>
              <a:t>CLASSIFY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2968" y="237744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deterministic</a:t>
            </a:r>
          </a:p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category +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85232" y="1883664"/>
            <a:ext cx="1938528" cy="9144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31536" y="2039112"/>
            <a:ext cx="274320" cy="274320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31536" y="2139696"/>
            <a:ext cx="274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080C14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5584" y="202996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1" i="0">
                <a:solidFill>
                  <a:srgbClr val="FFBF5B"/>
                </a:solidFill>
                <a:latin typeface="Aptos"/>
              </a:rPr>
              <a:t>UNKNOWN?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237744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honest stop</a:t>
            </a:r>
          </a:p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no patch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1883664"/>
            <a:ext cx="1938528" cy="9144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90104" y="2039112"/>
            <a:ext cx="274320" cy="274320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0104" y="2139696"/>
            <a:ext cx="274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080C14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202996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1" i="0">
                <a:solidFill>
                  <a:srgbClr val="AE8BFF"/>
                </a:solidFill>
                <a:latin typeface="Aptos"/>
              </a:rPr>
              <a:t>ROOT CAUSE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0104" y="237744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AI explanation</a:t>
            </a:r>
          </a:p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over signals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02368" y="1883664"/>
            <a:ext cx="1938528" cy="9144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948672" y="2039112"/>
            <a:ext cx="274320" cy="274320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48672" y="2139696"/>
            <a:ext cx="274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080C14"/>
                </a:solidFill>
                <a:latin typeface="Aptos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202996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1" i="0">
                <a:solidFill>
                  <a:srgbClr val="5E83FF"/>
                </a:solidFill>
                <a:latin typeface="Aptos"/>
              </a:rPr>
              <a:t>A / B / 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8672" y="237744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minimal · defensive</a:t>
            </a:r>
          </a:p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refactor-adjacent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8096" y="3118104"/>
            <a:ext cx="1938528" cy="9144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4400" y="3273552"/>
            <a:ext cx="274320" cy="274320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3374136"/>
            <a:ext cx="274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080C14"/>
                </a:solidFill>
                <a:latin typeface="Aptos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98448" y="326440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1" i="0">
                <a:solidFill>
                  <a:srgbClr val="4BD8F7"/>
                </a:solidFill>
                <a:latin typeface="Aptos"/>
              </a:rPr>
              <a:t>LIMIT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361188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diff stats</a:t>
            </a:r>
          </a:p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exports · layers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26664" y="3118104"/>
            <a:ext cx="1938528" cy="9144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72968" y="3273552"/>
            <a:ext cx="274320" cy="274320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72968" y="3374136"/>
            <a:ext cx="274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080C14"/>
                </a:solidFill>
                <a:latin typeface="Aptos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57016" y="326440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1" i="0">
                <a:solidFill>
                  <a:srgbClr val="47DCA2"/>
                </a:solidFill>
                <a:latin typeface="Aptos"/>
              </a:rPr>
              <a:t>SIMULATE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72968" y="361188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compiler · refs</a:t>
            </a:r>
          </a:p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category · tests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85232" y="3118104"/>
            <a:ext cx="1938528" cy="9144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31536" y="3273552"/>
            <a:ext cx="274320" cy="274320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31536" y="3374136"/>
            <a:ext cx="274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080C14"/>
                </a:solidFill>
                <a:latin typeface="Aptos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15584" y="326440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1" i="0">
                <a:solidFill>
                  <a:srgbClr val="FFBF5B"/>
                </a:solidFill>
                <a:latin typeface="Aptos"/>
              </a:rPr>
              <a:t>CONFIDENCE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31536" y="361188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scores +</a:t>
            </a:r>
          </a:p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limiter decision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43800" y="3118104"/>
            <a:ext cx="1938528" cy="9144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90104" y="3273552"/>
            <a:ext cx="274320" cy="274320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90104" y="3374136"/>
            <a:ext cx="274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080C14"/>
                </a:solidFill>
                <a:latin typeface="Aptos"/>
              </a:rPr>
              <a:t>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74152" y="326440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1" i="0">
                <a:solidFill>
                  <a:srgbClr val="AE8BFF"/>
                </a:solidFill>
                <a:latin typeface="Aptos"/>
              </a:rPr>
              <a:t>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90104" y="361188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AI reviewer</a:t>
            </a:r>
          </a:p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per candidate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802368" y="3118104"/>
            <a:ext cx="1938528" cy="9144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948672" y="3273552"/>
            <a:ext cx="274320" cy="274320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48672" y="3374136"/>
            <a:ext cx="274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080C14"/>
                </a:solidFill>
                <a:latin typeface="Aptos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32720" y="326440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1" i="0">
                <a:solidFill>
                  <a:srgbClr val="47DCA2"/>
                </a:solidFill>
                <a:latin typeface="Aptos"/>
              </a:rPr>
              <a:t>RECOMMEND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48672" y="361188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comparison</a:t>
            </a:r>
          </a:p>
          <a:p>
            <a:pPr algn="l">
              <a:lnSpc>
                <a:spcPct val="94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ready for human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724912" y="2340864"/>
            <a:ext cx="246888" cy="0"/>
          </a:xfrm>
          <a:prstGeom prst="line">
            <a:avLst/>
          </a:prstGeom>
          <a:ln w="11430">
            <a:solidFill>
              <a:srgbClr val="466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/>
          <p:cNvSpPr/>
          <p:nvPr/>
        </p:nvSpPr>
        <p:spPr>
          <a:xfrm rot="5400000">
            <a:off x="2939796" y="2308860"/>
            <a:ext cx="64008" cy="64008"/>
          </a:xfrm>
          <a:prstGeom prst="triangle">
            <a:avLst/>
          </a:prstGeom>
          <a:solidFill>
            <a:srgbClr val="466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H="1">
            <a:off x="10232136" y="3566160"/>
            <a:ext cx="246888" cy="0"/>
          </a:xfrm>
          <a:prstGeom prst="line">
            <a:avLst/>
          </a:prstGeom>
          <a:ln w="11430">
            <a:solidFill>
              <a:srgbClr val="466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/>
          <p:cNvSpPr/>
          <p:nvPr/>
        </p:nvSpPr>
        <p:spPr>
          <a:xfrm rot="16200000">
            <a:off x="10200132" y="3534156"/>
            <a:ext cx="64008" cy="64008"/>
          </a:xfrm>
          <a:prstGeom prst="triangle">
            <a:avLst/>
          </a:prstGeom>
          <a:solidFill>
            <a:srgbClr val="466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4983480" y="2340864"/>
            <a:ext cx="246888" cy="0"/>
          </a:xfrm>
          <a:prstGeom prst="line">
            <a:avLst/>
          </a:prstGeom>
          <a:ln w="11430">
            <a:solidFill>
              <a:srgbClr val="466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5400000">
            <a:off x="5198364" y="2308860"/>
            <a:ext cx="64008" cy="64008"/>
          </a:xfrm>
          <a:prstGeom prst="triangle">
            <a:avLst/>
          </a:prstGeom>
          <a:solidFill>
            <a:srgbClr val="466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 flipH="1">
            <a:off x="7973567" y="3566160"/>
            <a:ext cx="246889" cy="0"/>
          </a:xfrm>
          <a:prstGeom prst="line">
            <a:avLst/>
          </a:prstGeom>
          <a:ln w="11430">
            <a:solidFill>
              <a:srgbClr val="466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Isosceles Triangle 73"/>
          <p:cNvSpPr/>
          <p:nvPr/>
        </p:nvSpPr>
        <p:spPr>
          <a:xfrm rot="16200000">
            <a:off x="7941563" y="3534156"/>
            <a:ext cx="64008" cy="64008"/>
          </a:xfrm>
          <a:prstGeom prst="triangle">
            <a:avLst/>
          </a:prstGeom>
          <a:solidFill>
            <a:srgbClr val="466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7242048" y="2340864"/>
            <a:ext cx="246888" cy="0"/>
          </a:xfrm>
          <a:prstGeom prst="line">
            <a:avLst/>
          </a:prstGeom>
          <a:ln w="11430">
            <a:solidFill>
              <a:srgbClr val="466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/>
          <p:cNvSpPr/>
          <p:nvPr/>
        </p:nvSpPr>
        <p:spPr>
          <a:xfrm rot="5400000">
            <a:off x="7456932" y="2308860"/>
            <a:ext cx="64008" cy="64008"/>
          </a:xfrm>
          <a:prstGeom prst="triangle">
            <a:avLst/>
          </a:prstGeom>
          <a:solidFill>
            <a:srgbClr val="466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 flipH="1">
            <a:off x="5714999" y="3566160"/>
            <a:ext cx="246889" cy="0"/>
          </a:xfrm>
          <a:prstGeom prst="line">
            <a:avLst/>
          </a:prstGeom>
          <a:ln w="11430">
            <a:solidFill>
              <a:srgbClr val="466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Isosceles Triangle 77"/>
          <p:cNvSpPr/>
          <p:nvPr/>
        </p:nvSpPr>
        <p:spPr>
          <a:xfrm rot="16200000">
            <a:off x="5682995" y="3534156"/>
            <a:ext cx="64008" cy="64008"/>
          </a:xfrm>
          <a:prstGeom prst="triangle">
            <a:avLst/>
          </a:prstGeom>
          <a:solidFill>
            <a:srgbClr val="466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9500616" y="2340864"/>
            <a:ext cx="246888" cy="0"/>
          </a:xfrm>
          <a:prstGeom prst="line">
            <a:avLst/>
          </a:prstGeom>
          <a:ln w="11430">
            <a:solidFill>
              <a:srgbClr val="466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Isosceles Triangle 79"/>
          <p:cNvSpPr/>
          <p:nvPr/>
        </p:nvSpPr>
        <p:spPr>
          <a:xfrm rot="5400000">
            <a:off x="9715500" y="2308860"/>
            <a:ext cx="64008" cy="64008"/>
          </a:xfrm>
          <a:prstGeom prst="triangle">
            <a:avLst/>
          </a:prstGeom>
          <a:solidFill>
            <a:srgbClr val="466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H="1">
            <a:off x="3456431" y="3566160"/>
            <a:ext cx="246889" cy="0"/>
          </a:xfrm>
          <a:prstGeom prst="line">
            <a:avLst/>
          </a:prstGeom>
          <a:ln w="11430">
            <a:solidFill>
              <a:srgbClr val="466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/>
          <p:cNvSpPr/>
          <p:nvPr/>
        </p:nvSpPr>
        <p:spPr>
          <a:xfrm rot="16200000">
            <a:off x="3424427" y="3534156"/>
            <a:ext cx="64008" cy="64008"/>
          </a:xfrm>
          <a:prstGeom prst="triangle">
            <a:avLst/>
          </a:prstGeom>
          <a:solidFill>
            <a:srgbClr val="466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424160" y="2807208"/>
            <a:ext cx="0" cy="512064"/>
          </a:xfrm>
          <a:prstGeom prst="line">
            <a:avLst/>
          </a:prstGeom>
          <a:ln w="11430">
            <a:solidFill>
              <a:srgbClr val="466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Isosceles Triangle 83"/>
          <p:cNvSpPr/>
          <p:nvPr/>
        </p:nvSpPr>
        <p:spPr>
          <a:xfrm rot="10800000">
            <a:off x="10392156" y="3287268"/>
            <a:ext cx="64008" cy="64008"/>
          </a:xfrm>
          <a:prstGeom prst="triangle">
            <a:avLst/>
          </a:prstGeom>
          <a:solidFill>
            <a:srgbClr val="466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768096" y="4718304"/>
            <a:ext cx="10826496" cy="694944"/>
          </a:xfrm>
          <a:prstGeom prst="roundRect">
            <a:avLst/>
          </a:prstGeom>
          <a:solidFill>
            <a:srgbClr val="132235"/>
          </a:solidFill>
          <a:ln w="12700">
            <a:solidFill>
              <a:srgbClr val="2B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Pentagon 85"/>
          <p:cNvSpPr/>
          <p:nvPr/>
        </p:nvSpPr>
        <p:spPr>
          <a:xfrm rot="10800000">
            <a:off x="1024128" y="4892040"/>
            <a:ext cx="228600" cy="262890"/>
          </a:xfrm>
          <a:prstGeom prst="homePlate">
            <a:avLst/>
          </a:prstGeom>
          <a:noFill/>
          <a:ln w="17780">
            <a:solidFill>
              <a:srgbClr val="47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088136" y="5013198"/>
            <a:ext cx="38862" cy="38861"/>
          </a:xfrm>
          <a:prstGeom prst="line">
            <a:avLst/>
          </a:prstGeom>
          <a:ln w="13970">
            <a:solidFill>
              <a:srgbClr val="47D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126998" y="4972050"/>
            <a:ext cx="70866" cy="80009"/>
          </a:xfrm>
          <a:prstGeom prst="line">
            <a:avLst/>
          </a:prstGeom>
          <a:ln w="13970">
            <a:solidFill>
              <a:srgbClr val="47D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426464" y="4855464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47DCA2"/>
                </a:solidFill>
                <a:latin typeface="Aptos"/>
              </a:rPr>
              <a:t>DECISION SURFACE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127248" y="4846320"/>
            <a:ext cx="6309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 i="0">
                <a:solidFill>
                  <a:srgbClr val="F1F5FF"/>
                </a:solidFill>
                <a:latin typeface="Aptos"/>
              </a:rPr>
              <a:t>Candidate compare  ·  Monaco diff  ·  patch limiter  ·  accept / reject  ·  memory record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4128" y="5166360"/>
            <a:ext cx="8321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 i="0">
                <a:solidFill>
                  <a:srgbClr val="91A0BA"/>
                </a:solidFill>
                <a:latin typeface="Aptos"/>
              </a:rPr>
              <a:t>Diagnosis runs over SSE stage events and writes nothing until an explicit accept action.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573768" y="4873752"/>
            <a:ext cx="1737360" cy="246888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46920" y="4951476"/>
            <a:ext cx="82296" cy="82296"/>
          </a:xfrm>
          <a:prstGeom prst="ellipse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774936" y="4914900"/>
            <a:ext cx="1490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NO WRITE DURING ANALYSIS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8096" y="5751576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1A0BA"/>
                </a:solidFill>
                <a:latin typeface="Aptos"/>
              </a:rPr>
              <a:t>The current implementation makes “unknown” a valid result — a useful property for an engineering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07 / MISSION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Intent becomes a governed execution graph.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Mission Control turns a request into goals, dependencies, waves, checkpoints, and reviewable proposals.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75488"/>
            <a:ext cx="1417320" cy="228600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6688" y="507492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V3 ENGINE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182880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PLANNING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2148840"/>
            <a:ext cx="1143000" cy="89611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9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2295144"/>
            <a:ext cx="265176" cy="265176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2338120"/>
            <a:ext cx="2651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080C14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2286000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F1F5FF"/>
                </a:solidFill>
                <a:latin typeface="Aptos"/>
              </a:rPr>
              <a:t>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2532888"/>
            <a:ext cx="5394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classify +</a:t>
            </a:r>
          </a:p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refine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38528" y="2596896"/>
            <a:ext cx="137160" cy="0"/>
          </a:xfrm>
          <a:prstGeom prst="line">
            <a:avLst/>
          </a:prstGeom>
          <a:ln w="12700">
            <a:solidFill>
              <a:srgbClr val="4D64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2043684" y="2564891"/>
            <a:ext cx="64008" cy="64008"/>
          </a:xfrm>
          <a:prstGeom prst="triangle">
            <a:avLst/>
          </a:prstGeom>
          <a:solidFill>
            <a:srgbClr val="4D6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21408" y="2148840"/>
            <a:ext cx="1143000" cy="89611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9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40279" y="2295144"/>
            <a:ext cx="265176" cy="265176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0279" y="2338120"/>
            <a:ext cx="2651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080C14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2286000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F1F5FF"/>
                </a:solidFill>
                <a:latin typeface="Aptos"/>
              </a:rPr>
              <a:t>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2532888"/>
            <a:ext cx="5394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health +</a:t>
            </a:r>
          </a:p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debt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91839" y="2596896"/>
            <a:ext cx="137161" cy="0"/>
          </a:xfrm>
          <a:prstGeom prst="line">
            <a:avLst/>
          </a:prstGeom>
          <a:ln w="12700">
            <a:solidFill>
              <a:srgbClr val="4D64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3396996" y="2564891"/>
            <a:ext cx="64008" cy="64008"/>
          </a:xfrm>
          <a:prstGeom prst="triangle">
            <a:avLst/>
          </a:prstGeom>
          <a:solidFill>
            <a:srgbClr val="4D6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74720" y="2148840"/>
            <a:ext cx="1143000" cy="89611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9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93591" y="2295144"/>
            <a:ext cx="265176" cy="265176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93591" y="2338120"/>
            <a:ext cx="2651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080C14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8496" y="2286000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F1F5FF"/>
                </a:solidFill>
                <a:latin typeface="Aptos"/>
              </a:rPr>
              <a:t>GOALS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8496" y="2532888"/>
            <a:ext cx="5394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goals +</a:t>
            </a:r>
          </a:p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deps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45152" y="2596896"/>
            <a:ext cx="137160" cy="0"/>
          </a:xfrm>
          <a:prstGeom prst="line">
            <a:avLst/>
          </a:prstGeom>
          <a:ln w="12700">
            <a:solidFill>
              <a:srgbClr val="4D64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4750307" y="2564891"/>
            <a:ext cx="64008" cy="64008"/>
          </a:xfrm>
          <a:prstGeom prst="triangle">
            <a:avLst/>
          </a:prstGeom>
          <a:solidFill>
            <a:srgbClr val="4D6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828031" y="2148840"/>
            <a:ext cx="1143000" cy="89611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9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46903" y="2295144"/>
            <a:ext cx="265176" cy="265176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46903" y="2338120"/>
            <a:ext cx="2651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080C14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21807" y="2286000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F1F5FF"/>
                </a:solidFill>
                <a:latin typeface="Aptos"/>
              </a:rPr>
              <a:t>RISK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21807" y="2532888"/>
            <a:ext cx="5394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risk</a:t>
            </a:r>
          </a:p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floor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98464" y="2596896"/>
            <a:ext cx="137159" cy="0"/>
          </a:xfrm>
          <a:prstGeom prst="line">
            <a:avLst/>
          </a:prstGeom>
          <a:ln w="12700">
            <a:solidFill>
              <a:srgbClr val="4D64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6103619" y="2564891"/>
            <a:ext cx="64008" cy="64008"/>
          </a:xfrm>
          <a:prstGeom prst="triangle">
            <a:avLst/>
          </a:prstGeom>
          <a:solidFill>
            <a:srgbClr val="4D6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81344" y="2148840"/>
            <a:ext cx="1143000" cy="89611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938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00216" y="2295144"/>
            <a:ext cx="265176" cy="265176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0216" y="2338120"/>
            <a:ext cx="2651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080C14"/>
                </a:solidFill>
                <a:latin typeface="Aptos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2286000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F1F5FF"/>
                </a:solidFill>
                <a:latin typeface="Aptos"/>
              </a:rPr>
              <a:t>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2532888"/>
            <a:ext cx="5394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quality</a:t>
            </a:r>
          </a:p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score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8096" y="3493008"/>
            <a:ext cx="7132320" cy="2084831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3730752"/>
            <a:ext cx="3474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FFBF5B"/>
                </a:solidFill>
                <a:latin typeface="Aptos"/>
              </a:rPr>
              <a:t>EXECUTION DAG / DETERMINISTIC WAVES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" y="409651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 i="0">
                <a:solidFill>
                  <a:srgbClr val="4BD8F7"/>
                </a:solidFill>
                <a:latin typeface="Aptos"/>
              </a:rPr>
              <a:t>WAVE 01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432" y="4370832"/>
            <a:ext cx="914400" cy="384048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07592" y="4489704"/>
            <a:ext cx="128016" cy="128016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90472" y="4489704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1" i="0">
                <a:solidFill>
                  <a:srgbClr val="F1F5FF"/>
                </a:solidFill>
                <a:latin typeface="Aptos"/>
              </a:rPr>
              <a:t>task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157984" y="4562856"/>
            <a:ext cx="585216" cy="0"/>
          </a:xfrm>
          <a:prstGeom prst="line">
            <a:avLst/>
          </a:prstGeom>
          <a:ln w="12700">
            <a:solidFill>
              <a:srgbClr val="4B6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 rot="5400000">
            <a:off x="2706624" y="4526280"/>
            <a:ext cx="73152" cy="73152"/>
          </a:xfrm>
          <a:prstGeom prst="triangle">
            <a:avLst/>
          </a:prstGeom>
          <a:solidFill>
            <a:srgbClr val="4B6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80360" y="409651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 i="0">
                <a:solidFill>
                  <a:srgbClr val="5E83FF"/>
                </a:solidFill>
                <a:latin typeface="Aptos"/>
              </a:rPr>
              <a:t>WAVE 02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971800" y="4370832"/>
            <a:ext cx="914400" cy="384048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108960" y="4489704"/>
            <a:ext cx="128016" cy="128016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91840" y="4489704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1" i="0">
                <a:solidFill>
                  <a:srgbClr val="F1F5FF"/>
                </a:solidFill>
                <a:latin typeface="Aptos"/>
              </a:rPr>
              <a:t>task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959352" y="4562856"/>
            <a:ext cx="585216" cy="0"/>
          </a:xfrm>
          <a:prstGeom prst="line">
            <a:avLst/>
          </a:prstGeom>
          <a:ln w="12700">
            <a:solidFill>
              <a:srgbClr val="4B6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sosceles Triangle 63"/>
          <p:cNvSpPr/>
          <p:nvPr/>
        </p:nvSpPr>
        <p:spPr>
          <a:xfrm rot="5400000">
            <a:off x="4507992" y="4526280"/>
            <a:ext cx="73152" cy="73152"/>
          </a:xfrm>
          <a:prstGeom prst="triangle">
            <a:avLst/>
          </a:prstGeom>
          <a:solidFill>
            <a:srgbClr val="4B6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81728" y="409651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 i="0">
                <a:solidFill>
                  <a:srgbClr val="AE8BFF"/>
                </a:solidFill>
                <a:latin typeface="Aptos"/>
              </a:rPr>
              <a:t>WAVE 03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73168" y="4370832"/>
            <a:ext cx="914400" cy="384048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910328" y="4489704"/>
            <a:ext cx="128016" cy="128016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93208" y="4489704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1" i="0">
                <a:solidFill>
                  <a:srgbClr val="F1F5FF"/>
                </a:solidFill>
                <a:latin typeface="Aptos"/>
              </a:rPr>
              <a:t>task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760720" y="4562856"/>
            <a:ext cx="585216" cy="0"/>
          </a:xfrm>
          <a:prstGeom prst="line">
            <a:avLst/>
          </a:prstGeom>
          <a:ln w="12700">
            <a:solidFill>
              <a:srgbClr val="4B6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/>
          <p:cNvSpPr/>
          <p:nvPr/>
        </p:nvSpPr>
        <p:spPr>
          <a:xfrm rot="5400000">
            <a:off x="6309360" y="4526280"/>
            <a:ext cx="73152" cy="73152"/>
          </a:xfrm>
          <a:prstGeom prst="triangle">
            <a:avLst/>
          </a:prstGeom>
          <a:solidFill>
            <a:srgbClr val="4B6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9944" y="409651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 i="0">
                <a:solidFill>
                  <a:srgbClr val="47DCA2"/>
                </a:solidFill>
                <a:latin typeface="Aptos"/>
              </a:rPr>
              <a:t>REVIEW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501383" y="4370832"/>
            <a:ext cx="914400" cy="384048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38544" y="4489704"/>
            <a:ext cx="128016" cy="128016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21424" y="4489704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1" i="0">
                <a:solidFill>
                  <a:srgbClr val="F1F5FF"/>
                </a:solidFill>
                <a:latin typeface="Aptos"/>
              </a:rPr>
              <a:t>gate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4128" y="5093208"/>
            <a:ext cx="5212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91A0BA"/>
                </a:solidFill>
                <a:latin typeface="Aptos"/>
              </a:rPr>
              <a:t>queued  →  waiting  →  running  →  review  →  completed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38160" y="2148840"/>
            <a:ext cx="3273552" cy="941832"/>
          </a:xfrm>
          <a:prstGeom prst="roundRect">
            <a:avLst/>
          </a:prstGeom>
          <a:solidFill>
            <a:srgbClr val="2D2618"/>
          </a:solidFill>
          <a:ln w="12700">
            <a:solidFill>
              <a:srgbClr val="6C5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394192" y="2486070"/>
            <a:ext cx="237744" cy="171175"/>
          </a:xfrm>
          <a:prstGeom prst="roundRect">
            <a:avLst/>
          </a:prstGeom>
          <a:noFill/>
          <a:ln w="16510">
            <a:solidFill>
              <a:srgbClr val="FFB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rc 77"/>
          <p:cNvSpPr/>
          <p:nvPr/>
        </p:nvSpPr>
        <p:spPr>
          <a:xfrm rot="10800000">
            <a:off x="8436985" y="2395728"/>
            <a:ext cx="152156" cy="147401"/>
          </a:xfrm>
          <a:prstGeom prst="arc">
            <a:avLst/>
          </a:prstGeom>
          <a:noFill/>
          <a:ln w="16510">
            <a:solidFill>
              <a:srgbClr val="FFB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501176" y="2538374"/>
            <a:ext cx="26151" cy="26151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05672" y="2368296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i="0">
                <a:solidFill>
                  <a:srgbClr val="FFBF5B"/>
                </a:solidFill>
                <a:latin typeface="Aptos"/>
              </a:rPr>
              <a:t>PLAN APPROVAL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05672" y="2660904"/>
            <a:ext cx="22402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1" i="0">
                <a:solidFill>
                  <a:srgbClr val="F1F5FF"/>
                </a:solidFill>
                <a:latin typeface="Aptos"/>
              </a:rPr>
              <a:t>No task starts before the whole plan is approved.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138160" y="3401568"/>
            <a:ext cx="3273552" cy="941832"/>
          </a:xfrm>
          <a:prstGeom prst="roundRect">
            <a:avLst/>
          </a:prstGeom>
          <a:solidFill>
            <a:srgbClr val="162A2D"/>
          </a:solidFill>
          <a:ln w="12700">
            <a:solidFill>
              <a:srgbClr val="2E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394192" y="3738798"/>
            <a:ext cx="237744" cy="171175"/>
          </a:xfrm>
          <a:prstGeom prst="roundRect">
            <a:avLst/>
          </a:prstGeom>
          <a:noFill/>
          <a:ln w="16510">
            <a:solidFill>
              <a:srgbClr val="47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Arc 83"/>
          <p:cNvSpPr/>
          <p:nvPr/>
        </p:nvSpPr>
        <p:spPr>
          <a:xfrm rot="10800000">
            <a:off x="8436985" y="3648456"/>
            <a:ext cx="152156" cy="147401"/>
          </a:xfrm>
          <a:prstGeom prst="arc">
            <a:avLst/>
          </a:prstGeom>
          <a:noFill/>
          <a:ln w="16510">
            <a:solidFill>
              <a:srgbClr val="47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501176" y="3791102"/>
            <a:ext cx="26151" cy="26151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805672" y="3621024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i="0">
                <a:solidFill>
                  <a:srgbClr val="47DCA2"/>
                </a:solidFill>
                <a:latin typeface="Aptos"/>
              </a:rPr>
              <a:t>TASK ACCEPTANCE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05672" y="3913632"/>
            <a:ext cx="22402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1" i="0">
                <a:solidFill>
                  <a:srgbClr val="F1F5FF"/>
                </a:solidFill>
                <a:latin typeface="Aptos"/>
              </a:rPr>
              <a:t>A proposal is written only after its task is accepted.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138160" y="4690872"/>
            <a:ext cx="3273552" cy="886968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75904" y="4956048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40" b="1" i="0">
                <a:solidFill>
                  <a:srgbClr val="F1F5FF"/>
                </a:solidFill>
                <a:latin typeface="Aptos"/>
              </a:rPr>
              <a:t>NO UNATTENDED EXECUTION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75904" y="5212080"/>
            <a:ext cx="27797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pause · resume · retry · cancel · replay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08 / ENGINEERING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A surface for the whole loop — not a single editor pane.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The current desktop brings project navigation, Monaco, context, knowledge, diagnosis, and missions into one frame.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75488"/>
            <a:ext cx="1417320" cy="228600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6688" y="507492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DESKTOP SURFACE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09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1828800"/>
            <a:ext cx="10826496" cy="4078224"/>
          </a:xfrm>
          <a:prstGeom prst="roundRect">
            <a:avLst/>
          </a:prstGeom>
          <a:solidFill>
            <a:srgbClr val="0D1421"/>
          </a:solidFill>
          <a:ln w="12700">
            <a:solidFill>
              <a:srgbClr val="2C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" y="1828800"/>
            <a:ext cx="10826496" cy="384048"/>
          </a:xfrm>
          <a:prstGeom prst="roundRect">
            <a:avLst/>
          </a:prstGeom>
          <a:solidFill>
            <a:srgbClr val="111C2C"/>
          </a:solidFill>
          <a:ln w="12700"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1956816"/>
            <a:ext cx="73152" cy="73152"/>
          </a:xfrm>
          <a:prstGeom prst="ellipse">
            <a:avLst/>
          </a:prstGeom>
          <a:solidFill>
            <a:srgbClr val="FF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3856" y="1956816"/>
            <a:ext cx="73152" cy="73152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0160" y="1956816"/>
            <a:ext cx="73152" cy="73152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9344" y="1947672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90" b="1" i="0">
                <a:solidFill>
                  <a:srgbClr val="91A0BA"/>
                </a:solidFill>
                <a:latin typeface="Aptos"/>
              </a:rPr>
              <a:t>AURA / CHECKOUT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1947672"/>
            <a:ext cx="12984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20" b="1" i="0">
                <a:solidFill>
                  <a:srgbClr val="60708D"/>
                </a:solidFill>
                <a:latin typeface="Aptos"/>
              </a:rPr>
              <a:t>⌘K  COMMAND BAR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" y="2212848"/>
            <a:ext cx="969264" cy="3694176"/>
          </a:xfrm>
          <a:prstGeom prst="rect">
            <a:avLst/>
          </a:prstGeom>
          <a:solidFill>
            <a:srgbClr val="10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4719" y="2384023"/>
            <a:ext cx="316016" cy="316016"/>
          </a:xfrm>
          <a:prstGeom prst="ellipse">
            <a:avLst/>
          </a:prstGeom>
          <a:noFill/>
          <a:ln w="12700">
            <a:solidFill>
              <a:srgbClr val="284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3000" y="2432303"/>
            <a:ext cx="219456" cy="219456"/>
          </a:xfrm>
          <a:prstGeom prst="ellipse">
            <a:avLst/>
          </a:prstGeom>
          <a:noFill/>
          <a:ln w="22860">
            <a:solidFill>
              <a:srgbClr val="5E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08836" y="2498140"/>
            <a:ext cx="87782" cy="87782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044244" y="2542032"/>
            <a:ext cx="94366" cy="0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366845" y="2542032"/>
            <a:ext cx="94366" cy="0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52728" y="2333548"/>
            <a:ext cx="0" cy="94366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52728" y="2656149"/>
            <a:ext cx="0" cy="94366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24128" y="2944368"/>
            <a:ext cx="91440" cy="91440"/>
          </a:xfrm>
          <a:prstGeom prst="ellipse">
            <a:avLst/>
          </a:prstGeom>
          <a:solidFill>
            <a:srgbClr val="607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97864" y="2939796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1" i="0">
                <a:solidFill>
                  <a:srgbClr val="91A0BA"/>
                </a:solidFill>
                <a:latin typeface="Aptos"/>
              </a:rPr>
              <a:t>HOME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" y="3310128"/>
            <a:ext cx="694944" cy="283464"/>
          </a:xfrm>
          <a:prstGeom prst="roundRect">
            <a:avLst/>
          </a:prstGeom>
          <a:solidFill>
            <a:srgbClr val="20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4128" y="3383280"/>
            <a:ext cx="91440" cy="91440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7864" y="337870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1" i="0">
                <a:solidFill>
                  <a:srgbClr val="F1F5FF"/>
                </a:solidFill>
                <a:latin typeface="Aptos"/>
              </a:rPr>
              <a:t>PROJECT</a:t>
            </a:r>
          </a:p>
        </p:txBody>
      </p:sp>
      <p:sp>
        <p:nvSpPr>
          <p:cNvPr id="37" name="Oval 36"/>
          <p:cNvSpPr/>
          <p:nvPr/>
        </p:nvSpPr>
        <p:spPr>
          <a:xfrm>
            <a:off x="1024128" y="3822191"/>
            <a:ext cx="91440" cy="91440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97864" y="3817620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1" i="0">
                <a:solidFill>
                  <a:srgbClr val="91A0BA"/>
                </a:solidFill>
                <a:latin typeface="Aptos"/>
              </a:rPr>
              <a:t>KNOW</a:t>
            </a:r>
          </a:p>
        </p:txBody>
      </p:sp>
      <p:sp>
        <p:nvSpPr>
          <p:cNvPr id="39" name="Oval 38"/>
          <p:cNvSpPr/>
          <p:nvPr/>
        </p:nvSpPr>
        <p:spPr>
          <a:xfrm>
            <a:off x="1024128" y="4261104"/>
            <a:ext cx="91440" cy="91440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97864" y="4256532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1" i="0">
                <a:solidFill>
                  <a:srgbClr val="91A0BA"/>
                </a:solidFill>
                <a:latin typeface="Aptos"/>
              </a:rPr>
              <a:t>AI</a:t>
            </a:r>
          </a:p>
        </p:txBody>
      </p:sp>
      <p:sp>
        <p:nvSpPr>
          <p:cNvPr id="41" name="Oval 40"/>
          <p:cNvSpPr/>
          <p:nvPr/>
        </p:nvSpPr>
        <p:spPr>
          <a:xfrm>
            <a:off x="1024128" y="4700016"/>
            <a:ext cx="91440" cy="91440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97864" y="4695444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1" i="0">
                <a:solidFill>
                  <a:srgbClr val="91A0BA"/>
                </a:solidFill>
                <a:latin typeface="Aptos"/>
              </a:rPr>
              <a:t>MISSION</a:t>
            </a:r>
          </a:p>
        </p:txBody>
      </p:sp>
      <p:sp>
        <p:nvSpPr>
          <p:cNvPr id="43" name="Oval 42"/>
          <p:cNvSpPr/>
          <p:nvPr/>
        </p:nvSpPr>
        <p:spPr>
          <a:xfrm>
            <a:off x="1024128" y="5138928"/>
            <a:ext cx="91440" cy="91440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97864" y="5134356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" b="1" i="0">
                <a:solidFill>
                  <a:srgbClr val="91A0BA"/>
                </a:solidFill>
                <a:latin typeface="Aptos"/>
              </a:rPr>
              <a:t>GOV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37360" y="2212848"/>
            <a:ext cx="1920240" cy="3694176"/>
          </a:xfrm>
          <a:prstGeom prst="rect">
            <a:avLst/>
          </a:prstGeom>
          <a:solidFill>
            <a:srgbClr val="101927"/>
          </a:solidFill>
          <a:ln w="12700"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56816" y="2487168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4BD8F7"/>
                </a:solidFill>
                <a:latin typeface="Aptos"/>
              </a:rPr>
              <a:t>EXPLORER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93392" y="288036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i="0">
                <a:solidFill>
                  <a:srgbClr val="F1F5FF"/>
                </a:solidFill>
                <a:latin typeface="Aptos"/>
              </a:rPr>
              <a:t>src</a:t>
            </a:r>
          </a:p>
        </p:txBody>
      </p:sp>
      <p:sp>
        <p:nvSpPr>
          <p:cNvPr id="48" name="Oval 47"/>
          <p:cNvSpPr/>
          <p:nvPr/>
        </p:nvSpPr>
        <p:spPr>
          <a:xfrm>
            <a:off x="2157984" y="3218688"/>
            <a:ext cx="64008" cy="64008"/>
          </a:xfrm>
          <a:prstGeom prst="ellipse">
            <a:avLst/>
          </a:prstGeom>
          <a:solidFill>
            <a:srgbClr val="91A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22576" y="3191256"/>
            <a:ext cx="10607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91A0BA"/>
                </a:solidFill>
                <a:latin typeface="Aptos"/>
              </a:rPr>
              <a:t>components</a:t>
            </a:r>
          </a:p>
        </p:txBody>
      </p:sp>
      <p:sp>
        <p:nvSpPr>
          <p:cNvPr id="50" name="Oval 49"/>
          <p:cNvSpPr/>
          <p:nvPr/>
        </p:nvSpPr>
        <p:spPr>
          <a:xfrm>
            <a:off x="2340864" y="3520439"/>
            <a:ext cx="64008" cy="64008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05456" y="3493008"/>
            <a:ext cx="8778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F1F5FF"/>
                </a:solidFill>
                <a:latin typeface="Aptos"/>
              </a:rPr>
              <a:t>App.tsx</a:t>
            </a:r>
          </a:p>
        </p:txBody>
      </p:sp>
      <p:sp>
        <p:nvSpPr>
          <p:cNvPr id="52" name="Oval 51"/>
          <p:cNvSpPr/>
          <p:nvPr/>
        </p:nvSpPr>
        <p:spPr>
          <a:xfrm>
            <a:off x="2157984" y="3822192"/>
            <a:ext cx="64008" cy="64008"/>
          </a:xfrm>
          <a:prstGeom prst="ellipse">
            <a:avLst/>
          </a:prstGeom>
          <a:solidFill>
            <a:srgbClr val="91A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22576" y="3794760"/>
            <a:ext cx="10607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91A0BA"/>
                </a:solidFill>
                <a:latin typeface="Aptos"/>
              </a:rPr>
              <a:t>workspace</a:t>
            </a:r>
          </a:p>
        </p:txBody>
      </p:sp>
      <p:sp>
        <p:nvSpPr>
          <p:cNvPr id="54" name="Oval 53"/>
          <p:cNvSpPr/>
          <p:nvPr/>
        </p:nvSpPr>
        <p:spPr>
          <a:xfrm>
            <a:off x="2340864" y="4123944"/>
            <a:ext cx="64008" cy="64008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05456" y="4096512"/>
            <a:ext cx="8778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F1F5FF"/>
                </a:solidFill>
                <a:latin typeface="Aptos"/>
              </a:rPr>
              <a:t>mission</a:t>
            </a:r>
          </a:p>
        </p:txBody>
      </p:sp>
      <p:sp>
        <p:nvSpPr>
          <p:cNvPr id="56" name="Oval 55"/>
          <p:cNvSpPr/>
          <p:nvPr/>
        </p:nvSpPr>
        <p:spPr>
          <a:xfrm>
            <a:off x="2340864" y="4425696"/>
            <a:ext cx="64008" cy="64008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05456" y="4398264"/>
            <a:ext cx="8778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F1F5FF"/>
                </a:solidFill>
                <a:latin typeface="Aptos"/>
              </a:rPr>
              <a:t>pipeline.ts</a:t>
            </a:r>
          </a:p>
        </p:txBody>
      </p:sp>
      <p:sp>
        <p:nvSpPr>
          <p:cNvPr id="58" name="Oval 57"/>
          <p:cNvSpPr/>
          <p:nvPr/>
        </p:nvSpPr>
        <p:spPr>
          <a:xfrm>
            <a:off x="2340864" y="4727448"/>
            <a:ext cx="64008" cy="64008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05456" y="4700016"/>
            <a:ext cx="8778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F1F5FF"/>
                </a:solidFill>
                <a:latin typeface="Aptos"/>
              </a:rPr>
              <a:t>index.ts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956816" y="5212080"/>
            <a:ext cx="1408176" cy="384048"/>
          </a:xfrm>
          <a:prstGeom prst="roundRect">
            <a:avLst/>
          </a:prstGeom>
          <a:solidFill>
            <a:srgbClr val="16283E"/>
          </a:solidFill>
          <a:ln w="12700">
            <a:solidFill>
              <a:srgbClr val="2B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21408" y="5340096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 i="0">
                <a:solidFill>
                  <a:srgbClr val="4BD8F7"/>
                </a:solidFill>
                <a:latin typeface="Aptos"/>
              </a:rPr>
              <a:t>+ ASK AURA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0" y="2212848"/>
            <a:ext cx="4242816" cy="3694176"/>
          </a:xfrm>
          <a:prstGeom prst="rect">
            <a:avLst/>
          </a:prstGeom>
          <a:solidFill>
            <a:srgbClr val="0B111C"/>
          </a:solidFill>
          <a:ln w="12700"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95344" y="2487168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F1F5FF"/>
                </a:solidFill>
                <a:latin typeface="Aptos"/>
              </a:rPr>
              <a:t>orders.ts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88152" y="2487168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1" i="0">
                <a:solidFill>
                  <a:srgbClr val="60708D"/>
                </a:solidFill>
                <a:latin typeface="Aptos"/>
              </a:rPr>
              <a:t>CODE  ·  DIFF  ·  DIAGNOSE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77056" y="2907792"/>
            <a:ext cx="2560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 i="0">
                <a:solidFill>
                  <a:srgbClr val="60708D"/>
                </a:solidFill>
                <a:latin typeface="Aptos"/>
              </a:rPr>
              <a:t>12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52544" y="2916936"/>
            <a:ext cx="2578608" cy="5029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77056" y="3127248"/>
            <a:ext cx="2560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 i="0">
                <a:solidFill>
                  <a:srgbClr val="60708D"/>
                </a:solidFill>
                <a:latin typeface="Aptos"/>
              </a:rPr>
              <a:t>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52544" y="3136391"/>
            <a:ext cx="2048256" cy="5029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77056" y="3346704"/>
            <a:ext cx="2560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 i="0">
                <a:solidFill>
                  <a:srgbClr val="60708D"/>
                </a:solidFill>
                <a:latin typeface="Aptos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52544" y="3355848"/>
            <a:ext cx="2816352" cy="50292"/>
          </a:xfrm>
          <a:prstGeom prst="rect">
            <a:avLst/>
          </a:prstGeom>
          <a:solidFill>
            <a:srgbClr val="36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261104" y="3282696"/>
            <a:ext cx="3401568" cy="182880"/>
          </a:xfrm>
          <a:prstGeom prst="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77056" y="3566160"/>
            <a:ext cx="2560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 i="0">
                <a:solidFill>
                  <a:srgbClr val="60708D"/>
                </a:solidFill>
                <a:latin typeface="Aptos"/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52544" y="3575304"/>
            <a:ext cx="1554480" cy="5029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77056" y="3785616"/>
            <a:ext cx="2560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 i="0">
                <a:solidFill>
                  <a:srgbClr val="60708D"/>
                </a:solidFill>
                <a:latin typeface="Aptos"/>
              </a:rPr>
              <a:t>16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52544" y="3794760"/>
            <a:ext cx="2651760" cy="5029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877056" y="4005072"/>
            <a:ext cx="2560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 i="0">
                <a:solidFill>
                  <a:srgbClr val="60708D"/>
                </a:solidFill>
                <a:latin typeface="Aptos"/>
              </a:rPr>
              <a:t>17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52544" y="4014215"/>
            <a:ext cx="2249424" cy="5029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77056" y="4224528"/>
            <a:ext cx="2560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 i="0">
                <a:solidFill>
                  <a:srgbClr val="60708D"/>
                </a:solidFill>
                <a:latin typeface="Aptos"/>
              </a:rPr>
              <a:t>18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52544" y="4233672"/>
            <a:ext cx="3044952" cy="50292"/>
          </a:xfrm>
          <a:prstGeom prst="rect">
            <a:avLst/>
          </a:prstGeom>
          <a:solidFill>
            <a:srgbClr val="36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261104" y="4160520"/>
            <a:ext cx="3401568" cy="182880"/>
          </a:xfrm>
          <a:prstGeom prst="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77056" y="4443984"/>
            <a:ext cx="2560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 i="0">
                <a:solidFill>
                  <a:srgbClr val="60708D"/>
                </a:solidFill>
                <a:latin typeface="Aptos"/>
              </a:rPr>
              <a:t>19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52544" y="4453128"/>
            <a:ext cx="1463040" cy="5029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77056" y="4663440"/>
            <a:ext cx="2560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 i="0">
                <a:solidFill>
                  <a:srgbClr val="60708D"/>
                </a:solidFill>
                <a:latin typeface="Aptos"/>
              </a:rPr>
              <a:t>20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52544" y="4672583"/>
            <a:ext cx="2450592" cy="5029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77056" y="4882896"/>
            <a:ext cx="2560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 i="0">
                <a:solidFill>
                  <a:srgbClr val="60708D"/>
                </a:solidFill>
                <a:latin typeface="Aptos"/>
              </a:rPr>
              <a:t>21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352544" y="4892040"/>
            <a:ext cx="1938528" cy="5029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77056" y="5102352"/>
            <a:ext cx="2560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680" b="0" i="0">
                <a:solidFill>
                  <a:srgbClr val="60708D"/>
                </a:solidFill>
                <a:latin typeface="Aptos"/>
              </a:rPr>
              <a:t>22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352544" y="5111496"/>
            <a:ext cx="2871216" cy="5029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00416" y="2212848"/>
            <a:ext cx="3694176" cy="3694176"/>
          </a:xfrm>
          <a:prstGeom prst="rect">
            <a:avLst/>
          </a:prstGeom>
          <a:solidFill>
            <a:srgbClr val="101927"/>
          </a:solidFill>
          <a:ln w="12700"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47304" y="2487168"/>
            <a:ext cx="1691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4BD8F7"/>
                </a:solidFill>
                <a:latin typeface="Aptos"/>
              </a:rPr>
              <a:t>PROJECT CONTEXT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147304" y="28346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1F5FF"/>
                </a:solidFill>
                <a:latin typeface="Aptos Display"/>
              </a:rPr>
              <a:t>fetchOrders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47304" y="3273552"/>
            <a:ext cx="12161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10" b="0" i="0">
                <a:solidFill>
                  <a:srgbClr val="91A0BA"/>
                </a:solidFill>
                <a:latin typeface="Aptos"/>
              </a:rPr>
              <a:t>SYMBOL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40696" y="3273552"/>
            <a:ext cx="10698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80" b="1" i="0">
                <a:solidFill>
                  <a:srgbClr val="5E83FF"/>
                </a:solidFill>
                <a:latin typeface="Aptos"/>
              </a:rPr>
              <a:t>function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47304" y="3639312"/>
            <a:ext cx="12161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10" b="0" i="0">
                <a:solidFill>
                  <a:srgbClr val="91A0BA"/>
                </a:solidFill>
                <a:latin typeface="Aptos"/>
              </a:rPr>
              <a:t>DEPENDENCIES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140696" y="3639312"/>
            <a:ext cx="10698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80" b="1" i="0">
                <a:solidFill>
                  <a:srgbClr val="AE8BFF"/>
                </a:solidFill>
                <a:latin typeface="Aptos"/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47304" y="4005072"/>
            <a:ext cx="12161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10" b="0" i="0">
                <a:solidFill>
                  <a:srgbClr val="91A0BA"/>
                </a:solidFill>
                <a:latin typeface="Aptos"/>
              </a:rPr>
              <a:t>DEPENDENTS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40696" y="4005072"/>
            <a:ext cx="10698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80" b="1" i="0">
                <a:solidFill>
                  <a:srgbClr val="4BD8F7"/>
                </a:solidFill>
                <a:latin typeface="Aptos"/>
              </a:rPr>
              <a:t>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47304" y="4370832"/>
            <a:ext cx="12161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10" b="0" i="0">
                <a:solidFill>
                  <a:srgbClr val="91A0BA"/>
                </a:solidFill>
                <a:latin typeface="Aptos"/>
              </a:rPr>
              <a:t>ARCHITECTURE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40696" y="4370832"/>
            <a:ext cx="10698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80" b="1" i="0">
                <a:solidFill>
                  <a:srgbClr val="FFBF5B"/>
                </a:solidFill>
                <a:latin typeface="Aptos"/>
              </a:rPr>
              <a:t>backend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147304" y="4855464"/>
            <a:ext cx="3081528" cy="438912"/>
          </a:xfrm>
          <a:prstGeom prst="roundRect">
            <a:avLst/>
          </a:prstGeom>
          <a:solidFill>
            <a:srgbClr val="172A32"/>
          </a:solidFill>
          <a:ln w="12700">
            <a:solidFill>
              <a:srgbClr val="2B5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85048" y="5010912"/>
            <a:ext cx="2596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0" b="1" i="0">
                <a:solidFill>
                  <a:srgbClr val="47DCA2"/>
                </a:solidFill>
                <a:latin typeface="Aptos"/>
              </a:rPr>
              <a:t>OPEN DIAGNOSIS  →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657600" y="5449824"/>
            <a:ext cx="4242816" cy="457200"/>
          </a:xfrm>
          <a:prstGeom prst="roundRect">
            <a:avLst/>
          </a:prstGeom>
          <a:solidFill>
            <a:srgbClr val="162137"/>
          </a:solidFill>
          <a:ln w="12700">
            <a:solidFill>
              <a:srgbClr val="2B4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867912" y="5605272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 i="0">
                <a:solidFill>
                  <a:srgbClr val="FFBF5B"/>
                </a:solidFill>
                <a:latin typeface="Aptos"/>
              </a:rPr>
              <a:t>MISSION CONTROL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85816" y="5605272"/>
            <a:ext cx="21579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80" b="1" i="0">
                <a:solidFill>
                  <a:srgbClr val="F1F5FF"/>
                </a:solidFill>
                <a:latin typeface="Aptos"/>
              </a:rPr>
              <a:t>3 tasks  ·  1 review  ·  0 writes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8096" y="6126480"/>
            <a:ext cx="10424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91A0BA"/>
                </a:solidFill>
                <a:latin typeface="Aptos"/>
              </a:rPr>
              <a:t>One fixed frame. Many project surfaces. State-driven navigation keeps the environment coherent.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09 / SAFETY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Intelligence can be fast. Mutation must be deliberate.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AURA separates analysis, proposal, approval, and file writes into inspectable boundaries.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75488"/>
            <a:ext cx="1417320" cy="228600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6688" y="507492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HUMAN GATED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1874519"/>
            <a:ext cx="1719072" cy="81381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" y="2103120"/>
            <a:ext cx="164592" cy="164592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011680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F1F5FF"/>
                </a:solidFill>
                <a:latin typeface="Aptos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30428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facts + signals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42032" y="2276856"/>
            <a:ext cx="310895" cy="0"/>
          </a:xfrm>
          <a:prstGeom prst="line">
            <a:avLst/>
          </a:prstGeom>
          <a:ln w="13970">
            <a:solidFill>
              <a:srgbClr val="456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2816351" y="2240280"/>
            <a:ext cx="73152" cy="73152"/>
          </a:xfrm>
          <a:prstGeom prst="triangle">
            <a:avLst/>
          </a:prstGeom>
          <a:solidFill>
            <a:srgbClr val="456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35224" y="1874519"/>
            <a:ext cx="1719072" cy="81381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90672" y="2103120"/>
            <a:ext cx="164592" cy="164592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011680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F1F5FF"/>
                </a:solidFill>
                <a:latin typeface="Aptos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30428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goals + DAG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90872" y="2276856"/>
            <a:ext cx="310896" cy="0"/>
          </a:xfrm>
          <a:prstGeom prst="line">
            <a:avLst/>
          </a:prstGeom>
          <a:ln w="13970">
            <a:solidFill>
              <a:srgbClr val="456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4965192" y="2240280"/>
            <a:ext cx="73152" cy="73152"/>
          </a:xfrm>
          <a:prstGeom prst="triangle">
            <a:avLst/>
          </a:prstGeom>
          <a:solidFill>
            <a:srgbClr val="456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84064" y="1874519"/>
            <a:ext cx="1719072" cy="81381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239512" y="2103120"/>
            <a:ext cx="164592" cy="164592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2011680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F1F5FF"/>
                </a:solidFill>
                <a:latin typeface="Aptos"/>
              </a:rPr>
              <a:t>PROPOSE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230428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diff + explanation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39712" y="2276856"/>
            <a:ext cx="310896" cy="0"/>
          </a:xfrm>
          <a:prstGeom prst="line">
            <a:avLst/>
          </a:prstGeom>
          <a:ln w="13970">
            <a:solidFill>
              <a:srgbClr val="456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7114032" y="2240280"/>
            <a:ext cx="73152" cy="73152"/>
          </a:xfrm>
          <a:prstGeom prst="triangle">
            <a:avLst/>
          </a:prstGeom>
          <a:solidFill>
            <a:srgbClr val="456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32904" y="1874519"/>
            <a:ext cx="1719072" cy="81381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88352" y="2103120"/>
            <a:ext cx="164592" cy="164592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2011680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F1F5FF"/>
                </a:solidFill>
                <a:latin typeface="Aptos"/>
              </a:rPr>
              <a:t>WRITE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230428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0" i="0">
                <a:solidFill>
                  <a:srgbClr val="91A0BA"/>
                </a:solidFill>
                <a:latin typeface="Aptos"/>
              </a:rPr>
              <a:t>accept + reindex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74336" y="2935224"/>
            <a:ext cx="1938528" cy="420624"/>
          </a:xfrm>
          <a:prstGeom prst="roundRect">
            <a:avLst/>
          </a:prstGeom>
          <a:solidFill>
            <a:srgbClr val="30291A"/>
          </a:solidFill>
          <a:ln w="12700">
            <a:solidFill>
              <a:srgbClr val="755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193792" y="3107496"/>
            <a:ext cx="164592" cy="118506"/>
          </a:xfrm>
          <a:prstGeom prst="roundRect">
            <a:avLst/>
          </a:prstGeom>
          <a:noFill/>
          <a:ln w="16510">
            <a:solidFill>
              <a:srgbClr val="FFB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rc 40"/>
          <p:cNvSpPr/>
          <p:nvPr/>
        </p:nvSpPr>
        <p:spPr>
          <a:xfrm rot="10800000">
            <a:off x="5223418" y="3044952"/>
            <a:ext cx="105338" cy="102047"/>
          </a:xfrm>
          <a:prstGeom prst="arc">
            <a:avLst/>
          </a:prstGeom>
          <a:noFill/>
          <a:ln w="16510">
            <a:solidFill>
              <a:srgbClr val="FFB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67858" y="3143707"/>
            <a:ext cx="18105" cy="18105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95544" y="3081528"/>
            <a:ext cx="12252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FFBF5B"/>
                </a:solidFill>
                <a:latin typeface="Aptos"/>
              </a:rPr>
              <a:t>APPROVE PLAN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14032" y="2935224"/>
            <a:ext cx="1938528" cy="420624"/>
          </a:xfrm>
          <a:prstGeom prst="roundRect">
            <a:avLst/>
          </a:prstGeom>
          <a:solidFill>
            <a:srgbClr val="172D2D"/>
          </a:solidFill>
          <a:ln w="12700">
            <a:solidFill>
              <a:srgbClr val="2B6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33488" y="3107496"/>
            <a:ext cx="164592" cy="118506"/>
          </a:xfrm>
          <a:prstGeom prst="roundRect">
            <a:avLst/>
          </a:prstGeom>
          <a:noFill/>
          <a:ln w="16510">
            <a:solidFill>
              <a:srgbClr val="47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c 45"/>
          <p:cNvSpPr/>
          <p:nvPr/>
        </p:nvSpPr>
        <p:spPr>
          <a:xfrm rot="10800000">
            <a:off x="7363114" y="3044952"/>
            <a:ext cx="105338" cy="102047"/>
          </a:xfrm>
          <a:prstGeom prst="arc">
            <a:avLst/>
          </a:prstGeom>
          <a:noFill/>
          <a:ln w="16510">
            <a:solidFill>
              <a:srgbClr val="47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07554" y="3143707"/>
            <a:ext cx="18105" cy="18105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3081528"/>
            <a:ext cx="12252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47DCA2"/>
                </a:solidFill>
                <a:latin typeface="Aptos"/>
              </a:rPr>
              <a:t>ACCEPT TASK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43600" y="2706624"/>
            <a:ext cx="0" cy="228600"/>
          </a:xfrm>
          <a:prstGeom prst="line">
            <a:avLst/>
          </a:prstGeom>
          <a:ln w="12700">
            <a:solidFill>
              <a:srgbClr val="FFB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083296" y="2706624"/>
            <a:ext cx="0" cy="228600"/>
          </a:xfrm>
          <a:prstGeom prst="line">
            <a:avLst/>
          </a:prstGeom>
          <a:ln w="12700">
            <a:solidFill>
              <a:srgbClr val="47D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786384" y="3776472"/>
            <a:ext cx="5010912" cy="7498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6696" y="4005072"/>
            <a:ext cx="164592" cy="164592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07592" y="3941063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FFBF5B"/>
                </a:solidFill>
                <a:latin typeface="Aptos"/>
              </a:rPr>
              <a:t>RISK ENGINE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43784" y="3922776"/>
            <a:ext cx="27066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Deterministic risk floors prevent the model from downgrading a dangerous change.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91072" y="3776472"/>
            <a:ext cx="5010912" cy="7498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501384" y="4005072"/>
            <a:ext cx="164592" cy="164592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12280" y="3941063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5E83FF"/>
                </a:solidFill>
                <a:latin typeface="Aptos"/>
              </a:rPr>
              <a:t>DIFF + SIMULATION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48471" y="3922776"/>
            <a:ext cx="27066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A/B/C candidates are compared, limited, and checked before acceptance.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6384" y="4736592"/>
            <a:ext cx="5010912" cy="7498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96696" y="4965192"/>
            <a:ext cx="164592" cy="164592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07592" y="4901183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4BD8F7"/>
                </a:solidFill>
                <a:latin typeface="Aptos"/>
              </a:rPr>
              <a:t>PATH GUARD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43784" y="4882896"/>
            <a:ext cx="27066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Writes resolve inside the project root; traversal outside the project is rejected.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91072" y="4736592"/>
            <a:ext cx="5010912" cy="7498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501384" y="4965192"/>
            <a:ext cx="164592" cy="164592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12280" y="4901183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47DCA2"/>
                </a:solidFill>
                <a:latin typeface="Aptos"/>
              </a:rPr>
              <a:t>REINDEX + MEMORY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48471" y="4882896"/>
            <a:ext cx="27066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Accepted changes reindex the project and record the engineering decision.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75887" y="5760720"/>
            <a:ext cx="4791456" cy="365760"/>
          </a:xfrm>
          <a:prstGeom prst="roundRect">
            <a:avLst/>
          </a:prstGeom>
          <a:solidFill>
            <a:srgbClr val="172B33"/>
          </a:solidFill>
          <a:ln w="12700">
            <a:solidFill>
              <a:srgbClr val="2E6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13632" y="5879592"/>
            <a:ext cx="43159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90" b="1" i="0">
                <a:solidFill>
                  <a:srgbClr val="47DCA2"/>
                </a:solidFill>
                <a:latin typeface="Aptos"/>
              </a:rPr>
              <a:t>HUMAN IN CONTROL  ·  NO UNATTENDED FILE MUTATION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10 / ENGINEERING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One project truth. Multiple intelligence surfaces.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Knowledge, diagnosis, missions, and workspace are different views over the same engineering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75488"/>
            <a:ext cx="1417320" cy="228600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6688" y="507492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SYSTEM 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2020824"/>
            <a:ext cx="2148840" cy="2999232"/>
          </a:xfrm>
          <a:prstGeom prst="roundRect">
            <a:avLst/>
          </a:prstGeom>
          <a:solidFill>
            <a:srgbClr val="12253A"/>
          </a:solidFill>
          <a:ln w="12700">
            <a:solidFill>
              <a:srgbClr val="2C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1660550" y="2456809"/>
            <a:ext cx="245791" cy="39503"/>
          </a:xfrm>
          <a:prstGeom prst="line">
            <a:avLst/>
          </a:prstGeom>
          <a:ln w="1270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60550" y="2496312"/>
            <a:ext cx="96561" cy="232623"/>
          </a:xfrm>
          <a:prstGeom prst="line">
            <a:avLst/>
          </a:prstGeom>
          <a:ln w="1270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757111" y="2456809"/>
            <a:ext cx="149230" cy="272126"/>
          </a:xfrm>
          <a:prstGeom prst="line">
            <a:avLst/>
          </a:prstGeom>
          <a:ln w="1270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603491" y="2439253"/>
            <a:ext cx="114117" cy="114117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49282" y="2399751"/>
            <a:ext cx="114117" cy="114117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700052" y="2671876"/>
            <a:ext cx="114117" cy="114117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" y="3044952"/>
            <a:ext cx="16459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2000" b="1" i="0">
                <a:solidFill>
                  <a:srgbClr val="F1F5FF"/>
                </a:solidFill>
                <a:latin typeface="Aptos Display"/>
              </a:rPr>
              <a:t>KNOWLEDGE</a:t>
            </a:r>
          </a:p>
          <a:p>
            <a:pPr algn="ctr">
              <a:lnSpc>
                <a:spcPct val="92000"/>
              </a:lnSpc>
            </a:pPr>
            <a:r>
              <a:rPr sz="2000" b="1" i="0">
                <a:solidFill>
                  <a:srgbClr val="F1F5FF"/>
                </a:solidFill>
                <a:latin typeface="Aptos Display"/>
              </a:rPr>
              <a:t>FABRIC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5" y="3904487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1A0BA"/>
                </a:solidFill>
                <a:latin typeface="Aptos"/>
              </a:rPr>
              <a:t>facts · entities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1A0BA"/>
                </a:solidFill>
                <a:latin typeface="Aptos"/>
              </a:rPr>
              <a:t>relations · context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990088" y="2615184"/>
            <a:ext cx="585216" cy="905256"/>
          </a:xfrm>
          <a:prstGeom prst="line">
            <a:avLst/>
          </a:prstGeom>
          <a:ln w="13970">
            <a:solidFill>
              <a:srgbClr val="3D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>
            <a:off x="3543300" y="2583179"/>
            <a:ext cx="64008" cy="64008"/>
          </a:xfrm>
          <a:prstGeom prst="triangle">
            <a:avLst/>
          </a:prstGeom>
          <a:solidFill>
            <a:srgbClr val="3D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2990088" y="3520440"/>
            <a:ext cx="585216" cy="9144"/>
          </a:xfrm>
          <a:prstGeom prst="line">
            <a:avLst/>
          </a:prstGeom>
          <a:ln w="13970">
            <a:solidFill>
              <a:srgbClr val="3D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3543300" y="3497579"/>
            <a:ext cx="64008" cy="64008"/>
          </a:xfrm>
          <a:prstGeom prst="triangle">
            <a:avLst/>
          </a:prstGeom>
          <a:solidFill>
            <a:srgbClr val="3D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2990088" y="3520440"/>
            <a:ext cx="585216" cy="923544"/>
          </a:xfrm>
          <a:prstGeom prst="line">
            <a:avLst/>
          </a:prstGeom>
          <a:ln w="13970">
            <a:solidFill>
              <a:srgbClr val="3D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0800000">
            <a:off x="3543300" y="4411980"/>
            <a:ext cx="64008" cy="64008"/>
          </a:xfrm>
          <a:prstGeom prst="triangle">
            <a:avLst/>
          </a:prstGeom>
          <a:solidFill>
            <a:srgbClr val="3D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57600" y="2020824"/>
            <a:ext cx="3383280" cy="69494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2020824"/>
            <a:ext cx="54864" cy="694944"/>
          </a:xfrm>
          <a:prstGeom prst="rect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2776" y="2157984"/>
            <a:ext cx="2670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AI CODE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22776" y="2414016"/>
            <a:ext cx="27249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 i="0">
                <a:solidFill>
                  <a:srgbClr val="91A0BA"/>
                </a:solidFill>
                <a:latin typeface="Aptos"/>
              </a:rPr>
              <a:t>selection → context → action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86600" y="2368296"/>
            <a:ext cx="621792" cy="0"/>
          </a:xfrm>
          <a:prstGeom prst="line">
            <a:avLst/>
          </a:prstGeom>
          <a:ln w="12700">
            <a:solidFill>
              <a:srgbClr val="5E8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7676388" y="2336291"/>
            <a:ext cx="64008" cy="64008"/>
          </a:xfrm>
          <a:prstGeom prst="triangl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57600" y="2935224"/>
            <a:ext cx="3383280" cy="69494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0" y="2935224"/>
            <a:ext cx="54864" cy="694944"/>
          </a:xfrm>
          <a:prstGeom prst="rect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22776" y="3072384"/>
            <a:ext cx="2670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DIAGNOSIS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22776" y="3328416"/>
            <a:ext cx="27249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 i="0">
                <a:solidFill>
                  <a:srgbClr val="91A0BA"/>
                </a:solidFill>
                <a:latin typeface="Aptos"/>
              </a:rPr>
              <a:t>signals → candidates → review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86600" y="3282696"/>
            <a:ext cx="621792" cy="0"/>
          </a:xfrm>
          <a:prstGeom prst="line">
            <a:avLst/>
          </a:prstGeom>
          <a:ln w="12700">
            <a:solidFill>
              <a:srgbClr val="AE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5400000">
            <a:off x="7676388" y="3250691"/>
            <a:ext cx="64008" cy="64008"/>
          </a:xfrm>
          <a:prstGeom prst="triangl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657600" y="3849624"/>
            <a:ext cx="3383280" cy="69494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0" y="3849624"/>
            <a:ext cx="54864" cy="694944"/>
          </a:xfrm>
          <a:prstGeom prst="rect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22776" y="3986784"/>
            <a:ext cx="2670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MISSION 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22776" y="4242816"/>
            <a:ext cx="27249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 i="0">
                <a:solidFill>
                  <a:srgbClr val="91A0BA"/>
                </a:solidFill>
                <a:latin typeface="Aptos"/>
              </a:rPr>
              <a:t>intent → graph → execution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086600" y="4197096"/>
            <a:ext cx="621792" cy="0"/>
          </a:xfrm>
          <a:prstGeom prst="line">
            <a:avLst/>
          </a:prstGeom>
          <a:ln w="12700">
            <a:solidFill>
              <a:srgbClr val="FFB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7676388" y="4165091"/>
            <a:ext cx="64008" cy="64008"/>
          </a:xfrm>
          <a:prstGeom prst="triangl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72400" y="2020824"/>
            <a:ext cx="3639312" cy="2999232"/>
          </a:xfrm>
          <a:prstGeom prst="roundRect">
            <a:avLst/>
          </a:prstGeom>
          <a:solidFill>
            <a:srgbClr val="131F2D"/>
          </a:solidFill>
          <a:ln w="12700">
            <a:solidFill>
              <a:srgbClr val="2F4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0" y="23042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47DCA2"/>
                </a:solidFill>
                <a:latin typeface="Aptos"/>
              </a:rPr>
              <a:t>SHARED GOVERNED LOOP</a:t>
            </a:r>
          </a:p>
        </p:txBody>
      </p:sp>
      <p:sp>
        <p:nvSpPr>
          <p:cNvPr id="52" name="Oval 51"/>
          <p:cNvSpPr/>
          <p:nvPr/>
        </p:nvSpPr>
        <p:spPr>
          <a:xfrm>
            <a:off x="8083296" y="2706624"/>
            <a:ext cx="109728" cy="109728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2688336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1" i="0">
                <a:solidFill>
                  <a:srgbClr val="F1F5FF"/>
                </a:solidFill>
                <a:latin typeface="Aptos"/>
              </a:rPr>
              <a:t>DIFF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138160" y="2825496"/>
            <a:ext cx="0" cy="22860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8083296" y="3072384"/>
            <a:ext cx="109728" cy="109728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3054096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1" i="0">
                <a:solidFill>
                  <a:srgbClr val="F1F5FF"/>
                </a:solidFill>
                <a:latin typeface="Aptos"/>
              </a:rPr>
              <a:t>APPROVAL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138160" y="3191256"/>
            <a:ext cx="0" cy="22860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8083296" y="3438144"/>
            <a:ext cx="109728" cy="109728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40" y="3419856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1" i="0">
                <a:solidFill>
                  <a:srgbClr val="F1F5FF"/>
                </a:solidFill>
                <a:latin typeface="Aptos"/>
              </a:rPr>
              <a:t>EXECUTION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138160" y="3557016"/>
            <a:ext cx="0" cy="22860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8083296" y="3803904"/>
            <a:ext cx="109728" cy="109728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40" y="3785616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1" i="0">
                <a:solidFill>
                  <a:srgbClr val="F1F5FF"/>
                </a:solidFill>
                <a:latin typeface="Aptos"/>
              </a:rPr>
              <a:t>REINDEX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138160" y="3922776"/>
            <a:ext cx="0" cy="22860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8083296" y="4169663"/>
            <a:ext cx="109728" cy="109728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4151376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1" i="0">
                <a:solidFill>
                  <a:srgbClr val="F1F5FF"/>
                </a:solidFill>
                <a:latin typeface="Aptos"/>
              </a:rPr>
              <a:t>MEMORY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459028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1">
                <a:solidFill>
                  <a:srgbClr val="91A0BA"/>
                </a:solidFill>
                <a:latin typeface="Aptos"/>
              </a:rPr>
              <a:t>The provider is a verbalizer over AURA context — not the source of truth.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68096" y="5449824"/>
            <a:ext cx="10643616" cy="512064"/>
          </a:xfrm>
          <a:prstGeom prst="roundRect">
            <a:avLst/>
          </a:prstGeom>
          <a:solidFill>
            <a:srgbClr val="162A39"/>
          </a:solidFill>
          <a:ln w="12700">
            <a:solidFill>
              <a:srgbClr val="2C5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60704" y="5623560"/>
            <a:ext cx="100766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4BD8F7"/>
                </a:solidFill>
                <a:latin typeface="Aptos"/>
              </a:rPr>
              <a:t>ONE GRAPH  ·  DIFFERENT CONTEXT PACKS  ·  EXPLICIT HUMAN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11 / CURRENT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What is real in the current working tree.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Implemented surfaces only. No roadmap concepts are included on this slide.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75488"/>
            <a:ext cx="1417320" cy="228600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6688" y="507492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IMPLEMENTED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1874519"/>
            <a:ext cx="3383280" cy="81381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976" y="2057400"/>
            <a:ext cx="155448" cy="155448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584" y="2020824"/>
            <a:ext cx="2606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5E83FF"/>
                </a:solidFill>
                <a:latin typeface="Aptos"/>
              </a:rPr>
              <a:t>DESKTOP SHELL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229514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1F5FF"/>
                </a:solidFill>
                <a:latin typeface="Aptos"/>
              </a:rPr>
              <a:t>React/Vite · Zustand · command palette · theme tokens · Tauri v2 host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3983" y="1874519"/>
            <a:ext cx="3383280" cy="81381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26864" y="2057400"/>
            <a:ext cx="155448" cy="155448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1" y="2020824"/>
            <a:ext cx="2606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4BD8F7"/>
                </a:solidFill>
                <a:latin typeface="Aptos"/>
              </a:rPr>
              <a:t>PROJECT 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229514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1F5FF"/>
                </a:solidFill>
                <a:latin typeface="Aptos"/>
              </a:rPr>
              <a:t>add / open / profile · session restore · project-scoped workspace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1" y="1874519"/>
            <a:ext cx="3383280" cy="81381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02751" y="2057400"/>
            <a:ext cx="155448" cy="155448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59" y="2020824"/>
            <a:ext cx="2606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4BD8F7"/>
                </a:solidFill>
                <a:latin typeface="Aptos"/>
              </a:rPr>
              <a:t>CODING 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1" y="229514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1F5FF"/>
                </a:solidFill>
                <a:latin typeface="Aptos"/>
              </a:rPr>
              <a:t>recursive + incremental index · BM25 search · token-budgeted context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" y="2944368"/>
            <a:ext cx="3383280" cy="81381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0976" y="3127248"/>
            <a:ext cx="155448" cy="155448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584" y="3090672"/>
            <a:ext cx="2606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AE8BFF"/>
                </a:solidFill>
                <a:latin typeface="Aptos"/>
              </a:rPr>
              <a:t>FULL-STACK GRAPH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3364991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1F5FF"/>
                </a:solidFill>
                <a:latin typeface="Aptos"/>
              </a:rPr>
              <a:t>five extractors · typed entities / relations · persistent graph-aware search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3983" y="2944368"/>
            <a:ext cx="3383280" cy="81381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26864" y="3127248"/>
            <a:ext cx="155448" cy="155448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9471" y="3090672"/>
            <a:ext cx="2606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5E83FF"/>
                </a:solidFill>
                <a:latin typeface="Aptos"/>
              </a:rPr>
              <a:t>BYO AI RUNTIME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3364991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1F5FF"/>
                </a:solidFill>
                <a:latin typeface="Aptos"/>
              </a:rPr>
              <a:t>provider adapters · streaming · model discovery · local HTTP/SSE service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9871" y="2944368"/>
            <a:ext cx="3383280" cy="81381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02751" y="3127248"/>
            <a:ext cx="155448" cy="155448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59" y="3090672"/>
            <a:ext cx="2606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AE8BFF"/>
                </a:solidFill>
                <a:latin typeface="Aptos"/>
              </a:rPr>
              <a:t>AI CODE WORKSPACE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1" y="3364991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1F5FF"/>
                </a:solidFill>
                <a:latin typeface="Aptos"/>
              </a:rPr>
              <a:t>context panel · grounded actions · diff / new-file / findings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" y="4014215"/>
            <a:ext cx="3383280" cy="81381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0976" y="4197096"/>
            <a:ext cx="155448" cy="155448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584" y="4160520"/>
            <a:ext cx="2606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FFBF5B"/>
                </a:solidFill>
                <a:latin typeface="Aptos"/>
              </a:rPr>
              <a:t>DIAGNOSIS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" y="443484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1F5FF"/>
                </a:solidFill>
                <a:latin typeface="Aptos"/>
              </a:rPr>
              <a:t>real signals · A/B/C candidates · simulation · review · accept/reject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43983" y="4014215"/>
            <a:ext cx="3383280" cy="81381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26864" y="4197096"/>
            <a:ext cx="155448" cy="155448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19471" y="4160520"/>
            <a:ext cx="2606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FFBF5B"/>
                </a:solidFill>
                <a:latin typeface="Aptos"/>
              </a:rPr>
              <a:t>MISSION CONTROL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26864" y="443484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1F5FF"/>
                </a:solidFill>
                <a:latin typeface="Aptos"/>
              </a:rPr>
              <a:t>goal graph · DAG waves · checkpoints · replay · global dashboard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19871" y="4014215"/>
            <a:ext cx="3383280" cy="81381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302751" y="4197096"/>
            <a:ext cx="155448" cy="155448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59" y="4160520"/>
            <a:ext cx="2606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47DCA2"/>
                </a:solidFill>
                <a:latin typeface="Aptos"/>
              </a:rPr>
              <a:t>WORKFLOWS + MEMORY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2751" y="443484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1F5FF"/>
                </a:solidFill>
                <a:latin typeface="Aptos"/>
              </a:rPr>
              <a:t>visual workflow store/run path · basic engineering decision/event records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8096" y="5385816"/>
            <a:ext cx="10771632" cy="512064"/>
          </a:xfrm>
          <a:prstGeom prst="roundRect">
            <a:avLst/>
          </a:prstGeom>
          <a:solidFill>
            <a:srgbClr val="172A2D"/>
          </a:solidFill>
          <a:ln w="12700">
            <a:solidFill>
              <a:srgbClr val="2D5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5840" y="5559552"/>
            <a:ext cx="10277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47DCA2"/>
                </a:solidFill>
                <a:latin typeface="Aptos"/>
              </a:rPr>
              <a:t>CURRENT TRUTH  ·  REAL FILES  ·  REAL INDEXES  ·  REAL SSE EVENTS  ·  HUMAN-GATED WRITES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12 / FUTURE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Build the learning loop — without weakening the gates.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The next horizon is separated from today’s implemented behavior by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75488"/>
            <a:ext cx="1417320" cy="228600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6688" y="507492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FUTURE / IN PROGRESS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1865376"/>
            <a:ext cx="5010912" cy="95097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2029968"/>
            <a:ext cx="1426464" cy="246888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2107692"/>
            <a:ext cx="82296" cy="82296"/>
          </a:xfrm>
          <a:prstGeom prst="ellipse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071116"/>
            <a:ext cx="1179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8336" y="2048256"/>
            <a:ext cx="2560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ENGINEERING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2386584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1A0BA"/>
                </a:solidFill>
                <a:latin typeface="Aptos"/>
              </a:rPr>
              <a:t>Durable decision and event records are integrated; pattern, experience, graph, and insight depth are still expanding.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1865376"/>
            <a:ext cx="5010912" cy="95097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92240" y="2029968"/>
            <a:ext cx="1426464" cy="246888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65392" y="2107692"/>
            <a:ext cx="82296" cy="82296"/>
          </a:xfrm>
          <a:prstGeom prst="ellipse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7" y="2071116"/>
            <a:ext cx="1179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IN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3" y="2048256"/>
            <a:ext cx="2560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386584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1A0BA"/>
                </a:solidFill>
                <a:latin typeface="Aptos"/>
              </a:rPr>
              <a:t>Backend modules and a dashboard surface exist; deeper product integration and enforcement are next.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" y="3072384"/>
            <a:ext cx="5010912" cy="95097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7552" y="3236976"/>
            <a:ext cx="1097280" cy="246888"/>
          </a:xfrm>
          <a:prstGeom prst="roundRect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0704" y="3314700"/>
            <a:ext cx="82296" cy="82296"/>
          </a:xfrm>
          <a:prstGeom prst="ellipse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3278124"/>
            <a:ext cx="8503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FUTURE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9152" y="3255264"/>
            <a:ext cx="2560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3593592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1A0BA"/>
                </a:solidFill>
                <a:latin typeface="Aptos"/>
              </a:rPr>
              <a:t>Forecast hotspots, risk, and likely failure modes from accumulated engineering evidence.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2783" y="3072384"/>
            <a:ext cx="5010912" cy="95097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92240" y="3236976"/>
            <a:ext cx="1097280" cy="246888"/>
          </a:xfrm>
          <a:prstGeom prst="roundRect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65392" y="3314700"/>
            <a:ext cx="82296" cy="82296"/>
          </a:xfrm>
          <a:prstGeom prst="ellipse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93407" y="3278124"/>
            <a:ext cx="8503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FUTURE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3255264"/>
            <a:ext cx="2560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LEARNING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593592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1A0BA"/>
                </a:solidFill>
                <a:latin typeface="Aptos"/>
              </a:rPr>
              <a:t>Close the loop from accepted, rejected, and reverted outcomes — with provenance.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" y="4279392"/>
            <a:ext cx="5010912" cy="95097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87552" y="4443983"/>
            <a:ext cx="1097280" cy="246888"/>
          </a:xfrm>
          <a:prstGeom prst="roundRect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0704" y="4521707"/>
            <a:ext cx="82296" cy="82296"/>
          </a:xfrm>
          <a:prstGeom prst="ellipse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4485131"/>
            <a:ext cx="8503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FUTURE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59152" y="4462272"/>
            <a:ext cx="2560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DIGITAL TWIN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" y="4800600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1A0BA"/>
                </a:solidFill>
                <a:latin typeface="Aptos"/>
              </a:rPr>
              <a:t>Continuously model system state, dependencies, health, and change impact.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72783" y="4279392"/>
            <a:ext cx="5010912" cy="95097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A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92240" y="4443983"/>
            <a:ext cx="1097280" cy="246888"/>
          </a:xfrm>
          <a:prstGeom prst="roundRect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65392" y="4521707"/>
            <a:ext cx="82296" cy="82296"/>
          </a:xfrm>
          <a:prstGeom prst="ellipse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93407" y="4485131"/>
            <a:ext cx="8503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FUTURE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4462272"/>
            <a:ext cx="2560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1F5FF"/>
                </a:solidFill>
                <a:latin typeface="Aptos"/>
              </a:rPr>
              <a:t>AUTONOMOUS ENGINEERING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800600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1A0BA"/>
                </a:solidFill>
                <a:latin typeface="Aptos"/>
              </a:rPr>
              <a:t>Bounded execution policies may grow; explicit control remains a product principle.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8096" y="5669280"/>
            <a:ext cx="10771632" cy="384048"/>
          </a:xfrm>
          <a:prstGeom prst="roundRect">
            <a:avLst/>
          </a:prstGeom>
          <a:solidFill>
            <a:srgbClr val="2A2116"/>
          </a:solidFill>
          <a:ln w="12700">
            <a:solidFill>
              <a:srgbClr val="6A5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5840" y="5788152"/>
            <a:ext cx="102778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 i="0">
                <a:solidFill>
                  <a:srgbClr val="FFBF5B"/>
                </a:solidFill>
                <a:latin typeface="Aptos"/>
              </a:rPr>
              <a:t>NORTH STAR  ·  MORE CAPABLE PROPOSALS  ·  NEVER LESS EXPLICIT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13 / 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A local-first stack with provider-neutral intelligence.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The architecture keeps the desktop responsive, the AI runtime replaceable, and the project data close to the engineer.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75488"/>
            <a:ext cx="1417320" cy="228600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6688" y="507492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STACK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057400"/>
            <a:ext cx="15727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5E83FF"/>
                </a:solidFill>
                <a:latin typeface="Aptos"/>
              </a:rPr>
              <a:t>EXPERIENCE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59152" y="2240279"/>
            <a:ext cx="310896" cy="0"/>
          </a:xfrm>
          <a:prstGeom prst="line">
            <a:avLst/>
          </a:prstGeom>
          <a:ln w="12700">
            <a:solidFill>
              <a:srgbClr val="30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16352" y="1975103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62072" y="2148839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React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1975103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2148839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TypeScript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2432" y="1975103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88152" y="2148839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Vite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5472" y="1975103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51192" y="2148839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Monaco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68512" y="1975103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14232" y="2148839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@aura/ui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2852928"/>
            <a:ext cx="15727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DESKTOP + SERVICE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59152" y="3035808"/>
            <a:ext cx="310896" cy="0"/>
          </a:xfrm>
          <a:prstGeom prst="line">
            <a:avLst/>
          </a:prstGeom>
          <a:ln w="12700">
            <a:solidFill>
              <a:srgbClr val="30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816352" y="2770632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62072" y="2944368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Tauri v2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79392" y="2770632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5112" y="2944368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thin Rust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42432" y="2770632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88152" y="2944368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Node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05472" y="2770632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51192" y="2944368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localhost HTTP/SSE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68512" y="2770632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14232" y="2944368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Zustand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3648456"/>
            <a:ext cx="15727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AE8BFF"/>
                </a:solidFill>
                <a:latin typeface="Aptos"/>
              </a:rPr>
              <a:t>KNOWLEDGE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59152" y="3831336"/>
            <a:ext cx="310896" cy="0"/>
          </a:xfrm>
          <a:prstGeom prst="line">
            <a:avLst/>
          </a:prstGeom>
          <a:ln w="12700">
            <a:solidFill>
              <a:srgbClr val="30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816352" y="3566160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62072" y="3739896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Coding Engine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79392" y="3566160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25112" y="3739896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FullStack Engine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42432" y="3566160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88152" y="3739896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BM25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05472" y="3566160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51192" y="3739896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persistent graph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68512" y="3566160"/>
            <a:ext cx="1307592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14232" y="3739896"/>
            <a:ext cx="121615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F1F5FF"/>
                </a:solidFill>
                <a:latin typeface="Aptos"/>
              </a:rPr>
              <a:t>graphify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" y="4443984"/>
            <a:ext cx="15727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FFBF5B"/>
                </a:solidFill>
                <a:latin typeface="Aptos"/>
              </a:rPr>
              <a:t>AI RUNTIME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359152" y="4626864"/>
            <a:ext cx="310896" cy="0"/>
          </a:xfrm>
          <a:prstGeom prst="line">
            <a:avLst/>
          </a:prstGeom>
          <a:ln w="12700">
            <a:solidFill>
              <a:srgbClr val="30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2816352" y="4361688"/>
            <a:ext cx="877824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62072" y="4535424"/>
            <a:ext cx="7863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F1F5FF"/>
                </a:solidFill>
                <a:latin typeface="Aptos"/>
              </a:rPr>
              <a:t>Anthropic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4361688"/>
            <a:ext cx="877824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80" y="4535424"/>
            <a:ext cx="7863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F1F5FF"/>
                </a:solidFill>
                <a:latin typeface="Aptos"/>
              </a:rPr>
              <a:t>OpenAI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773168" y="4361688"/>
            <a:ext cx="877824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18888" y="4535424"/>
            <a:ext cx="7863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F1F5FF"/>
                </a:solidFill>
                <a:latin typeface="Aptos"/>
              </a:rPr>
              <a:t>Gemini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751576" y="4361688"/>
            <a:ext cx="877824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97296" y="4535424"/>
            <a:ext cx="7863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F1F5FF"/>
                </a:solidFill>
                <a:latin typeface="Aptos"/>
              </a:rPr>
              <a:t>Groq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729984" y="4361688"/>
            <a:ext cx="877824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75704" y="4535424"/>
            <a:ext cx="7863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F1F5FF"/>
                </a:solidFill>
                <a:latin typeface="Aptos"/>
              </a:rPr>
              <a:t>Mistral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08392" y="4361688"/>
            <a:ext cx="877824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54112" y="4535424"/>
            <a:ext cx="7863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F1F5FF"/>
                </a:solidFill>
                <a:latin typeface="Aptos"/>
              </a:rPr>
              <a:t>NVIDIA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686800" y="4361688"/>
            <a:ext cx="877824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32520" y="4535424"/>
            <a:ext cx="7863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F1F5FF"/>
                </a:solidFill>
                <a:latin typeface="Aptos"/>
              </a:rPr>
              <a:t>OpenRouter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65208" y="4361688"/>
            <a:ext cx="877824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10928" y="4535424"/>
            <a:ext cx="7863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F1F5FF"/>
                </a:solidFill>
                <a:latin typeface="Aptos"/>
              </a:rPr>
              <a:t>Kimi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8096" y="5239512"/>
            <a:ext cx="15727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7DCA2"/>
                </a:solidFill>
                <a:latin typeface="Aptos"/>
              </a:rPr>
              <a:t>ENGINEERING SYSTEMS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359152" y="5422392"/>
            <a:ext cx="310896" cy="0"/>
          </a:xfrm>
          <a:prstGeom prst="line">
            <a:avLst/>
          </a:prstGeom>
          <a:ln w="12700">
            <a:solidFill>
              <a:srgbClr val="30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2816352" y="5157216"/>
            <a:ext cx="1188720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62072" y="5330951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F1F5FF"/>
                </a:solidFill>
                <a:latin typeface="Aptos"/>
              </a:rPr>
              <a:t>Git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142232" y="5157216"/>
            <a:ext cx="1188720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87952" y="5330951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F1F5FF"/>
                </a:solidFill>
                <a:latin typeface="Aptos"/>
              </a:rPr>
              <a:t>JSON stores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468112" y="5157216"/>
            <a:ext cx="1188720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13832" y="5330951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F1F5FF"/>
                </a:solidFill>
                <a:latin typeface="Aptos"/>
              </a:rPr>
              <a:t>Diagnosis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793992" y="5157216"/>
            <a:ext cx="1188720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39712" y="5330951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F1F5FF"/>
                </a:solidFill>
                <a:latin typeface="Aptos"/>
              </a:rPr>
              <a:t>Mission Control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119871" y="5157216"/>
            <a:ext cx="1188720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65592" y="5330951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F1F5FF"/>
                </a:solidFill>
                <a:latin typeface="Aptos"/>
              </a:rPr>
              <a:t>Governance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445752" y="5157216"/>
            <a:ext cx="1188720" cy="512064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91472" y="5330951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F1F5FF"/>
                </a:solidFill>
                <a:latin typeface="Aptos"/>
              </a:rPr>
              <a:t>Architecture docs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68096" y="6007608"/>
            <a:ext cx="10771632" cy="27432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2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9264" y="6089904"/>
            <a:ext cx="1036929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90" b="1" i="0">
                <a:solidFill>
                  <a:srgbClr val="91A0BA"/>
                </a:solidFill>
                <a:latin typeface="Aptos"/>
              </a:rPr>
              <a:t>CURRENT RETRIEVAL IS KEYWORD + GRAPH; EMBEDDINGS / VECTOR SEARCH REMAIN A REPLACEABLE SEAM.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03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75720" y="329184"/>
            <a:ext cx="0" cy="5998464"/>
          </a:xfrm>
          <a:prstGeom prst="line">
            <a:avLst/>
          </a:prstGeom>
          <a:ln w="6985">
            <a:solidFill>
              <a:srgbClr val="0E17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329184"/>
            <a:ext cx="10789920" cy="0"/>
          </a:xfrm>
          <a:prstGeom prst="line">
            <a:avLst/>
          </a:prstGeom>
          <a:ln w="7620">
            <a:solidFill>
              <a:srgbClr val="142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66344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14 / LIVE DEMONSTRATION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949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1F5FF"/>
                </a:solidFill>
                <a:latin typeface="Aptos Display"/>
              </a:rPr>
              <a:t>From an open project to an approved change.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91A0BA"/>
                </a:solidFill>
                <a:latin typeface="Aptos"/>
              </a:rPr>
              <a:t>A single path makes the architecture tangible: each step exposes a real artifact or 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75488"/>
            <a:ext cx="1417320" cy="228600"/>
          </a:xfrm>
          <a:prstGeom prst="roundRect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6688" y="507492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80C14"/>
                </a:solidFill>
                <a:latin typeface="Aptos"/>
              </a:rPr>
              <a:t>DEMO PATH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6473952"/>
            <a:ext cx="1078992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56248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52881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1975104"/>
            <a:ext cx="2304288" cy="112471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976" y="2157984"/>
            <a:ext cx="347472" cy="347472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227685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2157984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90" b="1" i="0">
                <a:solidFill>
                  <a:srgbClr val="4BD8F7"/>
                </a:solidFill>
                <a:latin typeface="Aptos"/>
              </a:rPr>
              <a:t>OPEN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2578608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profile +</a:t>
            </a:r>
          </a:p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index status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99815" y="2542032"/>
            <a:ext cx="301753" cy="0"/>
          </a:xfrm>
          <a:prstGeom prst="line">
            <a:avLst/>
          </a:prstGeom>
          <a:ln w="12700">
            <a:solidFill>
              <a:srgbClr val="456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3364991" y="2505456"/>
            <a:ext cx="73152" cy="73152"/>
          </a:xfrm>
          <a:prstGeom prst="triangle">
            <a:avLst/>
          </a:prstGeom>
          <a:solidFill>
            <a:srgbClr val="456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11296" y="1975104"/>
            <a:ext cx="2304288" cy="112471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94176" y="2157984"/>
            <a:ext cx="347472" cy="347472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94176" y="227685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7096" y="2157984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90" b="1" i="0">
                <a:solidFill>
                  <a:srgbClr val="5E83FF"/>
                </a:solidFill>
                <a:latin typeface="Aptos"/>
              </a:rPr>
              <a:t>KNOWLEDGE FABRIC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2578608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files +</a:t>
            </a:r>
          </a:p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graph context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43016" y="2542032"/>
            <a:ext cx="301752" cy="0"/>
          </a:xfrm>
          <a:prstGeom prst="line">
            <a:avLst/>
          </a:prstGeom>
          <a:ln w="12700">
            <a:solidFill>
              <a:srgbClr val="456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6108192" y="2505456"/>
            <a:ext cx="73152" cy="73152"/>
          </a:xfrm>
          <a:prstGeom prst="triangle">
            <a:avLst/>
          </a:prstGeom>
          <a:solidFill>
            <a:srgbClr val="456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54496" y="1975104"/>
            <a:ext cx="2304288" cy="112471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37376" y="2157984"/>
            <a:ext cx="347472" cy="347472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227685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0296" y="2157984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90" b="1" i="0">
                <a:solidFill>
                  <a:srgbClr val="AE8BFF"/>
                </a:solidFill>
                <a:latin typeface="Aptos"/>
              </a:rPr>
              <a:t>ASK AURA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2578608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grounded</a:t>
            </a:r>
          </a:p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conversation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86216" y="2542032"/>
            <a:ext cx="301751" cy="0"/>
          </a:xfrm>
          <a:prstGeom prst="line">
            <a:avLst/>
          </a:prstGeom>
          <a:ln w="12700">
            <a:solidFill>
              <a:srgbClr val="456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8851392" y="2505456"/>
            <a:ext cx="73152" cy="73152"/>
          </a:xfrm>
          <a:prstGeom prst="triangle">
            <a:avLst/>
          </a:prstGeom>
          <a:solidFill>
            <a:srgbClr val="456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97696" y="1975104"/>
            <a:ext cx="2304288" cy="112471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80576" y="2157984"/>
            <a:ext cx="347472" cy="347472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0576" y="227685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2157984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90" b="1" i="0">
                <a:solidFill>
                  <a:srgbClr val="FFBF5B"/>
                </a:solidFill>
                <a:latin typeface="Aptos"/>
              </a:rPr>
              <a:t>DIAGNOSIS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0576" y="2578608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signals +</a:t>
            </a:r>
          </a:p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A/B/C patches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8096" y="3758184"/>
            <a:ext cx="2304288" cy="112471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50976" y="3941064"/>
            <a:ext cx="347472" cy="347472"/>
          </a:xfrm>
          <a:prstGeom prst="ellipse">
            <a:avLst/>
          </a:prstGeom>
          <a:solidFill>
            <a:srgbClr val="FF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405993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53895" y="3941064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90" b="1" i="0">
                <a:solidFill>
                  <a:srgbClr val="FFBF5B"/>
                </a:solidFill>
                <a:latin typeface="Aptos"/>
              </a:rPr>
              <a:t>MISSION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" y="4361688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goal graph +</a:t>
            </a:r>
          </a:p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execution DAG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099815" y="4325112"/>
            <a:ext cx="301753" cy="0"/>
          </a:xfrm>
          <a:prstGeom prst="line">
            <a:avLst/>
          </a:prstGeom>
          <a:ln w="12700">
            <a:solidFill>
              <a:srgbClr val="456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3364991" y="4288536"/>
            <a:ext cx="73152" cy="73152"/>
          </a:xfrm>
          <a:prstGeom prst="triangle">
            <a:avLst/>
          </a:prstGeom>
          <a:solidFill>
            <a:srgbClr val="456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511296" y="3758184"/>
            <a:ext cx="2304288" cy="112471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94176" y="3941064"/>
            <a:ext cx="347472" cy="347472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94176" y="405993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97096" y="3941064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90" b="1" i="0">
                <a:solidFill>
                  <a:srgbClr val="5E83FF"/>
                </a:solidFill>
                <a:latin typeface="Aptos"/>
              </a:rPr>
              <a:t>REVIEW DIFF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94176" y="4361688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proposal +</a:t>
            </a:r>
          </a:p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limiter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843016" y="4325112"/>
            <a:ext cx="301752" cy="0"/>
          </a:xfrm>
          <a:prstGeom prst="line">
            <a:avLst/>
          </a:prstGeom>
          <a:ln w="12700">
            <a:solidFill>
              <a:srgbClr val="456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6108192" y="4288536"/>
            <a:ext cx="73152" cy="73152"/>
          </a:xfrm>
          <a:prstGeom prst="triangle">
            <a:avLst/>
          </a:prstGeom>
          <a:solidFill>
            <a:srgbClr val="456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54496" y="3758184"/>
            <a:ext cx="2304288" cy="112471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437376" y="3941064"/>
            <a:ext cx="347472" cy="347472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37376" y="405993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0296" y="3941064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90" b="1" i="0">
                <a:solidFill>
                  <a:srgbClr val="47DCA2"/>
                </a:solidFill>
                <a:latin typeface="Aptos"/>
              </a:rPr>
              <a:t>APPROVE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37376" y="4361688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human</a:t>
            </a:r>
          </a:p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acceptance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86216" y="4325112"/>
            <a:ext cx="301751" cy="0"/>
          </a:xfrm>
          <a:prstGeom prst="line">
            <a:avLst/>
          </a:prstGeom>
          <a:ln w="12700">
            <a:solidFill>
              <a:srgbClr val="456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 rot="5400000">
            <a:off x="8851392" y="4288536"/>
            <a:ext cx="73152" cy="73152"/>
          </a:xfrm>
          <a:prstGeom prst="triangle">
            <a:avLst/>
          </a:prstGeom>
          <a:solidFill>
            <a:srgbClr val="456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997696" y="3758184"/>
            <a:ext cx="2304288" cy="1124712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C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180576" y="3941064"/>
            <a:ext cx="347472" cy="347472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80576" y="4059936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 i="0">
                <a:solidFill>
                  <a:srgbClr val="080C14"/>
                </a:solidFill>
                <a:latin typeface="Aptos"/>
              </a:rPr>
              <a:t>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83496" y="3941064"/>
            <a:ext cx="1417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90" b="1" i="0">
                <a:solidFill>
                  <a:srgbClr val="4BD8F7"/>
                </a:solidFill>
                <a:latin typeface="Aptos"/>
              </a:rPr>
              <a:t>REINDEX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80576" y="4361688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memory +</a:t>
            </a:r>
          </a:p>
          <a:p>
            <a:pPr algn="l">
              <a:lnSpc>
                <a:spcPct val="94000"/>
              </a:lnSpc>
            </a:pPr>
            <a:r>
              <a:rPr sz="1110" b="1" i="0">
                <a:solidFill>
                  <a:srgbClr val="F1F5FF"/>
                </a:solidFill>
                <a:latin typeface="Aptos"/>
              </a:rPr>
              <a:t>new context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235440" y="3108960"/>
            <a:ext cx="0" cy="548640"/>
          </a:xfrm>
          <a:prstGeom prst="line">
            <a:avLst/>
          </a:prstGeom>
          <a:ln w="12700">
            <a:solidFill>
              <a:srgbClr val="456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/>
          <p:cNvSpPr/>
          <p:nvPr/>
        </p:nvSpPr>
        <p:spPr>
          <a:xfrm rot="10800000">
            <a:off x="9198864" y="3621024"/>
            <a:ext cx="73152" cy="73152"/>
          </a:xfrm>
          <a:prstGeom prst="triangle">
            <a:avLst/>
          </a:prstGeom>
          <a:solidFill>
            <a:srgbClr val="456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3072384" y="4882896"/>
            <a:ext cx="0" cy="530352"/>
          </a:xfrm>
          <a:prstGeom prst="line">
            <a:avLst/>
          </a:prstGeom>
          <a:ln w="12700">
            <a:solidFill>
              <a:srgbClr val="456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10800000">
            <a:off x="3035808" y="5376672"/>
            <a:ext cx="73152" cy="73152"/>
          </a:xfrm>
          <a:prstGeom prst="triangle">
            <a:avLst/>
          </a:prstGeom>
          <a:solidFill>
            <a:srgbClr val="456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68096" y="5577840"/>
            <a:ext cx="10771632" cy="438912"/>
          </a:xfrm>
          <a:prstGeom prst="roundRect">
            <a:avLst/>
          </a:prstGeom>
          <a:solidFill>
            <a:srgbClr val="142A37"/>
          </a:solidFill>
          <a:ln w="12700">
            <a:solidFill>
              <a:srgbClr val="2C5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4128" y="5724144"/>
            <a:ext cx="102778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 i="0">
                <a:solidFill>
                  <a:srgbClr val="4BD8F7"/>
                </a:solidFill>
                <a:latin typeface="Aptos"/>
              </a:rPr>
              <a:t>REAL FILES  ·  SSE STAGES  ·  SOURCE CONTEXT  ·  HUMAN CLICK BEFORE WRITE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99248" y="841248"/>
            <a:ext cx="4370832" cy="4370832"/>
          </a:xfrm>
          <a:prstGeom prst="ellipse">
            <a:avLst/>
          </a:prstGeom>
          <a:solidFill>
            <a:srgbClr val="102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11896" y="1453896"/>
            <a:ext cx="3127248" cy="3127248"/>
          </a:xfrm>
          <a:prstGeom prst="ellipse">
            <a:avLst/>
          </a:prstGeom>
          <a:solidFill>
            <a:srgbClr val="1A3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3465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3465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3465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3465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3465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3465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3465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3465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53465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3465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3465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3465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3465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3465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3465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465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3465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7181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7181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7181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7181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7181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7181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7181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7181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7181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7181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7181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7181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7181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7181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7181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7181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7181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0897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80897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0897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0897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80897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0897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80897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0897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0897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80897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80897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80897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80897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0897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80897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80897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80897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94613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4613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94613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94613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4613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94613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4613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4613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4613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94613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94613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94613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4613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94613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94613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94613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94613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08329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08329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08329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08329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329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08329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08329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8329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08329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08329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08329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08329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08329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08329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08329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08329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08329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22045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22045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22045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22045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22045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22045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22045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22045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22045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045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22045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22045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22045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22045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22045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22045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22045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35761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35761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35761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35761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35761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35761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35761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35761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35761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35761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35761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35761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35761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35761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35761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35761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35761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49477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49477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49477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49477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49477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49477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49477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49477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49477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49477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9477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49477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49477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49477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49477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49477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49477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863193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63193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63193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63193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863193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63193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63193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63193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63193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63193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63193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63193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63193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863193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863193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863193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63193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76909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876909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76909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876909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76909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76909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876909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76909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876909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876909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876909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876909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876909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876909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876909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876909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876909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890625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890625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90625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890625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90625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90625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90625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90625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90625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90625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90625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90625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90625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90625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90625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90625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90625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04341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04341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904341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904341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904341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904341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904341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904341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904341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904341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4341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04341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04341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04341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04341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04341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04341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18057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18057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18057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18057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18057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18057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18057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18057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18057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18057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18057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18057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18057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18057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18057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18057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18057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31773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31773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31773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31773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31773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31773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31773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31773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31773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31773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931773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931773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31773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31773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931773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931773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31773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45489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45489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45489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45489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45489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45489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45489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45489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945489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945489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945489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945489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945489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945489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945489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945489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945489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959205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959205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959205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959205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959205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959205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959205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959205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59205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59205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959205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959205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959205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959205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959205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959205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59205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729216" y="10789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9729216" y="121615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9729216" y="13533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9729216" y="14904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9729216" y="162763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9729216" y="176479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9729216" y="19019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9729216" y="203911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9729216" y="21762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9729216" y="23134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9729216" y="24505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9729216" y="25877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9729216" y="272491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729216" y="286207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729216" y="299923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9729216" y="3136391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9729216" y="3273552"/>
            <a:ext cx="22860" cy="22860"/>
          </a:xfrm>
          <a:prstGeom prst="ellipse">
            <a:avLst/>
          </a:prstGeom>
          <a:solidFill>
            <a:srgbClr val="1E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3" name="Connector 292"/>
          <p:cNvCxnSpPr/>
          <p:nvPr/>
        </p:nvCxnSpPr>
        <p:spPr>
          <a:xfrm>
            <a:off x="749808" y="493776"/>
            <a:ext cx="10698480" cy="0"/>
          </a:xfrm>
          <a:prstGeom prst="line">
            <a:avLst/>
          </a:prstGeom>
          <a:ln w="8890">
            <a:solidFill>
              <a:srgbClr val="1C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768096" y="658368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 i="0">
                <a:solidFill>
                  <a:srgbClr val="4BD8F7"/>
                </a:solidFill>
                <a:latin typeface="Aptos"/>
              </a:rPr>
              <a:t>AURA / CLOSING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768096" y="1481328"/>
            <a:ext cx="5486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1" i="0">
                <a:solidFill>
                  <a:srgbClr val="F1F5FF"/>
                </a:solidFill>
                <a:latin typeface="Aptos Display"/>
              </a:rPr>
              <a:t>The next engineering</a:t>
            </a:r>
          </a:p>
          <a:p>
            <a:pPr algn="l">
              <a:lnSpc>
                <a:spcPct val="92000"/>
              </a:lnSpc>
            </a:pPr>
            <a:r>
              <a:rPr sz="3100" b="1" i="0">
                <a:solidFill>
                  <a:srgbClr val="F1F5FF"/>
                </a:solidFill>
                <a:latin typeface="Aptos Display"/>
              </a:rPr>
              <a:t>environment is a system.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804672" y="2971800"/>
            <a:ext cx="49377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600" b="0" i="0">
                <a:solidFill>
                  <a:srgbClr val="91A0BA"/>
                </a:solidFill>
                <a:latin typeface="Aptos"/>
              </a:rPr>
              <a:t>It understands the project, reasons over evidence,</a:t>
            </a:r>
          </a:p>
          <a:p>
            <a:pPr algn="l">
              <a:lnSpc>
                <a:spcPct val="103000"/>
              </a:lnSpc>
            </a:pPr>
            <a:r>
              <a:rPr sz="1600" b="0" i="0">
                <a:solidFill>
                  <a:srgbClr val="91A0BA"/>
                </a:solidFill>
                <a:latin typeface="Aptos"/>
              </a:rPr>
              <a:t>and waits for the engineer.</a:t>
            </a:r>
          </a:p>
        </p:txBody>
      </p:sp>
      <p:sp>
        <p:nvSpPr>
          <p:cNvPr id="297" name="Oval 296"/>
          <p:cNvSpPr/>
          <p:nvPr/>
        </p:nvSpPr>
        <p:spPr>
          <a:xfrm>
            <a:off x="9071579" y="1939259"/>
            <a:ext cx="1790760" cy="1790760"/>
          </a:xfrm>
          <a:prstGeom prst="ellipse">
            <a:avLst/>
          </a:prstGeom>
          <a:noFill/>
          <a:ln w="12700">
            <a:solidFill>
              <a:srgbClr val="284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9345168" y="2212848"/>
            <a:ext cx="1243584" cy="1243584"/>
          </a:xfrm>
          <a:prstGeom prst="ellipse">
            <a:avLst/>
          </a:prstGeom>
          <a:noFill/>
          <a:ln w="22860">
            <a:solidFill>
              <a:srgbClr val="5E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9718243" y="2585923"/>
            <a:ext cx="497433" cy="497433"/>
          </a:xfrm>
          <a:prstGeom prst="ellipse">
            <a:avLst/>
          </a:prstGeom>
          <a:solidFill>
            <a:srgbClr val="5E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" name="Connector 299"/>
          <p:cNvCxnSpPr/>
          <p:nvPr/>
        </p:nvCxnSpPr>
        <p:spPr>
          <a:xfrm>
            <a:off x="8785555" y="2834640"/>
            <a:ext cx="534741" cy="0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0613623" y="2834640"/>
            <a:ext cx="534741" cy="0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9966960" y="1653235"/>
            <a:ext cx="0" cy="534741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9966960" y="3481303"/>
            <a:ext cx="0" cy="534741"/>
          </a:xfrm>
          <a:prstGeom prst="line">
            <a:avLst/>
          </a:prstGeom>
          <a:ln w="15240">
            <a:solidFill>
              <a:srgbClr val="4BD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Rounded Rectangle 303"/>
          <p:cNvSpPr/>
          <p:nvPr/>
        </p:nvSpPr>
        <p:spPr>
          <a:xfrm>
            <a:off x="804672" y="4828032"/>
            <a:ext cx="2212848" cy="67665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969264" y="5047488"/>
            <a:ext cx="137160" cy="137160"/>
          </a:xfrm>
          <a:prstGeom prst="ellipse">
            <a:avLst/>
          </a:prstGeom>
          <a:solidFill>
            <a:srgbClr val="4BD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1225296" y="4965192"/>
            <a:ext cx="15727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4BD8F7"/>
                </a:solidFill>
                <a:latin typeface="Aptos"/>
              </a:rPr>
              <a:t>SHARED TRUTH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969264" y="5248656"/>
            <a:ext cx="18105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1F5FF"/>
                </a:solidFill>
                <a:latin typeface="Aptos"/>
              </a:rPr>
              <a:t>The repository becomes queryable context.</a:t>
            </a:r>
          </a:p>
        </p:txBody>
      </p:sp>
      <p:sp>
        <p:nvSpPr>
          <p:cNvPr id="308" name="Rounded Rectangle 307"/>
          <p:cNvSpPr/>
          <p:nvPr/>
        </p:nvSpPr>
        <p:spPr>
          <a:xfrm>
            <a:off x="3291840" y="4828032"/>
            <a:ext cx="2212848" cy="67665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3456432" y="5047488"/>
            <a:ext cx="137160" cy="137160"/>
          </a:xfrm>
          <a:prstGeom prst="ellipse">
            <a:avLst/>
          </a:prstGeom>
          <a:solidFill>
            <a:srgbClr val="47D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3712464" y="4965192"/>
            <a:ext cx="15727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47DCA2"/>
                </a:solidFill>
                <a:latin typeface="Aptos"/>
              </a:rPr>
              <a:t>SAFER CHANGE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3456432" y="5248656"/>
            <a:ext cx="18105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1F5FF"/>
                </a:solidFill>
                <a:latin typeface="Aptos"/>
              </a:rPr>
              <a:t>Every mutation has a visible gate.</a:t>
            </a:r>
          </a:p>
        </p:txBody>
      </p:sp>
      <p:sp>
        <p:nvSpPr>
          <p:cNvPr id="312" name="Rounded Rectangle 311"/>
          <p:cNvSpPr/>
          <p:nvPr/>
        </p:nvSpPr>
        <p:spPr>
          <a:xfrm>
            <a:off x="5779008" y="4828032"/>
            <a:ext cx="2212848" cy="676656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5943600" y="5047488"/>
            <a:ext cx="137160" cy="137160"/>
          </a:xfrm>
          <a:prstGeom prst="ellipse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6199632" y="4965192"/>
            <a:ext cx="15727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AE8BFF"/>
                </a:solidFill>
                <a:latin typeface="Aptos"/>
              </a:rPr>
              <a:t>DURABLE CONTEXT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5943600" y="5248656"/>
            <a:ext cx="18105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1F5FF"/>
                </a:solidFill>
                <a:latin typeface="Aptos"/>
              </a:rPr>
              <a:t>Decisions can outlive the chat.</a:t>
            </a:r>
          </a:p>
        </p:txBody>
      </p:sp>
      <p:sp>
        <p:nvSpPr>
          <p:cNvPr id="316" name="Rounded Rectangle 315"/>
          <p:cNvSpPr/>
          <p:nvPr/>
        </p:nvSpPr>
        <p:spPr>
          <a:xfrm>
            <a:off x="8540496" y="4965192"/>
            <a:ext cx="2880360" cy="457200"/>
          </a:xfrm>
          <a:prstGeom prst="roundRect">
            <a:avLst/>
          </a:prstGeom>
          <a:solidFill>
            <a:srgbClr val="172A37"/>
          </a:solidFill>
          <a:ln w="12700">
            <a:solidFill>
              <a:srgbClr val="2E5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8714232" y="5120640"/>
            <a:ext cx="2542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1" i="0">
                <a:solidFill>
                  <a:srgbClr val="4BD8F7"/>
                </a:solidFill>
                <a:latin typeface="Aptos"/>
              </a:rPr>
              <a:t>AURA HUB  ·  AI NATIVE ENGINEERING OPERATING ENVIRONMENT</a:t>
            </a:r>
          </a:p>
        </p:txBody>
      </p:sp>
      <p:cxnSp>
        <p:nvCxnSpPr>
          <p:cNvPr id="318" name="Connector 317"/>
          <p:cNvCxnSpPr/>
          <p:nvPr/>
        </p:nvCxnSpPr>
        <p:spPr>
          <a:xfrm>
            <a:off x="749808" y="6473952"/>
            <a:ext cx="10698480" cy="0"/>
          </a:xfrm>
          <a:prstGeom prst="line">
            <a:avLst/>
          </a:prstGeom>
          <a:ln w="8890">
            <a:solidFill>
              <a:srgbClr val="1B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TextBox 318"/>
          <p:cNvSpPr txBox="1"/>
          <p:nvPr/>
        </p:nvSpPr>
        <p:spPr>
          <a:xfrm>
            <a:off x="768096" y="6565392"/>
            <a:ext cx="694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 i="0">
                <a:solidFill>
                  <a:srgbClr val="60708D"/>
                </a:solidFill>
                <a:latin typeface="Aptos"/>
              </a:rPr>
              <a:t>AURA HUB  /  ENGINEERING OPERATING ENVIRONMENT  /  REPO-VERIFIED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1045952" y="6537960"/>
            <a:ext cx="40233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91A0BA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— AI Native Engineering Operating Environment</dc:title>
  <dc:subject>Repository-grounded architecture presentation</dc:subject>
  <dc:creator>AURA Hub</dc:creator>
  <cp:keywords>AURA, engineering intelligence, knowledge fabric, mission control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