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909560" y="960120"/>
            <a:ext cx="4251960" cy="4251960"/>
          </a:xfrm>
          <a:prstGeom prst="ellipse">
            <a:avLst/>
          </a:prstGeom>
          <a:solidFill>
            <a:srgbClr val="1323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412480" y="1463040"/>
            <a:ext cx="3246120" cy="3246120"/>
          </a:xfrm>
          <a:prstGeom prst="ellipse">
            <a:avLst/>
          </a:prstGeom>
          <a:solidFill>
            <a:srgbClr val="1B37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43800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43800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43800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43800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43800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43800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43800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43800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43800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43800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43800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43800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43800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43800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43800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43800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690104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90104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90104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90104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90104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90104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90104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90104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90104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90104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90104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90104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90104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90104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90104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690104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836408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836408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36408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836408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36408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36408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836408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836408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36408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836408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36408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836408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836408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836408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836408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836408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982712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982712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982712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982712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982712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82712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982712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982712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82712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982712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982712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82712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82712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982712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982712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982712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129016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8129016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8129016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8129016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129016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129016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129016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129016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129016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129016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129016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129016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129016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129016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129016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129016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275320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275320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275320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275320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275320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275320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75320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275320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275320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275320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275320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275320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275320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275320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275320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275320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421624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421624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421624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421624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421624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421624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421624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421624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421624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421624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421624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421624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421624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421624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421624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421624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567928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567928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567928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567928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567928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567928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567928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567928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567928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567928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567928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567928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567928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567928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567928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567928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714232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714232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714232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714232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714232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714232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8714232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714232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714232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714232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8714232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714232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714232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714232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714232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714232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860536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860536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860536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860536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860536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860536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860536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860536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860536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860536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860536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860536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860536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860536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860536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860536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9006840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9006840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9006840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9006840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9006840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9006840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9006840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9006840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9006840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9006840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9006840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9006840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9006840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9006840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9006840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9006840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9153144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9153144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9153144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9153144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9153144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9153144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9153144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9153144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9153144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9153144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9153144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153144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153144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9153144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9153144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9153144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9299448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9299448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9299448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9299448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9299448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9299448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9299448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9299448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9299448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9299448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9299448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9299448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9299448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9299448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9299448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9299448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9445752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9445752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9445752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9445752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9445752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9445752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9445752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445752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445752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9445752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9445752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9445752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9445752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445752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445752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445752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9592056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9592056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9592056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9592056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9592056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592056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9592056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9592056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9592056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9592056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9592056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9592056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9592056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9592056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9592056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9592056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9738360" y="111556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9738360" y="126187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9738360" y="140817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738360" y="155448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738360" y="170078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9738360" y="184708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9738360" y="1993391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9738360" y="2139696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9738360" y="228600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9738360" y="243230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9738360" y="257860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9738360" y="2724912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9738360" y="2871215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9738360" y="3017520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9738360" y="3163824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9738360" y="3310128"/>
            <a:ext cx="22860" cy="22860"/>
          </a:xfrm>
          <a:prstGeom prst="ellipse">
            <a:avLst/>
          </a:prstGeom>
          <a:solidFill>
            <a:srgbClr val="2034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60" name="Connector 259"/>
          <p:cNvCxnSpPr/>
          <p:nvPr/>
        </p:nvCxnSpPr>
        <p:spPr>
          <a:xfrm>
            <a:off x="749808" y="493776"/>
            <a:ext cx="10698480" cy="0"/>
          </a:xfrm>
          <a:prstGeom prst="line">
            <a:avLst/>
          </a:prstGeom>
          <a:ln w="8890">
            <a:solidFill>
              <a:srgbClr val="1C2A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1" name="TextBox 260"/>
          <p:cNvSpPr txBox="1"/>
          <p:nvPr/>
        </p:nvSpPr>
        <p:spPr>
          <a:xfrm>
            <a:off x="768096" y="65836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AURA / 00</a:t>
            </a:r>
          </a:p>
        </p:txBody>
      </p:sp>
      <p:sp>
        <p:nvSpPr>
          <p:cNvPr id="262" name="TextBox 261"/>
          <p:cNvSpPr txBox="1"/>
          <p:nvPr/>
        </p:nvSpPr>
        <p:spPr>
          <a:xfrm>
            <a:off x="749808" y="1353312"/>
            <a:ext cx="475488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300" b="1" i="0">
                <a:solidFill>
                  <a:srgbClr val="F1F5FF"/>
                </a:solidFill>
                <a:latin typeface="Aptos Display"/>
              </a:rPr>
              <a:t>AURA</a:t>
            </a:r>
          </a:p>
        </p:txBody>
      </p:sp>
      <p:sp>
        <p:nvSpPr>
          <p:cNvPr id="263" name="TextBox 262"/>
          <p:cNvSpPr txBox="1"/>
          <p:nvPr/>
        </p:nvSpPr>
        <p:spPr>
          <a:xfrm>
            <a:off x="786384" y="2267712"/>
            <a:ext cx="5760720" cy="9875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3000"/>
              </a:lnSpc>
            </a:pPr>
            <a:r>
              <a:rPr sz="2800" b="1" i="0">
                <a:solidFill>
                  <a:srgbClr val="F1F5FF"/>
                </a:solidFill>
                <a:latin typeface="Aptos Display"/>
              </a:rPr>
              <a:t>AI Native Engineering</a:t>
            </a:r>
          </a:p>
          <a:p>
            <a:pPr algn="l">
              <a:lnSpc>
                <a:spcPct val="93000"/>
              </a:lnSpc>
            </a:pPr>
            <a:r>
              <a:rPr sz="2800" b="1" i="0">
                <a:solidFill>
                  <a:srgbClr val="F1F5FF"/>
                </a:solidFill>
                <a:latin typeface="Aptos Display"/>
              </a:rPr>
              <a:t>Operating Environment</a:t>
            </a:r>
          </a:p>
        </p:txBody>
      </p:sp>
      <p:sp>
        <p:nvSpPr>
          <p:cNvPr id="264" name="TextBox 263"/>
          <p:cNvSpPr txBox="1"/>
          <p:nvPr/>
        </p:nvSpPr>
        <p:spPr>
          <a:xfrm>
            <a:off x="804672" y="3511296"/>
            <a:ext cx="48463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91A0BA"/>
                </a:solidFill>
                <a:latin typeface="Aptos"/>
              </a:rPr>
              <a:t>A project-first workspace for understanding systems,</a:t>
            </a:r>
          </a:p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91A0BA"/>
                </a:solidFill>
                <a:latin typeface="Aptos"/>
              </a:rPr>
              <a:t>reasoning over evidence, and governing change.</a:t>
            </a:r>
          </a:p>
        </p:txBody>
      </p:sp>
      <p:sp>
        <p:nvSpPr>
          <p:cNvPr id="265" name="Rectangle 264"/>
          <p:cNvSpPr/>
          <p:nvPr/>
        </p:nvSpPr>
        <p:spPr>
          <a:xfrm>
            <a:off x="804672" y="4700016"/>
            <a:ext cx="4069080" cy="36576"/>
          </a:xfrm>
          <a:prstGeom prst="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TextBox 265"/>
          <p:cNvSpPr txBox="1"/>
          <p:nvPr/>
        </p:nvSpPr>
        <p:spPr>
          <a:xfrm>
            <a:off x="804672" y="4919472"/>
            <a:ext cx="4983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1" i="0">
                <a:solidFill>
                  <a:srgbClr val="4BD8F7"/>
                </a:solidFill>
                <a:latin typeface="Aptos"/>
              </a:rPr>
              <a:t>THE UNIT OF WORK IS THE PROJECT — NOT THE PROMPT.</a:t>
            </a:r>
          </a:p>
        </p:txBody>
      </p:sp>
      <p:sp>
        <p:nvSpPr>
          <p:cNvPr id="267" name="TextBox 266"/>
          <p:cNvSpPr txBox="1"/>
          <p:nvPr/>
        </p:nvSpPr>
        <p:spPr>
          <a:xfrm>
            <a:off x="804672" y="6172200"/>
            <a:ext cx="5120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60708D"/>
                </a:solidFill>
                <a:latin typeface="Aptos"/>
              </a:rPr>
              <a:t>Architecture brief  ·  current working tree  ·  31 July 2026</a:t>
            </a:r>
          </a:p>
        </p:txBody>
      </p:sp>
      <p:sp>
        <p:nvSpPr>
          <p:cNvPr id="268" name="Oval 267"/>
          <p:cNvSpPr/>
          <p:nvPr/>
        </p:nvSpPr>
        <p:spPr>
          <a:xfrm>
            <a:off x="9184233" y="2051913"/>
            <a:ext cx="1711756" cy="1711756"/>
          </a:xfrm>
          <a:prstGeom prst="ellipse">
            <a:avLst/>
          </a:prstGeom>
          <a:noFill/>
          <a:ln w="12700">
            <a:solidFill>
              <a:srgbClr val="284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9445752" y="2313432"/>
            <a:ext cx="1188720" cy="1188720"/>
          </a:xfrm>
          <a:prstGeom prst="ellipse">
            <a:avLst/>
          </a:prstGeom>
          <a:noFill/>
          <a:ln w="22860">
            <a:solidFill>
              <a:srgbClr val="5E8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9802368" y="2670048"/>
            <a:ext cx="475488" cy="47548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71" name="Connector 270"/>
          <p:cNvCxnSpPr/>
          <p:nvPr/>
        </p:nvCxnSpPr>
        <p:spPr>
          <a:xfrm>
            <a:off x="8910828" y="2907792"/>
            <a:ext cx="511149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2" name="Connector 271"/>
          <p:cNvCxnSpPr/>
          <p:nvPr/>
        </p:nvCxnSpPr>
        <p:spPr>
          <a:xfrm>
            <a:off x="10658246" y="2907792"/>
            <a:ext cx="511150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3" name="Connector 272"/>
          <p:cNvCxnSpPr/>
          <p:nvPr/>
        </p:nvCxnSpPr>
        <p:spPr>
          <a:xfrm>
            <a:off x="10040112" y="1778508"/>
            <a:ext cx="0" cy="511149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4" name="Connector 273"/>
          <p:cNvCxnSpPr/>
          <p:nvPr/>
        </p:nvCxnSpPr>
        <p:spPr>
          <a:xfrm>
            <a:off x="10040112" y="3525926"/>
            <a:ext cx="0" cy="51115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5" name="Rounded Rectangle 274"/>
          <p:cNvSpPr/>
          <p:nvPr/>
        </p:nvSpPr>
        <p:spPr>
          <a:xfrm>
            <a:off x="7406640" y="1353312"/>
            <a:ext cx="1188720" cy="40233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40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7516367" y="1490472"/>
            <a:ext cx="109728" cy="10972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TextBox 276"/>
          <p:cNvSpPr txBox="1"/>
          <p:nvPr/>
        </p:nvSpPr>
        <p:spPr>
          <a:xfrm>
            <a:off x="7708392" y="1481328"/>
            <a:ext cx="7955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F1F5FF"/>
                </a:solidFill>
                <a:latin typeface="Aptos"/>
              </a:rPr>
              <a:t>PROJECT</a:t>
            </a:r>
          </a:p>
        </p:txBody>
      </p:sp>
      <p:sp>
        <p:nvSpPr>
          <p:cNvPr id="278" name="Rounded Rectangle 277"/>
          <p:cNvSpPr/>
          <p:nvPr/>
        </p:nvSpPr>
        <p:spPr>
          <a:xfrm>
            <a:off x="10680192" y="1527048"/>
            <a:ext cx="1188720" cy="40233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40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10789919" y="1664207"/>
            <a:ext cx="109728" cy="10972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10981944" y="1655064"/>
            <a:ext cx="7955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F1F5FF"/>
                </a:solidFill>
                <a:latin typeface="Aptos"/>
              </a:rPr>
              <a:t>KNOWLEDGE</a:t>
            </a:r>
          </a:p>
        </p:txBody>
      </p:sp>
      <p:sp>
        <p:nvSpPr>
          <p:cNvPr id="281" name="Rounded Rectangle 280"/>
          <p:cNvSpPr/>
          <p:nvPr/>
        </p:nvSpPr>
        <p:spPr>
          <a:xfrm>
            <a:off x="7498079" y="4535424"/>
            <a:ext cx="1188720" cy="40233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40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7607807" y="4672584"/>
            <a:ext cx="109728" cy="10972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TextBox 282"/>
          <p:cNvSpPr txBox="1"/>
          <p:nvPr/>
        </p:nvSpPr>
        <p:spPr>
          <a:xfrm>
            <a:off x="7799831" y="4663440"/>
            <a:ext cx="7955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F1F5FF"/>
                </a:solidFill>
                <a:latin typeface="Aptos"/>
              </a:rPr>
              <a:t>REASONING</a:t>
            </a:r>
          </a:p>
        </p:txBody>
      </p:sp>
      <p:sp>
        <p:nvSpPr>
          <p:cNvPr id="284" name="Rounded Rectangle 283"/>
          <p:cNvSpPr/>
          <p:nvPr/>
        </p:nvSpPr>
        <p:spPr>
          <a:xfrm>
            <a:off x="10570464" y="4334256"/>
            <a:ext cx="1188720" cy="40233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406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10680192" y="4471416"/>
            <a:ext cx="109728" cy="109728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TextBox 285"/>
          <p:cNvSpPr txBox="1"/>
          <p:nvPr/>
        </p:nvSpPr>
        <p:spPr>
          <a:xfrm>
            <a:off x="10872216" y="4462272"/>
            <a:ext cx="7955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60" b="1" i="0">
                <a:solidFill>
                  <a:srgbClr val="F1F5FF"/>
                </a:solidFill>
                <a:latin typeface="Aptos"/>
              </a:rPr>
              <a:t>APPROVAL</a:t>
            </a:r>
          </a:p>
        </p:txBody>
      </p:sp>
      <p:cxnSp>
        <p:nvCxnSpPr>
          <p:cNvPr id="287" name="Connector 286"/>
          <p:cNvCxnSpPr/>
          <p:nvPr/>
        </p:nvCxnSpPr>
        <p:spPr>
          <a:xfrm>
            <a:off x="8549640" y="1719072"/>
            <a:ext cx="996696" cy="594360"/>
          </a:xfrm>
          <a:prstGeom prst="line">
            <a:avLst/>
          </a:prstGeom>
          <a:ln w="12700">
            <a:solidFill>
              <a:srgbClr val="2E4A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8" name="Connector 287"/>
          <p:cNvCxnSpPr/>
          <p:nvPr/>
        </p:nvCxnSpPr>
        <p:spPr>
          <a:xfrm flipH="1">
            <a:off x="10607040" y="1929384"/>
            <a:ext cx="64008" cy="384048"/>
          </a:xfrm>
          <a:prstGeom prst="line">
            <a:avLst/>
          </a:prstGeom>
          <a:ln w="12700">
            <a:solidFill>
              <a:srgbClr val="2E4A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9" name="Connector 288"/>
          <p:cNvCxnSpPr/>
          <p:nvPr/>
        </p:nvCxnSpPr>
        <p:spPr>
          <a:xfrm flipV="1">
            <a:off x="8668512" y="3529584"/>
            <a:ext cx="896112" cy="1207008"/>
          </a:xfrm>
          <a:prstGeom prst="line">
            <a:avLst/>
          </a:prstGeom>
          <a:ln w="12700">
            <a:solidFill>
              <a:srgbClr val="2E4A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0" name="Connector 289"/>
          <p:cNvCxnSpPr/>
          <p:nvPr/>
        </p:nvCxnSpPr>
        <p:spPr>
          <a:xfrm flipV="1">
            <a:off x="10561320" y="3538728"/>
            <a:ext cx="0" cy="923544"/>
          </a:xfrm>
          <a:prstGeom prst="line">
            <a:avLst/>
          </a:prstGeom>
          <a:ln w="12700">
            <a:solidFill>
              <a:srgbClr val="2E4A7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1" name="Connector 290"/>
          <p:cNvCxnSpPr/>
          <p:nvPr/>
        </p:nvCxnSpPr>
        <p:spPr>
          <a:xfrm>
            <a:off x="749808" y="6473952"/>
            <a:ext cx="1069848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2" name="TextBox 291"/>
          <p:cNvSpPr txBox="1"/>
          <p:nvPr/>
        </p:nvSpPr>
        <p:spPr>
          <a:xfrm>
            <a:off x="768096" y="6565392"/>
            <a:ext cx="5486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11045952" y="6537960"/>
            <a:ext cx="40233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01 / THE GAP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The Problem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A chat window can answer a prompt. It cannot hold a project.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1856231"/>
            <a:ext cx="4572000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2200" b="1" i="0">
                <a:solidFill>
                  <a:srgbClr val="F1F5FF"/>
                </a:solidFill>
                <a:latin typeface="Aptos Display"/>
              </a:rPr>
              <a:t>Today’s AI coding assistant is optimized for</a:t>
            </a:r>
          </a:p>
          <a:p>
            <a:pPr algn="l">
              <a:lnSpc>
                <a:spcPct val="95000"/>
              </a:lnSpc>
            </a:pPr>
            <a:r>
              <a:rPr sz="2200" b="1" i="0">
                <a:solidFill>
                  <a:srgbClr val="F1F5FF"/>
                </a:solidFill>
                <a:latin typeface="Aptos Display"/>
              </a:rPr>
              <a:t>conversation — not engineering continuity.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907792"/>
            <a:ext cx="43159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7000"/>
              </a:lnSpc>
            </a:pPr>
            <a:r>
              <a:rPr sz="1120" b="0" i="0">
                <a:solidFill>
                  <a:srgbClr val="91A0BA"/>
                </a:solidFill>
                <a:latin typeface="Aptos"/>
              </a:rPr>
              <a:t>The missing layer is not another model. It is the environment around the model: durable context, evidence, planning, and controlled change.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4059936"/>
            <a:ext cx="4114800" cy="100584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A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4297680"/>
            <a:ext cx="3584448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1200" b="1" i="0">
                <a:solidFill>
                  <a:srgbClr val="4BD8F7"/>
                </a:solidFill>
                <a:latin typeface="Aptos"/>
              </a:rPr>
              <a:t>PROMPT  → 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0120" y="4626864"/>
            <a:ext cx="36576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19" b="0" i="0">
                <a:solidFill>
                  <a:srgbClr val="91A0BA"/>
                </a:solidFill>
                <a:latin typeface="Aptos"/>
              </a:rPr>
              <a:t>Useful in the moment. Fragile across the work.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23560" y="1847088"/>
            <a:ext cx="2633472" cy="126187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824728" y="2048256"/>
            <a:ext cx="164592" cy="16459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17336" y="2029968"/>
            <a:ext cx="187451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BD8F7"/>
                </a:solidFill>
                <a:latin typeface="Aptos"/>
              </a:rPr>
              <a:t>CHAT-SHAPED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824728" y="2377440"/>
            <a:ext cx="21762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Conversation is the primary unit; the repository is background.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531352" y="1847088"/>
            <a:ext cx="2633472" cy="126187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8732520" y="2048256"/>
            <a:ext cx="164592" cy="164592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25128" y="2029968"/>
            <a:ext cx="187451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AE8BFF"/>
                </a:solidFill>
                <a:latin typeface="Aptos"/>
              </a:rPr>
              <a:t>STATELESS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732520" y="2377440"/>
            <a:ext cx="21762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Context evaporates between tasks, sessions, and engineers.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3474720"/>
            <a:ext cx="2633472" cy="126187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5824728" y="3675887"/>
            <a:ext cx="164592" cy="16459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17336" y="3657600"/>
            <a:ext cx="187451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5E83FF"/>
                </a:solidFill>
                <a:latin typeface="Aptos"/>
              </a:rPr>
              <a:t>PROMPT-LOCAL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24728" y="4005072"/>
            <a:ext cx="21762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No durable graph of symbols, dependencies, health, or hotspots.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531352" y="3474720"/>
            <a:ext cx="2633472" cy="126187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8732520" y="3675887"/>
            <a:ext cx="164592" cy="16459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025128" y="3657600"/>
            <a:ext cx="1874519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FBF5B"/>
                </a:solidFill>
                <a:latin typeface="Aptos"/>
              </a:rPr>
              <a:t>UNPLANNED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732520" y="4005072"/>
            <a:ext cx="2176272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No goal graph, checkpoints, or governed path from intent to change.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32704" y="5257800"/>
            <a:ext cx="2286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THE DESIGN QUESTION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23560" y="5495544"/>
            <a:ext cx="525780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7000"/>
              </a:lnSpc>
            </a:pPr>
            <a:r>
              <a:rPr sz="1300" b="1" i="0">
                <a:solidFill>
                  <a:srgbClr val="F1F5FF"/>
                </a:solidFill>
                <a:latin typeface="Aptos Display"/>
              </a:rPr>
              <a:t>How do we make AI useful across the lifecycle of a system —</a:t>
            </a:r>
          </a:p>
          <a:p>
            <a:pPr algn="l">
              <a:lnSpc>
                <a:spcPct val="97000"/>
              </a:lnSpc>
            </a:pPr>
            <a:r>
              <a:rPr sz="1300" b="1" i="0">
                <a:solidFill>
                  <a:srgbClr val="F1F5FF"/>
                </a:solidFill>
                <a:latin typeface="Aptos Display"/>
              </a:rPr>
              <a:t>without surrendering engineering judgment?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02 / THE VISION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Make the environment intelligent before making it autonomous.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AURA changes the unit of work from a prompt to a project.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NORTH STAR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56231"/>
            <a:ext cx="2834640" cy="315468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702247" y="2570927"/>
            <a:ext cx="948049" cy="948049"/>
          </a:xfrm>
          <a:prstGeom prst="ellipse">
            <a:avLst/>
          </a:prstGeom>
          <a:noFill/>
          <a:ln w="12700">
            <a:solidFill>
              <a:srgbClr val="284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847088" y="2715768"/>
            <a:ext cx="658368" cy="658368"/>
          </a:xfrm>
          <a:prstGeom prst="ellipse">
            <a:avLst/>
          </a:prstGeom>
          <a:noFill/>
          <a:ln w="22860">
            <a:solidFill>
              <a:srgbClr val="5E8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2044598" y="2913278"/>
            <a:ext cx="263347" cy="263347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1" name="Connector 20"/>
          <p:cNvCxnSpPr/>
          <p:nvPr/>
        </p:nvCxnSpPr>
        <p:spPr>
          <a:xfrm>
            <a:off x="1550822" y="3044952"/>
            <a:ext cx="283098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2518623" y="3044952"/>
            <a:ext cx="283098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2176272" y="2419502"/>
            <a:ext cx="0" cy="283098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2176272" y="3387303"/>
            <a:ext cx="0" cy="283098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1033271" y="3867912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3000"/>
              </a:lnSpc>
            </a:pPr>
            <a:r>
              <a:rPr sz="1900" b="1" i="0">
                <a:solidFill>
                  <a:srgbClr val="F1F5FF"/>
                </a:solidFill>
                <a:latin typeface="Aptos Display"/>
              </a:rPr>
              <a:t>PROJECT</a:t>
            </a:r>
          </a:p>
          <a:p>
            <a:pPr algn="ctr">
              <a:lnSpc>
                <a:spcPct val="93000"/>
              </a:lnSpc>
            </a:pPr>
            <a:r>
              <a:rPr sz="1900" b="1" i="0">
                <a:solidFill>
                  <a:srgbClr val="F1F5FF"/>
                </a:solidFill>
                <a:latin typeface="Aptos Display"/>
              </a:rPr>
              <a:t>AS SYSTEM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33271" y="462686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90" b="0" i="0">
                <a:solidFill>
                  <a:srgbClr val="91A0BA"/>
                </a:solidFill>
                <a:latin typeface="Aptos"/>
              </a:rPr>
              <a:t>AURA keeps the repository, its structure, its decisions, and its changes in one governed environment.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3703320" y="3383280"/>
            <a:ext cx="594360" cy="0"/>
          </a:xfrm>
          <a:prstGeom prst="line">
            <a:avLst/>
          </a:prstGeom>
          <a:ln w="1905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4251960" y="3337560"/>
            <a:ext cx="91440" cy="91440"/>
          </a:xfrm>
          <a:prstGeom prst="triangl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0" y="1856231"/>
            <a:ext cx="27432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THREE INVERSIONS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572000" y="2212848"/>
            <a:ext cx="6382512" cy="83210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4773168" y="2414016"/>
            <a:ext cx="402336" cy="402336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773168" y="2542032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01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58384" y="2359152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KNOWLEDGE BEFORE</a:t>
            </a:r>
          </a:p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GENERATION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90688" y="2386584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The graph and project facts are assembled before the provider is called.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72000" y="3264408"/>
            <a:ext cx="6382512" cy="83210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4773168" y="3465576"/>
            <a:ext cx="402336" cy="402336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73168" y="3593591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358384" y="3410712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DETERMINISTIC BEFORE</a:t>
            </a:r>
          </a:p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PROBABILISTIC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90688" y="3438144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Signals, checks, limits, and arithmetic constrain model judgment.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572000" y="4315968"/>
            <a:ext cx="6382512" cy="83210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4773168" y="4517136"/>
            <a:ext cx="402336" cy="40233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773168" y="4645152"/>
            <a:ext cx="40233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58384" y="4462272"/>
            <a:ext cx="2240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PROPOSAL BEFORE</a:t>
            </a:r>
          </a:p>
          <a:p>
            <a:pPr algn="l">
              <a:lnSpc>
                <a:spcPct val="92000"/>
              </a:lnSpc>
            </a:pPr>
            <a:r>
              <a:rPr sz="1030" b="1" i="0">
                <a:solidFill>
                  <a:srgbClr val="F1F5FF"/>
                </a:solidFill>
                <a:latin typeface="Aptos"/>
              </a:rPr>
              <a:t>MUTATION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90688" y="4489704"/>
            <a:ext cx="2862072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Analyze, diagnose, and plan freely; write only after explicit human acceptance.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572000" y="5458968"/>
            <a:ext cx="6382512" cy="475488"/>
          </a:xfrm>
          <a:prstGeom prst="roundRect">
            <a:avLst/>
          </a:prstGeom>
          <a:solidFill>
            <a:srgbClr val="152B3A"/>
          </a:solidFill>
          <a:ln w="12700">
            <a:solidFill>
              <a:srgbClr val="2C5C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791456" y="5614416"/>
            <a:ext cx="59436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NOT AN AUTONOMOUS EDITOR  ·  A GOVERNED ENGINEERING ENVIRONMENT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03 / SYSTEM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A vertical system of understanding, reasoning, and control.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The desktop is the frame; intelligence is layered around the project.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ARCHITECTURE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04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03320" y="1810512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03320" y="1810512"/>
            <a:ext cx="54864" cy="512064"/>
          </a:xfrm>
          <a:prstGeom prst="rect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904487" y="1984248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4BD8F7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61688" y="1929384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DEVELOPER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65392" y="1975104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intent · selection · approval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6103620" y="2340864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10800000">
            <a:off x="6067044" y="2395728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703320" y="2487168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703320" y="2487168"/>
            <a:ext cx="54864" cy="512064"/>
          </a:xfrm>
          <a:prstGeom prst="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04487" y="2660904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5E83FF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606040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WORKSPACE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65392" y="2651760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React shell · Monaco · context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6103620" y="3017520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10800000">
            <a:off x="6067044" y="3072384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703320" y="3163824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703320" y="3163824"/>
            <a:ext cx="54864" cy="512064"/>
          </a:xfrm>
          <a:prstGeom prst="rect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904487" y="3337560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AE8BFF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61688" y="3282696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KNOWLEDGE FABRIC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65392" y="3328416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coding index · full-stack graph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103620" y="3694176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10800000">
            <a:off x="6067044" y="3749040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703320" y="3840480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703320" y="3840480"/>
            <a:ext cx="54864" cy="512064"/>
          </a:xfrm>
          <a:prstGeom prst="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04487" y="4014216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5E83FF"/>
                </a:solidFill>
                <a:latin typeface="Aptos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361688" y="3959352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ENGINEERING INTELLIGENCE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65392" y="4005072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actions · diagnosis · project facts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6103620" y="4370832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10800000">
            <a:off x="6067044" y="4425696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3703320" y="4517136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3703320" y="4517136"/>
            <a:ext cx="54864" cy="512064"/>
          </a:xfrm>
          <a:prstGeom prst="rect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3904487" y="4690872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FFBF5B"/>
                </a:solidFill>
                <a:latin typeface="Aptos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361688" y="4636008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MISSION CONTROL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65392" y="4681728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goal graph · DAG · checkpoints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6103620" y="5047488"/>
            <a:ext cx="0" cy="91440"/>
          </a:xfrm>
          <a:prstGeom prst="line">
            <a:avLst/>
          </a:prstGeom>
          <a:ln w="13970">
            <a:solidFill>
              <a:srgbClr val="3D56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10800000">
            <a:off x="6067044" y="5102352"/>
            <a:ext cx="73152" cy="73152"/>
          </a:xfrm>
          <a:prstGeom prst="triangle">
            <a:avLst/>
          </a:prstGeom>
          <a:solidFill>
            <a:srgbClr val="3D56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3703320" y="5193792"/>
            <a:ext cx="4800600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0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3703320" y="5193792"/>
            <a:ext cx="54864" cy="512064"/>
          </a:xfrm>
          <a:prstGeom prst="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904487" y="5367528"/>
            <a:ext cx="29260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47DCA2"/>
                </a:solidFill>
                <a:latin typeface="Aptos"/>
              </a:rPr>
              <a:t>06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361688" y="5312664"/>
            <a:ext cx="2331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GOVERNANCE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65392" y="5358383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health · audits · quality gates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68096" y="1938528"/>
            <a:ext cx="2286000" cy="1216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969264" y="2176272"/>
            <a:ext cx="16459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LOCAL PROJECT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69264" y="2487168"/>
            <a:ext cx="1691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 i="0">
                <a:solidFill>
                  <a:srgbClr val="F1F5FF"/>
                </a:solidFill>
                <a:latin typeface="Aptos"/>
              </a:rPr>
              <a:t>Files  ·  Git  ·  profiles</a:t>
            </a:r>
          </a:p>
          <a:p>
            <a:pPr algn="l">
              <a:lnSpc>
                <a:spcPct val="100000"/>
              </a:lnSpc>
            </a:pPr>
            <a:r>
              <a:rPr sz="1060" b="1" i="0">
                <a:solidFill>
                  <a:srgbClr val="F1F5FF"/>
                </a:solidFill>
                <a:latin typeface="Aptos"/>
              </a:rPr>
              <a:t>~/.aura JSON stores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3090672" y="2551176"/>
            <a:ext cx="566928" cy="0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Isosceles Triangle 60"/>
          <p:cNvSpPr/>
          <p:nvPr/>
        </p:nvSpPr>
        <p:spPr>
          <a:xfrm rot="5400000">
            <a:off x="3621024" y="2514600"/>
            <a:ext cx="73152" cy="73152"/>
          </a:xfrm>
          <a:prstGeom prst="triangl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ounded Rectangle 61"/>
          <p:cNvSpPr/>
          <p:nvPr/>
        </p:nvSpPr>
        <p:spPr>
          <a:xfrm>
            <a:off x="768096" y="3867912"/>
            <a:ext cx="2286000" cy="1216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3" name="Connector 62"/>
          <p:cNvCxnSpPr/>
          <p:nvPr/>
        </p:nvCxnSpPr>
        <p:spPr>
          <a:xfrm flipV="1">
            <a:off x="1038758" y="4199656"/>
            <a:ext cx="168981" cy="27158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>
            <a:off x="1038758" y="4226814"/>
            <a:ext cx="66385" cy="159928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5" name="Connector 64"/>
          <p:cNvCxnSpPr/>
          <p:nvPr/>
        </p:nvCxnSpPr>
        <p:spPr>
          <a:xfrm flipH="1">
            <a:off x="1105143" y="4199656"/>
            <a:ext cx="102596" cy="187086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Oval 65"/>
          <p:cNvSpPr/>
          <p:nvPr/>
        </p:nvSpPr>
        <p:spPr>
          <a:xfrm>
            <a:off x="999530" y="4187586"/>
            <a:ext cx="78455" cy="78455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168511" y="4160428"/>
            <a:ext cx="78455" cy="78455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1065916" y="4347514"/>
            <a:ext cx="78455" cy="78455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417320" y="4078224"/>
            <a:ext cx="13258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AE8BFF"/>
                </a:solidFill>
                <a:latin typeface="Aptos"/>
              </a:rPr>
              <a:t>PROJECT TRUTH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69264" y="44348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60" b="1" i="0">
                <a:solidFill>
                  <a:srgbClr val="F1F5FF"/>
                </a:solidFill>
                <a:latin typeface="Aptos"/>
              </a:rPr>
              <a:t>Facts before opinions</a:t>
            </a:r>
          </a:p>
          <a:p>
            <a:pPr algn="l">
              <a:lnSpc>
                <a:spcPct val="100000"/>
              </a:lnSpc>
            </a:pPr>
            <a:r>
              <a:rPr sz="1060" b="1" i="0">
                <a:solidFill>
                  <a:srgbClr val="F1F5FF"/>
                </a:solidFill>
                <a:latin typeface="Aptos"/>
              </a:rPr>
              <a:t>Evidence before action</a:t>
            </a:r>
          </a:p>
        </p:txBody>
      </p:sp>
      <p:cxnSp>
        <p:nvCxnSpPr>
          <p:cNvPr id="71" name="Connector 70"/>
          <p:cNvCxnSpPr/>
          <p:nvPr/>
        </p:nvCxnSpPr>
        <p:spPr>
          <a:xfrm>
            <a:off x="3090672" y="4443984"/>
            <a:ext cx="566928" cy="0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5400000">
            <a:off x="3621024" y="4407408"/>
            <a:ext cx="73152" cy="73152"/>
          </a:xfrm>
          <a:prstGeom prst="triangl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9162288" y="1938528"/>
            <a:ext cx="2267712" cy="1216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9372600" y="2185416"/>
            <a:ext cx="16916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5E83FF"/>
                </a:solidFill>
                <a:latin typeface="Aptos"/>
              </a:rPr>
              <a:t>BYO AI RUNTIME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372600" y="2487168"/>
            <a:ext cx="168249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Provider adapters</a:t>
            </a:r>
          </a:p>
          <a:p>
            <a:pPr algn="l">
              <a:lnSpc>
                <a:spcPct val="100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streaming · model discovery</a:t>
            </a:r>
          </a:p>
        </p:txBody>
      </p:sp>
      <p:cxnSp>
        <p:nvCxnSpPr>
          <p:cNvPr id="76" name="Connector 75"/>
          <p:cNvCxnSpPr/>
          <p:nvPr/>
        </p:nvCxnSpPr>
        <p:spPr>
          <a:xfrm flipH="1">
            <a:off x="8577072" y="4078224"/>
            <a:ext cx="566928" cy="0"/>
          </a:xfrm>
          <a:prstGeom prst="line">
            <a:avLst/>
          </a:prstGeom>
          <a:ln w="12700">
            <a:solidFill>
              <a:srgbClr val="5E8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7" name="Isosceles Triangle 76"/>
          <p:cNvSpPr/>
          <p:nvPr/>
        </p:nvSpPr>
        <p:spPr>
          <a:xfrm rot="16200000">
            <a:off x="8540496" y="4041648"/>
            <a:ext cx="73152" cy="73152"/>
          </a:xfrm>
          <a:prstGeom prst="triangl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Rounded Rectangle 77"/>
          <p:cNvSpPr/>
          <p:nvPr/>
        </p:nvSpPr>
        <p:spPr>
          <a:xfrm>
            <a:off x="9162288" y="3867912"/>
            <a:ext cx="2267712" cy="1216152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736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Pentagon 78"/>
          <p:cNvSpPr/>
          <p:nvPr/>
        </p:nvSpPr>
        <p:spPr>
          <a:xfrm rot="10800000">
            <a:off x="9381744" y="4142232"/>
            <a:ext cx="246888" cy="283921"/>
          </a:xfrm>
          <a:prstGeom prst="homePlate">
            <a:avLst/>
          </a:prstGeom>
          <a:noFill/>
          <a:ln w="1778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0" name="Connector 79"/>
          <p:cNvCxnSpPr/>
          <p:nvPr/>
        </p:nvCxnSpPr>
        <p:spPr>
          <a:xfrm>
            <a:off x="9450872" y="4273082"/>
            <a:ext cx="41971" cy="41971"/>
          </a:xfrm>
          <a:prstGeom prst="line">
            <a:avLst/>
          </a:prstGeom>
          <a:ln w="1397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1" name="Connector 80"/>
          <p:cNvCxnSpPr/>
          <p:nvPr/>
        </p:nvCxnSpPr>
        <p:spPr>
          <a:xfrm flipV="1">
            <a:off x="9492843" y="4228642"/>
            <a:ext cx="76535" cy="86411"/>
          </a:xfrm>
          <a:prstGeom prst="line">
            <a:avLst/>
          </a:prstGeom>
          <a:ln w="1397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TextBox 81"/>
          <p:cNvSpPr txBox="1"/>
          <p:nvPr/>
        </p:nvSpPr>
        <p:spPr>
          <a:xfrm>
            <a:off x="9784080" y="4078224"/>
            <a:ext cx="12801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7DCA2"/>
                </a:solidFill>
                <a:latin typeface="Aptos"/>
              </a:rPr>
              <a:t>TAURI V2 HOST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72600" y="4434840"/>
            <a:ext cx="1691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Thin Rust core</a:t>
            </a:r>
          </a:p>
          <a:p>
            <a:pPr algn="l">
              <a:lnSpc>
                <a:spcPct val="100000"/>
              </a:lnSpc>
            </a:pPr>
            <a:r>
              <a:rPr sz="1010" b="1" i="0">
                <a:solidFill>
                  <a:srgbClr val="F1F5FF"/>
                </a:solidFill>
                <a:latin typeface="Aptos"/>
              </a:rPr>
              <a:t>filesystem boundary</a:t>
            </a:r>
          </a:p>
        </p:txBody>
      </p:sp>
      <p:cxnSp>
        <p:nvCxnSpPr>
          <p:cNvPr id="84" name="Connector 83"/>
          <p:cNvCxnSpPr/>
          <p:nvPr/>
        </p:nvCxnSpPr>
        <p:spPr>
          <a:xfrm flipH="1">
            <a:off x="8577072" y="4581144"/>
            <a:ext cx="566928" cy="0"/>
          </a:xfrm>
          <a:prstGeom prst="line">
            <a:avLst/>
          </a:prstGeom>
          <a:ln w="1270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5" name="Isosceles Triangle 84"/>
          <p:cNvSpPr/>
          <p:nvPr/>
        </p:nvSpPr>
        <p:spPr>
          <a:xfrm rot="16200000">
            <a:off x="8540496" y="4544568"/>
            <a:ext cx="73152" cy="73152"/>
          </a:xfrm>
          <a:prstGeom prst="triangl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68096" y="5925312"/>
            <a:ext cx="10698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0" i="1">
                <a:solidFill>
                  <a:srgbClr val="91A0BA"/>
                </a:solidFill>
                <a:latin typeface="Aptos"/>
              </a:rPr>
              <a:t>The architecture is additive: every subsystem reads from the same project context and returns control to the engineer.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04 / KNOWLEDGE FABRIC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The project becomes queryable before it becomes generative.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Two real engines turn files into searchable context and system-level relationships.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LIVE TODAY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47088"/>
            <a:ext cx="5266944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066543"/>
            <a:ext cx="274320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BD8F7"/>
                </a:solidFill>
                <a:latin typeface="Aptos"/>
              </a:rPr>
              <a:t>CODING KNOWLEDGE ENGINE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2304288"/>
            <a:ext cx="4389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20" b="1" i="0">
                <a:solidFill>
                  <a:srgbClr val="F1F5FF"/>
                </a:solidFill>
                <a:latin typeface="Aptos Display"/>
              </a:rPr>
              <a:t>Files → chunks → lexical retrieval → context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14984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124712" y="3035808"/>
            <a:ext cx="146304" cy="146304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25880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SCAN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4712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filesystem + ignores</a:t>
            </a:r>
          </a:p>
        </p:txBody>
      </p:sp>
      <p:cxnSp>
        <p:nvCxnSpPr>
          <p:cNvPr id="24" name="Connector 23"/>
          <p:cNvCxnSpPr/>
          <p:nvPr/>
        </p:nvCxnSpPr>
        <p:spPr>
          <a:xfrm>
            <a:off x="2258568" y="3127248"/>
            <a:ext cx="146304" cy="0"/>
          </a:xfrm>
          <a:prstGeom prst="line">
            <a:avLst/>
          </a:prstGeom>
          <a:ln w="12700">
            <a:solidFill>
              <a:srgbClr val="3D5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Isosceles Triangle 24"/>
          <p:cNvSpPr/>
          <p:nvPr/>
        </p:nvSpPr>
        <p:spPr>
          <a:xfrm rot="5400000">
            <a:off x="2372868" y="3095244"/>
            <a:ext cx="64008" cy="64008"/>
          </a:xfrm>
          <a:prstGeom prst="triangle">
            <a:avLst/>
          </a:prstGeom>
          <a:solidFill>
            <a:srgbClr val="3D5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2441448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2551176" y="3035808"/>
            <a:ext cx="146304" cy="146304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752344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CHUNK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551176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language-aware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685032" y="3127248"/>
            <a:ext cx="146303" cy="0"/>
          </a:xfrm>
          <a:prstGeom prst="line">
            <a:avLst/>
          </a:prstGeom>
          <a:ln w="12700">
            <a:solidFill>
              <a:srgbClr val="3D5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3799331" y="3095244"/>
            <a:ext cx="64008" cy="64008"/>
          </a:xfrm>
          <a:prstGeom prst="triangle">
            <a:avLst/>
          </a:prstGeom>
          <a:solidFill>
            <a:srgbClr val="3D5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67912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977640" y="3035808"/>
            <a:ext cx="146304" cy="146304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178808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BM25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77640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exact / prefix / fuzzy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05840" y="3639312"/>
            <a:ext cx="43891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91A0BA"/>
                </a:solidFill>
                <a:latin typeface="Aptos"/>
              </a:rPr>
              <a:t>neighboring chunks  ·  token budget  ·  source refs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99632" y="1847088"/>
            <a:ext cx="5230368" cy="2011680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B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37376" y="2066543"/>
            <a:ext cx="283464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AE8BFF"/>
                </a:solidFill>
                <a:latin typeface="Aptos"/>
              </a:rPr>
              <a:t>FULL-STACK KNOWLEDGE ENGINE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37376" y="2304288"/>
            <a:ext cx="4480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20" b="1" i="0">
                <a:solidFill>
                  <a:srgbClr val="F1F5FF"/>
                </a:solidFill>
                <a:latin typeface="Aptos Display"/>
              </a:rPr>
              <a:t>Extractors → typed entities → relation graph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46520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556248" y="3035808"/>
            <a:ext cx="146304" cy="146304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757416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EXTRACT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56248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5 layer extractors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7690104" y="3127248"/>
            <a:ext cx="146304" cy="0"/>
          </a:xfrm>
          <a:prstGeom prst="line">
            <a:avLst/>
          </a:prstGeom>
          <a:ln w="12700">
            <a:solidFill>
              <a:srgbClr val="3D5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7804404" y="3095244"/>
            <a:ext cx="64008" cy="64008"/>
          </a:xfrm>
          <a:prstGeom prst="triangle">
            <a:avLst/>
          </a:prstGeom>
          <a:solidFill>
            <a:srgbClr val="3D5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7872983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982711" y="3035808"/>
            <a:ext cx="146304" cy="146304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183879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LINK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982711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cross-layer edges</a:t>
            </a:r>
          </a:p>
        </p:txBody>
      </p:sp>
      <p:cxnSp>
        <p:nvCxnSpPr>
          <p:cNvPr id="50" name="Connector 49"/>
          <p:cNvCxnSpPr/>
          <p:nvPr/>
        </p:nvCxnSpPr>
        <p:spPr>
          <a:xfrm>
            <a:off x="9116567" y="3127248"/>
            <a:ext cx="146305" cy="0"/>
          </a:xfrm>
          <a:prstGeom prst="line">
            <a:avLst/>
          </a:prstGeom>
          <a:ln w="12700">
            <a:solidFill>
              <a:srgbClr val="3D58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Isosceles Triangle 50"/>
          <p:cNvSpPr/>
          <p:nvPr/>
        </p:nvSpPr>
        <p:spPr>
          <a:xfrm rot="5400000">
            <a:off x="9230867" y="3095244"/>
            <a:ext cx="64008" cy="64008"/>
          </a:xfrm>
          <a:prstGeom prst="triangle">
            <a:avLst/>
          </a:prstGeom>
          <a:solidFill>
            <a:srgbClr val="3D58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ounded Rectangle 51"/>
          <p:cNvSpPr/>
          <p:nvPr/>
        </p:nvSpPr>
        <p:spPr>
          <a:xfrm>
            <a:off x="9299448" y="2852928"/>
            <a:ext cx="1188720" cy="55778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9409176" y="3035808"/>
            <a:ext cx="146304" cy="146304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610344" y="2944368"/>
            <a:ext cx="74980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1" i="0">
                <a:solidFill>
                  <a:srgbClr val="F1F5FF"/>
                </a:solidFill>
                <a:latin typeface="Aptos"/>
              </a:rPr>
              <a:t>QUERY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409176" y="3182112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0" i="0">
                <a:solidFill>
                  <a:srgbClr val="91A0BA"/>
                </a:solidFill>
                <a:latin typeface="Aptos"/>
              </a:rPr>
              <a:t>graph-aware search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37376" y="3639312"/>
            <a:ext cx="45262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 i="0">
                <a:solidFill>
                  <a:srgbClr val="91A0BA"/>
                </a:solidFill>
                <a:latin typeface="Aptos"/>
              </a:rPr>
              <a:t>frontend  ·  backend  ·  database  ·  config  ·  architecture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3401568" y="3959352"/>
            <a:ext cx="0" cy="411480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10800000">
            <a:off x="3364992" y="4334256"/>
            <a:ext cx="73152" cy="73152"/>
          </a:xfrm>
          <a:prstGeom prst="triangl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9" name="Connector 58"/>
          <p:cNvCxnSpPr/>
          <p:nvPr/>
        </p:nvCxnSpPr>
        <p:spPr>
          <a:xfrm>
            <a:off x="8796528" y="3959352"/>
            <a:ext cx="0" cy="411480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Isosceles Triangle 59"/>
          <p:cNvSpPr/>
          <p:nvPr/>
        </p:nvSpPr>
        <p:spPr>
          <a:xfrm rot="10800000">
            <a:off x="8759952" y="4334256"/>
            <a:ext cx="73152" cy="73152"/>
          </a:xfrm>
          <a:prstGeom prst="triangl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ounded Rectangle 60"/>
          <p:cNvSpPr/>
          <p:nvPr/>
        </p:nvSpPr>
        <p:spPr>
          <a:xfrm>
            <a:off x="1408176" y="4425696"/>
            <a:ext cx="9418320" cy="987552"/>
          </a:xfrm>
          <a:prstGeom prst="roundRect">
            <a:avLst/>
          </a:prstGeom>
          <a:solidFill>
            <a:srgbClr val="12243A"/>
          </a:solidFill>
          <a:ln w="12700">
            <a:solidFill>
              <a:srgbClr val="2B5A7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2" name="Connector 61"/>
          <p:cNvCxnSpPr/>
          <p:nvPr/>
        </p:nvCxnSpPr>
        <p:spPr>
          <a:xfrm flipV="1">
            <a:off x="1783080" y="4778654"/>
            <a:ext cx="179222" cy="28804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Connector 62"/>
          <p:cNvCxnSpPr/>
          <p:nvPr/>
        </p:nvCxnSpPr>
        <p:spPr>
          <a:xfrm>
            <a:off x="1783080" y="4807458"/>
            <a:ext cx="70408" cy="169621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Connector 63"/>
          <p:cNvCxnSpPr/>
          <p:nvPr/>
        </p:nvCxnSpPr>
        <p:spPr>
          <a:xfrm flipH="1">
            <a:off x="1853488" y="4778654"/>
            <a:ext cx="108814" cy="198425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Oval 64"/>
          <p:cNvSpPr/>
          <p:nvPr/>
        </p:nvSpPr>
        <p:spPr>
          <a:xfrm>
            <a:off x="1741474" y="4765852"/>
            <a:ext cx="83210" cy="8321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1920697" y="4737049"/>
            <a:ext cx="83210" cy="8321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1811883" y="4935474"/>
            <a:ext cx="83210" cy="8321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221992" y="4617720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4BD8F7"/>
                </a:solidFill>
                <a:latin typeface="Aptos"/>
              </a:rPr>
              <a:t>CONTEXT PACKAGE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221992" y="4928616"/>
            <a:ext cx="72237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files  ·  symbols  ·  relations  ·  neighbors  ·  source refs  ·  token budget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1408176" y="5687568"/>
            <a:ext cx="2816352" cy="246888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1481328" y="5765292"/>
            <a:ext cx="82296" cy="8229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609344" y="5728716"/>
            <a:ext cx="25694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KEYWORD + GRAPH RETRIEVAL IS LIVE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4425696" y="5687568"/>
            <a:ext cx="3749039" cy="246888"/>
          </a:xfrm>
          <a:prstGeom prst="roundRect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4498848" y="5765292"/>
            <a:ext cx="82296" cy="82296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4626864" y="5728716"/>
            <a:ext cx="350215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FBF5B"/>
                </a:solidFill>
                <a:latin typeface="Aptos"/>
              </a:rPr>
              <a:t>VECTOR / EMBEDDING PATH IS A RESERVED SEAM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449056" y="5660136"/>
            <a:ext cx="296265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40" b="0" i="1">
                <a:solidFill>
                  <a:srgbClr val="91A0BA"/>
                </a:solidFill>
                <a:latin typeface="Aptos"/>
              </a:rPr>
              <a:t>The current engines are deterministic and provider-independent; the model receives assembled context, not the raw repository.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05 / AI CODE INTELLIGENCE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Context is a first-class input to every code action.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Selection is the starting point; project relationships are what make the response useful.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IMPLEMENTED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06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0976" y="2103120"/>
            <a:ext cx="347472" cy="34747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08176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4BD8F7"/>
                </a:solidFill>
                <a:latin typeface="Aptos"/>
              </a:rPr>
              <a:t>SELECTION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Monaco range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file + symbol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2642615" y="2624328"/>
            <a:ext cx="237745" cy="0"/>
          </a:xfrm>
          <a:prstGeom prst="line">
            <a:avLst/>
          </a:prstGeom>
          <a:ln w="13970">
            <a:solidFill>
              <a:srgbClr val="4965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2843784" y="2587752"/>
            <a:ext cx="73152" cy="73152"/>
          </a:xfrm>
          <a:prstGeom prst="triangle">
            <a:avLst/>
          </a:prstGeom>
          <a:solidFill>
            <a:srgbClr val="496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2944368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127248" y="2103120"/>
            <a:ext cx="347472" cy="34747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127248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84448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5E83FF"/>
                </a:solidFill>
                <a:latin typeface="Aptos"/>
              </a:rPr>
              <a:t>CONTEXT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27248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dependencies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dependents + graph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4818888" y="2624328"/>
            <a:ext cx="237743" cy="0"/>
          </a:xfrm>
          <a:prstGeom prst="line">
            <a:avLst/>
          </a:prstGeom>
          <a:ln w="13970">
            <a:solidFill>
              <a:srgbClr val="4965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5020055" y="2587752"/>
            <a:ext cx="73152" cy="73152"/>
          </a:xfrm>
          <a:prstGeom prst="triangle">
            <a:avLst/>
          </a:prstGeom>
          <a:solidFill>
            <a:srgbClr val="496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5120640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303520" y="2103120"/>
            <a:ext cx="347472" cy="347472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03520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60720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AE8BFF"/>
                </a:solidFill>
                <a:latin typeface="Aptos"/>
              </a:rPr>
              <a:t>REASONING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provider-neutral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runtime call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6995159" y="2624328"/>
            <a:ext cx="237745" cy="0"/>
          </a:xfrm>
          <a:prstGeom prst="line">
            <a:avLst/>
          </a:prstGeom>
          <a:ln w="13970">
            <a:solidFill>
              <a:srgbClr val="4965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196328" y="2587752"/>
            <a:ext cx="73152" cy="73152"/>
          </a:xfrm>
          <a:prstGeom prst="triangle">
            <a:avLst/>
          </a:prstGeom>
          <a:solidFill>
            <a:srgbClr val="496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7296912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479792" y="2103120"/>
            <a:ext cx="347472" cy="34747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479792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936992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FFBF5B"/>
                </a:solidFill>
                <a:latin typeface="Aptos"/>
              </a:rPr>
              <a:t>RESPONSE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79792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explain · diff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new file · findings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9171432" y="2624328"/>
            <a:ext cx="237744" cy="0"/>
          </a:xfrm>
          <a:prstGeom prst="line">
            <a:avLst/>
          </a:prstGeom>
          <a:ln w="13970">
            <a:solidFill>
              <a:srgbClr val="49658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Isosceles Triangle 43"/>
          <p:cNvSpPr/>
          <p:nvPr/>
        </p:nvSpPr>
        <p:spPr>
          <a:xfrm rot="5400000">
            <a:off x="9372600" y="2587752"/>
            <a:ext cx="73152" cy="73152"/>
          </a:xfrm>
          <a:prstGeom prst="triangle">
            <a:avLst/>
          </a:prstGeom>
          <a:solidFill>
            <a:srgbClr val="4965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9473184" y="1920240"/>
            <a:ext cx="1847088" cy="141732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9656063" y="2103120"/>
            <a:ext cx="347472" cy="34747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656063" y="2221992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05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0113263" y="2075688"/>
            <a:ext cx="969264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47DCA2"/>
                </a:solidFill>
                <a:latin typeface="Aptos"/>
              </a:rPr>
              <a:t>APPROVAL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56063" y="2688336"/>
            <a:ext cx="14173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accept / reject</a:t>
            </a:r>
          </a:p>
          <a:p>
            <a:pPr algn="l">
              <a:lnSpc>
                <a:spcPct val="95000"/>
              </a:lnSpc>
            </a:pPr>
            <a:r>
              <a:rPr sz="1050" b="1" i="0">
                <a:solidFill>
                  <a:srgbClr val="F1F5FF"/>
                </a:solidFill>
                <a:latin typeface="Aptos"/>
              </a:rPr>
              <a:t>save + reindex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768096" y="3858768"/>
            <a:ext cx="3712463" cy="1481328"/>
          </a:xfrm>
          <a:prstGeom prst="roundRect">
            <a:avLst/>
          </a:prstGeom>
          <a:solidFill>
            <a:srgbClr val="101A2A"/>
          </a:solidFill>
          <a:ln w="12700">
            <a:solidFill>
              <a:srgbClr val="29436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14984" y="4087368"/>
            <a:ext cx="3063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BD8F7"/>
                </a:solidFill>
                <a:latin typeface="Aptos"/>
              </a:rPr>
              <a:t>PROJECT CONTEXT / CURRENT SYMBOL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14984" y="4370832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1F5FF"/>
                </a:solidFill>
                <a:latin typeface="Aptos Display"/>
              </a:rPr>
              <a:t>fetchOrders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4984" y="4800600"/>
            <a:ext cx="8686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IMPORTS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14984" y="499262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5E83FF"/>
                </a:solidFill>
                <a:latin typeface="Aptos"/>
              </a:rPr>
              <a:t>4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066543" y="4800600"/>
            <a:ext cx="8686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DEPENDENTS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066543" y="499262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AE8BFF"/>
                </a:solidFill>
                <a:latin typeface="Aptos"/>
              </a:rPr>
              <a:t>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18104" y="4800600"/>
            <a:ext cx="8686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RISK FLOOR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18104" y="4992624"/>
            <a:ext cx="868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0">
                <a:solidFill>
                  <a:srgbClr val="FFBF5B"/>
                </a:solidFill>
                <a:latin typeface="Aptos"/>
              </a:rPr>
              <a:t>medium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873752" y="3986784"/>
            <a:ext cx="62910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1F5FF"/>
                </a:solidFill>
                <a:latin typeface="Aptos Display"/>
              </a:rPr>
              <a:t>AURA context is already held client-side before the provider request.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892040" y="4489704"/>
            <a:ext cx="53492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060" b="0" i="0">
                <a:solidFill>
                  <a:srgbClr val="91A0BA"/>
                </a:solidFill>
                <a:latin typeface="Aptos"/>
              </a:rPr>
              <a:t>The action surface is deliberately small: explain, refactor, optimize, diagnose, generate tests, add docs, security review, simplify, convert, rename, or custom.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892040" y="5230368"/>
            <a:ext cx="6236208" cy="438912"/>
          </a:xfrm>
          <a:prstGeom prst="roundRect">
            <a:avLst/>
          </a:prstGeom>
          <a:solidFill>
            <a:srgbClr val="162A2D"/>
          </a:solidFill>
          <a:ln w="12700">
            <a:solidFill>
              <a:srgbClr val="2A5F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120640" y="5376672"/>
            <a:ext cx="57607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47DCA2"/>
                </a:solidFill>
                <a:latin typeface="Aptos"/>
              </a:rPr>
              <a:t>NO AUTO-WRITE  ·  ACTION → PREVIEW → HUMAN ACCEPTANCE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06 / ENGINEERING DIAGNOSIS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Diagnosis is an evidence pipeline, not a guess.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Ten stages narrow uncertainty, compare candidate patches, and stop before an unsafe write.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IMPLEMENTED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07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14400" y="2039112"/>
            <a:ext cx="274320" cy="27432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98448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BD8F7"/>
                </a:solidFill>
                <a:latin typeface="Aptos"/>
              </a:rPr>
              <a:t>GATHER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filesystem · graph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git · compiler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026664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3172968" y="2039112"/>
            <a:ext cx="274320" cy="274320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172968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57016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5E83FF"/>
                </a:solidFill>
                <a:latin typeface="Aptos"/>
              </a:rPr>
              <a:t>CLASSIFY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72968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deterministic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category + evidence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285232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5431536" y="2039112"/>
            <a:ext cx="274320" cy="274320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31536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815584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FFBF5B"/>
                </a:solidFill>
                <a:latin typeface="Aptos"/>
              </a:rPr>
              <a:t>UNKNOWN?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31536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honest stop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no patch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43800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90104" y="2039112"/>
            <a:ext cx="274320" cy="274320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690104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74152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AE8BFF"/>
                </a:solidFill>
                <a:latin typeface="Aptos"/>
              </a:rPr>
              <a:t>ROOT CAUSE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690104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AI explanation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over signals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9802368" y="188366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9948672" y="2039112"/>
            <a:ext cx="274320" cy="274320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948672" y="213969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332720" y="202996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5E83FF"/>
                </a:solidFill>
                <a:latin typeface="Aptos"/>
              </a:rPr>
              <a:t>A / B / 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48672" y="237744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minimal · defensive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refactor-adjacent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68096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914400" y="3273552"/>
            <a:ext cx="274320" cy="27432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14400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298448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BD8F7"/>
                </a:solidFill>
                <a:latin typeface="Aptos"/>
              </a:rPr>
              <a:t>LIMIT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4400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diff stats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exports · layers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026664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3172968" y="3273552"/>
            <a:ext cx="274320" cy="274320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3172968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557016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7DCA2"/>
                </a:solidFill>
                <a:latin typeface="Aptos"/>
              </a:rPr>
              <a:t>SIMULATE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72968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compiler · refs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category · tests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285232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5431536" y="3273552"/>
            <a:ext cx="274320" cy="274320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431536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08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815584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FFBF5B"/>
                </a:solidFill>
                <a:latin typeface="Aptos"/>
              </a:rPr>
              <a:t>CONFIDENCE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431536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scores +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limiter decision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7543800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690104" y="3273552"/>
            <a:ext cx="274320" cy="274320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690104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09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074152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AE8BFF"/>
                </a:solidFill>
                <a:latin typeface="Aptos"/>
              </a:rPr>
              <a:t>REVIEW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690104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AI reviewer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per candidate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9802368" y="3118104"/>
            <a:ext cx="1938528" cy="914400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9948672" y="3273552"/>
            <a:ext cx="274320" cy="274320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948672" y="3374136"/>
            <a:ext cx="274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080C14"/>
                </a:solidFill>
                <a:latin typeface="Aptos"/>
              </a:rPr>
              <a:t>10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32720" y="3264408"/>
            <a:ext cx="11430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1" i="0">
                <a:solidFill>
                  <a:srgbClr val="47DCA2"/>
                </a:solidFill>
                <a:latin typeface="Aptos"/>
              </a:rPr>
              <a:t>RECOMMEND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948672" y="3611880"/>
            <a:ext cx="160934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comparison</a:t>
            </a:r>
          </a:p>
          <a:p>
            <a:pPr algn="l">
              <a:lnSpc>
                <a:spcPct val="94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ready for human</a:t>
            </a:r>
          </a:p>
        </p:txBody>
      </p:sp>
      <p:cxnSp>
        <p:nvCxnSpPr>
          <p:cNvPr id="67" name="Connector 66"/>
          <p:cNvCxnSpPr/>
          <p:nvPr/>
        </p:nvCxnSpPr>
        <p:spPr>
          <a:xfrm>
            <a:off x="2724912" y="2340864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Isosceles Triangle 67"/>
          <p:cNvSpPr/>
          <p:nvPr/>
        </p:nvSpPr>
        <p:spPr>
          <a:xfrm rot="5400000">
            <a:off x="2939796" y="2308860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H="1">
            <a:off x="10232136" y="3566160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16200000">
            <a:off x="10200132" y="3534156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4983480" y="2340864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5400000">
            <a:off x="5198364" y="2308860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3" name="Connector 72"/>
          <p:cNvCxnSpPr/>
          <p:nvPr/>
        </p:nvCxnSpPr>
        <p:spPr>
          <a:xfrm flipH="1">
            <a:off x="7973567" y="3566160"/>
            <a:ext cx="246889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Isosceles Triangle 73"/>
          <p:cNvSpPr/>
          <p:nvPr/>
        </p:nvSpPr>
        <p:spPr>
          <a:xfrm rot="16200000">
            <a:off x="7941563" y="3534156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5" name="Connector 74"/>
          <p:cNvCxnSpPr/>
          <p:nvPr/>
        </p:nvCxnSpPr>
        <p:spPr>
          <a:xfrm>
            <a:off x="7242048" y="2340864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Isosceles Triangle 75"/>
          <p:cNvSpPr/>
          <p:nvPr/>
        </p:nvSpPr>
        <p:spPr>
          <a:xfrm rot="5400000">
            <a:off x="7456932" y="2308860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7" name="Connector 76"/>
          <p:cNvCxnSpPr/>
          <p:nvPr/>
        </p:nvCxnSpPr>
        <p:spPr>
          <a:xfrm flipH="1">
            <a:off x="5714999" y="3566160"/>
            <a:ext cx="246889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Isosceles Triangle 77"/>
          <p:cNvSpPr/>
          <p:nvPr/>
        </p:nvSpPr>
        <p:spPr>
          <a:xfrm rot="16200000">
            <a:off x="5682995" y="3534156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9" name="Connector 78"/>
          <p:cNvCxnSpPr/>
          <p:nvPr/>
        </p:nvCxnSpPr>
        <p:spPr>
          <a:xfrm>
            <a:off x="9500616" y="2340864"/>
            <a:ext cx="246888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Isosceles Triangle 79"/>
          <p:cNvSpPr/>
          <p:nvPr/>
        </p:nvSpPr>
        <p:spPr>
          <a:xfrm rot="5400000">
            <a:off x="9715500" y="2308860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1" name="Connector 80"/>
          <p:cNvCxnSpPr/>
          <p:nvPr/>
        </p:nvCxnSpPr>
        <p:spPr>
          <a:xfrm flipH="1">
            <a:off x="3456431" y="3566160"/>
            <a:ext cx="246889" cy="0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2" name="Isosceles Triangle 81"/>
          <p:cNvSpPr/>
          <p:nvPr/>
        </p:nvSpPr>
        <p:spPr>
          <a:xfrm rot="16200000">
            <a:off x="3424427" y="3534156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3" name="Connector 82"/>
          <p:cNvCxnSpPr/>
          <p:nvPr/>
        </p:nvCxnSpPr>
        <p:spPr>
          <a:xfrm>
            <a:off x="10424160" y="2807208"/>
            <a:ext cx="0" cy="512064"/>
          </a:xfrm>
          <a:prstGeom prst="line">
            <a:avLst/>
          </a:prstGeom>
          <a:ln w="11430">
            <a:solidFill>
              <a:srgbClr val="46618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Isosceles Triangle 83"/>
          <p:cNvSpPr/>
          <p:nvPr/>
        </p:nvSpPr>
        <p:spPr>
          <a:xfrm rot="10800000">
            <a:off x="10392156" y="3287268"/>
            <a:ext cx="64008" cy="64008"/>
          </a:xfrm>
          <a:prstGeom prst="triangle">
            <a:avLst/>
          </a:prstGeom>
          <a:solidFill>
            <a:srgbClr val="46618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ounded Rectangle 84"/>
          <p:cNvSpPr/>
          <p:nvPr/>
        </p:nvSpPr>
        <p:spPr>
          <a:xfrm>
            <a:off x="768096" y="4718304"/>
            <a:ext cx="10826496" cy="694944"/>
          </a:xfrm>
          <a:prstGeom prst="roundRect">
            <a:avLst/>
          </a:prstGeom>
          <a:solidFill>
            <a:srgbClr val="132235"/>
          </a:solidFill>
          <a:ln w="12700">
            <a:solidFill>
              <a:srgbClr val="2B536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Pentagon 85"/>
          <p:cNvSpPr/>
          <p:nvPr/>
        </p:nvSpPr>
        <p:spPr>
          <a:xfrm rot="10800000">
            <a:off x="1024128" y="4892040"/>
            <a:ext cx="228600" cy="262890"/>
          </a:xfrm>
          <a:prstGeom prst="homePlate">
            <a:avLst/>
          </a:prstGeom>
          <a:noFill/>
          <a:ln w="1778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7" name="Connector 86"/>
          <p:cNvCxnSpPr/>
          <p:nvPr/>
        </p:nvCxnSpPr>
        <p:spPr>
          <a:xfrm>
            <a:off x="1088136" y="5013198"/>
            <a:ext cx="38862" cy="38861"/>
          </a:xfrm>
          <a:prstGeom prst="line">
            <a:avLst/>
          </a:prstGeom>
          <a:ln w="1397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8" name="Connector 87"/>
          <p:cNvCxnSpPr/>
          <p:nvPr/>
        </p:nvCxnSpPr>
        <p:spPr>
          <a:xfrm flipV="1">
            <a:off x="1126998" y="4972050"/>
            <a:ext cx="70866" cy="80009"/>
          </a:xfrm>
          <a:prstGeom prst="line">
            <a:avLst/>
          </a:prstGeom>
          <a:ln w="1397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1426464" y="4855464"/>
            <a:ext cx="1508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7DCA2"/>
                </a:solidFill>
                <a:latin typeface="Aptos"/>
              </a:rPr>
              <a:t>DECISION SURFACE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127248" y="4846320"/>
            <a:ext cx="63093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80" b="1" i="0">
                <a:solidFill>
                  <a:srgbClr val="F1F5FF"/>
                </a:solidFill>
                <a:latin typeface="Aptos"/>
              </a:rPr>
              <a:t>Candidate compare  ·  Monaco diff  ·  patch limiter  ·  accept / reject  ·  memory record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24128" y="5166360"/>
            <a:ext cx="8321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40" b="0" i="0">
                <a:solidFill>
                  <a:srgbClr val="91A0BA"/>
                </a:solidFill>
                <a:latin typeface="Aptos"/>
              </a:rPr>
              <a:t>Diagnosis runs over SSE stage events and writes nothing until an explicit accept action.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9573768" y="4873752"/>
            <a:ext cx="1737360" cy="246888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9646920" y="4951476"/>
            <a:ext cx="82296" cy="8229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9774936" y="4914900"/>
            <a:ext cx="14904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NO WRITE DURING ANALYSIS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68096" y="5751576"/>
            <a:ext cx="10424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00" b="0" i="1">
                <a:solidFill>
                  <a:srgbClr val="91A0BA"/>
                </a:solidFill>
                <a:latin typeface="Aptos"/>
              </a:rPr>
              <a:t>The current implementation makes “unknown” a valid result — a useful property for an engineering system.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07 / MISSION CONTROL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Intent becomes a governed execution graph.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Mission Control turns a request into goals, dependencies, waves, checkpoints, and reviewable proposals.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V3 ENGINE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1828800"/>
            <a:ext cx="18288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PLANNING PIPELINE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86968" y="2295144"/>
            <a:ext cx="265176" cy="265176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86968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261872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INTENT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61872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classification +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refinement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938528" y="2596896"/>
            <a:ext cx="137160" cy="0"/>
          </a:xfrm>
          <a:prstGeom prst="line">
            <a:avLst/>
          </a:prstGeom>
          <a:ln w="12700">
            <a:solidFill>
              <a:srgbClr val="4D64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Isosceles Triangle 23"/>
          <p:cNvSpPr/>
          <p:nvPr/>
        </p:nvSpPr>
        <p:spPr>
          <a:xfrm rot="5400000">
            <a:off x="2043684" y="2564891"/>
            <a:ext cx="64008" cy="64008"/>
          </a:xfrm>
          <a:prstGeom prst="triangle">
            <a:avLst/>
          </a:prstGeom>
          <a:solidFill>
            <a:srgbClr val="4D6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2121408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2240279" y="2295144"/>
            <a:ext cx="265176" cy="265176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40279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2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15184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SIGNALS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615184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health · hotspots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changes · debt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3291839" y="2596896"/>
            <a:ext cx="137161" cy="0"/>
          </a:xfrm>
          <a:prstGeom prst="line">
            <a:avLst/>
          </a:prstGeom>
          <a:ln w="12700">
            <a:solidFill>
              <a:srgbClr val="4D64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5400000">
            <a:off x="3396996" y="2564891"/>
            <a:ext cx="64008" cy="64008"/>
          </a:xfrm>
          <a:prstGeom prst="triangle">
            <a:avLst/>
          </a:prstGeom>
          <a:solidFill>
            <a:srgbClr val="4D6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474720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3593591" y="2295144"/>
            <a:ext cx="265176" cy="265176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93591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3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68496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GOAL GRAPH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68496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goals · tasks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dependencies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4645152" y="2596896"/>
            <a:ext cx="137160" cy="0"/>
          </a:xfrm>
          <a:prstGeom prst="line">
            <a:avLst/>
          </a:prstGeom>
          <a:ln w="12700">
            <a:solidFill>
              <a:srgbClr val="4D64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Isosceles Triangle 37"/>
          <p:cNvSpPr/>
          <p:nvPr/>
        </p:nvSpPr>
        <p:spPr>
          <a:xfrm rot="5400000">
            <a:off x="4750307" y="2564891"/>
            <a:ext cx="64008" cy="64008"/>
          </a:xfrm>
          <a:prstGeom prst="triangle">
            <a:avLst/>
          </a:prstGeom>
          <a:solidFill>
            <a:srgbClr val="4D6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4828031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4946903" y="2295144"/>
            <a:ext cx="265176" cy="265176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946903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21807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RISK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321807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deterministic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analysis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5998464" y="2596896"/>
            <a:ext cx="137159" cy="0"/>
          </a:xfrm>
          <a:prstGeom prst="line">
            <a:avLst/>
          </a:prstGeom>
          <a:ln w="12700">
            <a:solidFill>
              <a:srgbClr val="4D648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Isosceles Triangle 44"/>
          <p:cNvSpPr/>
          <p:nvPr/>
        </p:nvSpPr>
        <p:spPr>
          <a:xfrm rot="5400000">
            <a:off x="6103619" y="2564891"/>
            <a:ext cx="64008" cy="64008"/>
          </a:xfrm>
          <a:prstGeom prst="triangle">
            <a:avLst/>
          </a:prstGeom>
          <a:solidFill>
            <a:srgbClr val="4D648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6181344" y="2148840"/>
            <a:ext cx="1143000" cy="8961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9385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300216" y="2295144"/>
            <a:ext cx="265176" cy="26517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0216" y="2338120"/>
            <a:ext cx="26517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080C14"/>
                </a:solidFill>
                <a:latin typeface="Aptos"/>
              </a:rPr>
              <a:t>5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675120" y="2286000"/>
            <a:ext cx="539496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19" b="1" i="0">
                <a:solidFill>
                  <a:srgbClr val="F1F5FF"/>
                </a:solidFill>
                <a:latin typeface="Aptos"/>
              </a:rPr>
              <a:t>REVIEW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2532888"/>
            <a:ext cx="539496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adversarial</a:t>
            </a:r>
          </a:p>
          <a:p>
            <a:pPr algn="l">
              <a:lnSpc>
                <a:spcPct val="100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quality score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768096" y="3493008"/>
            <a:ext cx="7132320" cy="2084831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005840" y="3730752"/>
            <a:ext cx="34747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FFBF5B"/>
                </a:solidFill>
                <a:latin typeface="Aptos"/>
              </a:rPr>
              <a:t>EXECUTION DAG / DETERMINISTIC WAVES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78992" y="4096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1" i="0">
                <a:solidFill>
                  <a:srgbClr val="4BD8F7"/>
                </a:solidFill>
                <a:latin typeface="Aptos"/>
              </a:rPr>
              <a:t>WAVE 01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70432" y="4370832"/>
            <a:ext cx="914400" cy="38404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1307592" y="4489704"/>
            <a:ext cx="128016" cy="128016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490472" y="4489704"/>
            <a:ext cx="42062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40" b="1" i="0">
                <a:solidFill>
                  <a:srgbClr val="F1F5FF"/>
                </a:solidFill>
                <a:latin typeface="Aptos"/>
              </a:rPr>
              <a:t>task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2157984" y="4562856"/>
            <a:ext cx="585216" cy="0"/>
          </a:xfrm>
          <a:prstGeom prst="line">
            <a:avLst/>
          </a:prstGeom>
          <a:ln w="12700">
            <a:solidFill>
              <a:srgbClr val="4B64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Isosceles Triangle 57"/>
          <p:cNvSpPr/>
          <p:nvPr/>
        </p:nvSpPr>
        <p:spPr>
          <a:xfrm rot="5400000">
            <a:off x="2706624" y="4526280"/>
            <a:ext cx="73152" cy="73152"/>
          </a:xfrm>
          <a:prstGeom prst="triangle">
            <a:avLst/>
          </a:prstGeom>
          <a:solidFill>
            <a:srgbClr val="4B6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880360" y="4096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1" i="0">
                <a:solidFill>
                  <a:srgbClr val="5E83FF"/>
                </a:solidFill>
                <a:latin typeface="Aptos"/>
              </a:rPr>
              <a:t>WAVE 02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2971800" y="4370832"/>
            <a:ext cx="914400" cy="38404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3108960" y="4489704"/>
            <a:ext cx="128016" cy="128016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291840" y="4489704"/>
            <a:ext cx="42062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40" b="1" i="0">
                <a:solidFill>
                  <a:srgbClr val="F1F5FF"/>
                </a:solidFill>
                <a:latin typeface="Aptos"/>
              </a:rPr>
              <a:t>task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3959352" y="4562856"/>
            <a:ext cx="585216" cy="0"/>
          </a:xfrm>
          <a:prstGeom prst="line">
            <a:avLst/>
          </a:prstGeom>
          <a:ln w="12700">
            <a:solidFill>
              <a:srgbClr val="4B64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Isosceles Triangle 63"/>
          <p:cNvSpPr/>
          <p:nvPr/>
        </p:nvSpPr>
        <p:spPr>
          <a:xfrm rot="5400000">
            <a:off x="4507992" y="4526280"/>
            <a:ext cx="73152" cy="73152"/>
          </a:xfrm>
          <a:prstGeom prst="triangle">
            <a:avLst/>
          </a:prstGeom>
          <a:solidFill>
            <a:srgbClr val="4B6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681728" y="4096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1" i="0">
                <a:solidFill>
                  <a:srgbClr val="AE8BFF"/>
                </a:solidFill>
                <a:latin typeface="Aptos"/>
              </a:rPr>
              <a:t>WAVE 03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4773168" y="4370832"/>
            <a:ext cx="914400" cy="38404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4910328" y="4489704"/>
            <a:ext cx="128016" cy="128016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093208" y="4489704"/>
            <a:ext cx="42062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40" b="1" i="0">
                <a:solidFill>
                  <a:srgbClr val="F1F5FF"/>
                </a:solidFill>
                <a:latin typeface="Aptos"/>
              </a:rPr>
              <a:t>task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5760720" y="4562856"/>
            <a:ext cx="585216" cy="0"/>
          </a:xfrm>
          <a:prstGeom prst="line">
            <a:avLst/>
          </a:prstGeom>
          <a:ln w="12700">
            <a:solidFill>
              <a:srgbClr val="4B648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5400000">
            <a:off x="6309360" y="4526280"/>
            <a:ext cx="73152" cy="73152"/>
          </a:xfrm>
          <a:prstGeom prst="triangle">
            <a:avLst/>
          </a:prstGeom>
          <a:solidFill>
            <a:srgbClr val="4B6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6409944" y="4096512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30" b="1" i="0">
                <a:solidFill>
                  <a:srgbClr val="47DCA2"/>
                </a:solidFill>
                <a:latin typeface="Aptos"/>
              </a:rPr>
              <a:t>REVIEW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6501383" y="4370832"/>
            <a:ext cx="914400" cy="38404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3041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6638544" y="4489704"/>
            <a:ext cx="128016" cy="12801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821424" y="4489704"/>
            <a:ext cx="42062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40" b="1" i="0">
                <a:solidFill>
                  <a:srgbClr val="F1F5FF"/>
                </a:solidFill>
                <a:latin typeface="Aptos"/>
              </a:rPr>
              <a:t>gate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24128" y="5093208"/>
            <a:ext cx="52120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0" i="0">
                <a:solidFill>
                  <a:srgbClr val="91A0BA"/>
                </a:solidFill>
                <a:latin typeface="Aptos"/>
              </a:rPr>
              <a:t>queued  →  waiting  →  running  →  review  →  completed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8138160" y="2148840"/>
            <a:ext cx="3273552" cy="941832"/>
          </a:xfrm>
          <a:prstGeom prst="roundRect">
            <a:avLst/>
          </a:prstGeom>
          <a:solidFill>
            <a:srgbClr val="2D2618"/>
          </a:solidFill>
          <a:ln w="12700">
            <a:solidFill>
              <a:srgbClr val="6C55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ounded Rectangle 76"/>
          <p:cNvSpPr/>
          <p:nvPr/>
        </p:nvSpPr>
        <p:spPr>
          <a:xfrm>
            <a:off x="8394192" y="2486070"/>
            <a:ext cx="237744" cy="171175"/>
          </a:xfrm>
          <a:prstGeom prst="roundRect">
            <a:avLst/>
          </a:prstGeom>
          <a:noFill/>
          <a:ln w="16510">
            <a:solidFill>
              <a:srgbClr val="FFB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Arc 77"/>
          <p:cNvSpPr/>
          <p:nvPr/>
        </p:nvSpPr>
        <p:spPr>
          <a:xfrm rot="10800000">
            <a:off x="8436985" y="2395728"/>
            <a:ext cx="152156" cy="147401"/>
          </a:xfrm>
          <a:prstGeom prst="arc">
            <a:avLst/>
          </a:prstGeom>
          <a:noFill/>
          <a:ln w="16510">
            <a:solidFill>
              <a:srgbClr val="FFB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501176" y="2538374"/>
            <a:ext cx="26151" cy="26151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805672" y="2368296"/>
            <a:ext cx="19202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FFBF5B"/>
                </a:solidFill>
                <a:latin typeface="Aptos"/>
              </a:rPr>
              <a:t>PLAN APPROVAL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805672" y="2660904"/>
            <a:ext cx="2240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1" i="0">
                <a:solidFill>
                  <a:srgbClr val="F1F5FF"/>
                </a:solidFill>
                <a:latin typeface="Aptos"/>
              </a:rPr>
              <a:t>No task starts before the whole plan is approved.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8138160" y="3401568"/>
            <a:ext cx="3273552" cy="941832"/>
          </a:xfrm>
          <a:prstGeom prst="roundRect">
            <a:avLst/>
          </a:prstGeom>
          <a:solidFill>
            <a:srgbClr val="162A2D"/>
          </a:solidFill>
          <a:ln w="12700">
            <a:solidFill>
              <a:srgbClr val="2E5C5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ounded Rectangle 82"/>
          <p:cNvSpPr/>
          <p:nvPr/>
        </p:nvSpPr>
        <p:spPr>
          <a:xfrm>
            <a:off x="8394192" y="3738798"/>
            <a:ext cx="237744" cy="171175"/>
          </a:xfrm>
          <a:prstGeom prst="roundRect">
            <a:avLst/>
          </a:prstGeom>
          <a:noFill/>
          <a:ln w="1651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Arc 83"/>
          <p:cNvSpPr/>
          <p:nvPr/>
        </p:nvSpPr>
        <p:spPr>
          <a:xfrm rot="10800000">
            <a:off x="8436985" y="3648456"/>
            <a:ext cx="152156" cy="147401"/>
          </a:xfrm>
          <a:prstGeom prst="arc">
            <a:avLst/>
          </a:prstGeom>
          <a:noFill/>
          <a:ln w="1651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501176" y="3791102"/>
            <a:ext cx="26151" cy="26151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8805672" y="3621024"/>
            <a:ext cx="20116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47DCA2"/>
                </a:solidFill>
                <a:latin typeface="Aptos"/>
              </a:rPr>
              <a:t>TASK ACCEPTANCE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8805672" y="3913632"/>
            <a:ext cx="224028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1" i="0">
                <a:solidFill>
                  <a:srgbClr val="F1F5FF"/>
                </a:solidFill>
                <a:latin typeface="Aptos"/>
              </a:rPr>
              <a:t>A proposal is written only after its task is accepted.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8138160" y="4690872"/>
            <a:ext cx="3273552" cy="886968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8375904" y="4956048"/>
            <a:ext cx="279806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NO UNATTENDED EXECUTION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75904" y="5212080"/>
            <a:ext cx="277977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pause · resume · retry · cancel · replay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08 / ENGINEERING WORKSPACE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A surface for the whole loop — not a single editor pane.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The current desktop brings project navigation, Monaco, context, knowledge, diagnosis, and missions into one frame.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DESKTOP SURFACE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09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28800"/>
            <a:ext cx="10826496" cy="4078224"/>
          </a:xfrm>
          <a:prstGeom prst="roundRect">
            <a:avLst/>
          </a:prstGeom>
          <a:solidFill>
            <a:srgbClr val="0D1421"/>
          </a:solidFill>
          <a:ln w="12700">
            <a:solidFill>
              <a:srgbClr val="2C3B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768096" y="1828800"/>
            <a:ext cx="10826496" cy="384048"/>
          </a:xfrm>
          <a:prstGeom prst="roundRect">
            <a:avLst/>
          </a:prstGeom>
          <a:solidFill>
            <a:srgbClr val="111C2C"/>
          </a:solidFill>
          <a:ln w="12700">
            <a:solidFill>
              <a:srgbClr val="2433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87552" y="1956816"/>
            <a:ext cx="73152" cy="73152"/>
          </a:xfrm>
          <a:prstGeom prst="ellipse">
            <a:avLst/>
          </a:prstGeom>
          <a:solidFill>
            <a:srgbClr val="FF6C6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133856" y="1956816"/>
            <a:ext cx="73152" cy="7315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280160" y="1956816"/>
            <a:ext cx="73152" cy="7315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609344" y="1947672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90" b="1" i="0">
                <a:solidFill>
                  <a:srgbClr val="91A0BA"/>
                </a:solidFill>
                <a:latin typeface="Aptos"/>
              </a:rPr>
              <a:t>AURA / CHECKOUT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75520" y="1947672"/>
            <a:ext cx="12984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720" b="1" i="0">
                <a:solidFill>
                  <a:srgbClr val="60708D"/>
                </a:solidFill>
                <a:latin typeface="Aptos"/>
              </a:rPr>
              <a:t>⌘K  COMMAND BAR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68096" y="2212848"/>
            <a:ext cx="969264" cy="3694176"/>
          </a:xfrm>
          <a:prstGeom prst="rect">
            <a:avLst/>
          </a:prstGeom>
          <a:solidFill>
            <a:srgbClr val="1019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94719" y="2384023"/>
            <a:ext cx="316016" cy="316016"/>
          </a:xfrm>
          <a:prstGeom prst="ellipse">
            <a:avLst/>
          </a:prstGeom>
          <a:noFill/>
          <a:ln w="12700">
            <a:solidFill>
              <a:srgbClr val="284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143000" y="2432303"/>
            <a:ext cx="219456" cy="219456"/>
          </a:xfrm>
          <a:prstGeom prst="ellipse">
            <a:avLst/>
          </a:prstGeom>
          <a:noFill/>
          <a:ln w="22860">
            <a:solidFill>
              <a:srgbClr val="5E8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1208836" y="2498140"/>
            <a:ext cx="87782" cy="8778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1044244" y="2542032"/>
            <a:ext cx="94366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366845" y="2542032"/>
            <a:ext cx="94366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1252728" y="2333548"/>
            <a:ext cx="0" cy="94366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>
            <a:off x="1252728" y="2656149"/>
            <a:ext cx="0" cy="94366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1024128" y="2944368"/>
            <a:ext cx="91440" cy="91440"/>
          </a:xfrm>
          <a:prstGeom prst="ellipse">
            <a:avLst/>
          </a:prstGeom>
          <a:solidFill>
            <a:srgbClr val="60708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197864" y="293979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HOME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05256" y="3310128"/>
            <a:ext cx="694944" cy="283464"/>
          </a:xfrm>
          <a:prstGeom prst="roundRect">
            <a:avLst/>
          </a:prstGeom>
          <a:solidFill>
            <a:srgbClr val="2031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1024128" y="3383280"/>
            <a:ext cx="91440" cy="91440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97864" y="337870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F1F5FF"/>
                </a:solidFill>
                <a:latin typeface="Aptos"/>
              </a:rPr>
              <a:t>PROJECT</a:t>
            </a:r>
          </a:p>
        </p:txBody>
      </p:sp>
      <p:sp>
        <p:nvSpPr>
          <p:cNvPr id="37" name="Oval 36"/>
          <p:cNvSpPr/>
          <p:nvPr/>
        </p:nvSpPr>
        <p:spPr>
          <a:xfrm>
            <a:off x="1024128" y="3822191"/>
            <a:ext cx="91440" cy="9144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97864" y="3817620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KNOW</a:t>
            </a:r>
          </a:p>
        </p:txBody>
      </p:sp>
      <p:sp>
        <p:nvSpPr>
          <p:cNvPr id="39" name="Oval 38"/>
          <p:cNvSpPr/>
          <p:nvPr/>
        </p:nvSpPr>
        <p:spPr>
          <a:xfrm>
            <a:off x="1024128" y="4261104"/>
            <a:ext cx="91440" cy="91440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97864" y="4256532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AI</a:t>
            </a:r>
          </a:p>
        </p:txBody>
      </p:sp>
      <p:sp>
        <p:nvSpPr>
          <p:cNvPr id="41" name="Oval 40"/>
          <p:cNvSpPr/>
          <p:nvPr/>
        </p:nvSpPr>
        <p:spPr>
          <a:xfrm>
            <a:off x="1024128" y="4700016"/>
            <a:ext cx="91440" cy="91440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197864" y="4695444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MISSION</a:t>
            </a:r>
          </a:p>
        </p:txBody>
      </p:sp>
      <p:sp>
        <p:nvSpPr>
          <p:cNvPr id="43" name="Oval 42"/>
          <p:cNvSpPr/>
          <p:nvPr/>
        </p:nvSpPr>
        <p:spPr>
          <a:xfrm>
            <a:off x="1024128" y="5138928"/>
            <a:ext cx="91440" cy="91440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97864" y="513435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00" b="1" i="0">
                <a:solidFill>
                  <a:srgbClr val="91A0BA"/>
                </a:solidFill>
                <a:latin typeface="Aptos"/>
              </a:rPr>
              <a:t>GOV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737360" y="2212848"/>
            <a:ext cx="1920240" cy="3694176"/>
          </a:xfrm>
          <a:prstGeom prst="rect">
            <a:avLst/>
          </a:prstGeom>
          <a:solidFill>
            <a:srgbClr val="101927"/>
          </a:solidFill>
          <a:ln w="12700">
            <a:solidFill>
              <a:srgbClr val="2433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956816" y="24871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4BD8F7"/>
                </a:solidFill>
                <a:latin typeface="Aptos"/>
              </a:rPr>
              <a:t>EXPLORER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993392" y="2880360"/>
            <a:ext cx="594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src</a:t>
            </a:r>
          </a:p>
        </p:txBody>
      </p:sp>
      <p:sp>
        <p:nvSpPr>
          <p:cNvPr id="48" name="Oval 47"/>
          <p:cNvSpPr/>
          <p:nvPr/>
        </p:nvSpPr>
        <p:spPr>
          <a:xfrm>
            <a:off x="2157984" y="3218688"/>
            <a:ext cx="64008" cy="64008"/>
          </a:xfrm>
          <a:prstGeom prst="ellipse">
            <a:avLst/>
          </a:prstGeom>
          <a:solidFill>
            <a:srgbClr val="91A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322576" y="3191256"/>
            <a:ext cx="10607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91A0BA"/>
                </a:solidFill>
                <a:latin typeface="Aptos"/>
              </a:rPr>
              <a:t>components</a:t>
            </a:r>
          </a:p>
        </p:txBody>
      </p:sp>
      <p:sp>
        <p:nvSpPr>
          <p:cNvPr id="50" name="Oval 49"/>
          <p:cNvSpPr/>
          <p:nvPr/>
        </p:nvSpPr>
        <p:spPr>
          <a:xfrm>
            <a:off x="2340864" y="3520439"/>
            <a:ext cx="64008" cy="6400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505456" y="3493008"/>
            <a:ext cx="8778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F1F5FF"/>
                </a:solidFill>
                <a:latin typeface="Aptos"/>
              </a:rPr>
              <a:t>App.tsx</a:t>
            </a:r>
          </a:p>
        </p:txBody>
      </p:sp>
      <p:sp>
        <p:nvSpPr>
          <p:cNvPr id="52" name="Oval 51"/>
          <p:cNvSpPr/>
          <p:nvPr/>
        </p:nvSpPr>
        <p:spPr>
          <a:xfrm>
            <a:off x="2157984" y="3822192"/>
            <a:ext cx="64008" cy="64008"/>
          </a:xfrm>
          <a:prstGeom prst="ellipse">
            <a:avLst/>
          </a:prstGeom>
          <a:solidFill>
            <a:srgbClr val="91A0B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2322576" y="3794760"/>
            <a:ext cx="10607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91A0BA"/>
                </a:solidFill>
                <a:latin typeface="Aptos"/>
              </a:rPr>
              <a:t>workspace</a:t>
            </a:r>
          </a:p>
        </p:txBody>
      </p:sp>
      <p:sp>
        <p:nvSpPr>
          <p:cNvPr id="54" name="Oval 53"/>
          <p:cNvSpPr/>
          <p:nvPr/>
        </p:nvSpPr>
        <p:spPr>
          <a:xfrm>
            <a:off x="2340864" y="4123944"/>
            <a:ext cx="64008" cy="64008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505456" y="4096512"/>
            <a:ext cx="8778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F1F5FF"/>
                </a:solidFill>
                <a:latin typeface="Aptos"/>
              </a:rPr>
              <a:t>mission</a:t>
            </a:r>
          </a:p>
        </p:txBody>
      </p:sp>
      <p:sp>
        <p:nvSpPr>
          <p:cNvPr id="56" name="Oval 55"/>
          <p:cNvSpPr/>
          <p:nvPr/>
        </p:nvSpPr>
        <p:spPr>
          <a:xfrm>
            <a:off x="2340864" y="4425696"/>
            <a:ext cx="64008" cy="6400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505456" y="4398264"/>
            <a:ext cx="8778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F1F5FF"/>
                </a:solidFill>
                <a:latin typeface="Aptos"/>
              </a:rPr>
              <a:t>pipeline.ts</a:t>
            </a:r>
          </a:p>
        </p:txBody>
      </p:sp>
      <p:sp>
        <p:nvSpPr>
          <p:cNvPr id="58" name="Oval 57"/>
          <p:cNvSpPr/>
          <p:nvPr/>
        </p:nvSpPr>
        <p:spPr>
          <a:xfrm>
            <a:off x="2340864" y="4727448"/>
            <a:ext cx="64008" cy="6400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505456" y="4700016"/>
            <a:ext cx="87782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0" i="0">
                <a:solidFill>
                  <a:srgbClr val="F1F5FF"/>
                </a:solidFill>
                <a:latin typeface="Aptos"/>
              </a:rPr>
              <a:t>index.ts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56816" y="5212080"/>
            <a:ext cx="1408176" cy="384048"/>
          </a:xfrm>
          <a:prstGeom prst="roundRect">
            <a:avLst/>
          </a:prstGeom>
          <a:solidFill>
            <a:srgbClr val="16283E"/>
          </a:solidFill>
          <a:ln w="12700">
            <a:solidFill>
              <a:srgbClr val="2B4C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2121408" y="5340096"/>
            <a:ext cx="10972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50" b="1" i="0">
                <a:solidFill>
                  <a:srgbClr val="4BD8F7"/>
                </a:solidFill>
                <a:latin typeface="Aptos"/>
              </a:rPr>
              <a:t>+ ASK AURA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657600" y="2212848"/>
            <a:ext cx="4242816" cy="3694176"/>
          </a:xfrm>
          <a:prstGeom prst="rect">
            <a:avLst/>
          </a:prstGeom>
          <a:solidFill>
            <a:srgbClr val="0B111C"/>
          </a:solidFill>
          <a:ln w="12700">
            <a:solidFill>
              <a:srgbClr val="2433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895344" y="2487168"/>
            <a:ext cx="10972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F1F5FF"/>
                </a:solidFill>
                <a:latin typeface="Aptos"/>
              </a:rPr>
              <a:t>orders.ts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788152" y="2487168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700" b="1" i="0">
                <a:solidFill>
                  <a:srgbClr val="60708D"/>
                </a:solidFill>
                <a:latin typeface="Aptos"/>
              </a:rPr>
              <a:t>CODE  ·  DIFF  ·  DIAGNOSE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77056" y="2907792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12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352544" y="2916936"/>
            <a:ext cx="2578608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877056" y="3127248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13</a:t>
            </a:r>
          </a:p>
        </p:txBody>
      </p:sp>
      <p:sp>
        <p:nvSpPr>
          <p:cNvPr id="68" name="Rectangle 67"/>
          <p:cNvSpPr/>
          <p:nvPr/>
        </p:nvSpPr>
        <p:spPr>
          <a:xfrm>
            <a:off x="4352544" y="3136391"/>
            <a:ext cx="2048256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3877056" y="3346704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14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52544" y="3355848"/>
            <a:ext cx="2816352" cy="50292"/>
          </a:xfrm>
          <a:prstGeom prst="rect">
            <a:avLst/>
          </a:prstGeom>
          <a:solidFill>
            <a:srgbClr val="36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261104" y="3282696"/>
            <a:ext cx="3401568" cy="182880"/>
          </a:xfrm>
          <a:prstGeom prst="rect">
            <a:avLst/>
          </a:prstGeom>
          <a:solidFill>
            <a:srgbClr val="15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877056" y="3566160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15</a:t>
            </a:r>
          </a:p>
        </p:txBody>
      </p:sp>
      <p:sp>
        <p:nvSpPr>
          <p:cNvPr id="73" name="Rectangle 72"/>
          <p:cNvSpPr/>
          <p:nvPr/>
        </p:nvSpPr>
        <p:spPr>
          <a:xfrm>
            <a:off x="4352544" y="3575304"/>
            <a:ext cx="1554480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3877056" y="3785616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16</a:t>
            </a:r>
          </a:p>
        </p:txBody>
      </p:sp>
      <p:sp>
        <p:nvSpPr>
          <p:cNvPr id="75" name="Rectangle 74"/>
          <p:cNvSpPr/>
          <p:nvPr/>
        </p:nvSpPr>
        <p:spPr>
          <a:xfrm>
            <a:off x="4352544" y="3794760"/>
            <a:ext cx="2651760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877056" y="4005072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17</a:t>
            </a:r>
          </a:p>
        </p:txBody>
      </p:sp>
      <p:sp>
        <p:nvSpPr>
          <p:cNvPr id="77" name="Rectangle 76"/>
          <p:cNvSpPr/>
          <p:nvPr/>
        </p:nvSpPr>
        <p:spPr>
          <a:xfrm>
            <a:off x="4352544" y="4014215"/>
            <a:ext cx="2249424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3877056" y="4224528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18</a:t>
            </a:r>
          </a:p>
        </p:txBody>
      </p:sp>
      <p:sp>
        <p:nvSpPr>
          <p:cNvPr id="79" name="Rectangle 78"/>
          <p:cNvSpPr/>
          <p:nvPr/>
        </p:nvSpPr>
        <p:spPr>
          <a:xfrm>
            <a:off x="4352544" y="4233672"/>
            <a:ext cx="3044952" cy="50292"/>
          </a:xfrm>
          <a:prstGeom prst="rect">
            <a:avLst/>
          </a:prstGeom>
          <a:solidFill>
            <a:srgbClr val="36517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4261104" y="4160520"/>
            <a:ext cx="3401568" cy="182880"/>
          </a:xfrm>
          <a:prstGeom prst="rect">
            <a:avLst/>
          </a:prstGeom>
          <a:solidFill>
            <a:srgbClr val="152A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3877056" y="4443984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19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52544" y="4453128"/>
            <a:ext cx="1463040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3877056" y="4663440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20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352544" y="4672583"/>
            <a:ext cx="2450592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877056" y="4882896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21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352544" y="4892040"/>
            <a:ext cx="1938528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3877056" y="5102352"/>
            <a:ext cx="25603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680" b="0" i="0">
                <a:solidFill>
                  <a:srgbClr val="60708D"/>
                </a:solidFill>
                <a:latin typeface="Aptos"/>
              </a:rPr>
              <a:t>22</a:t>
            </a:r>
          </a:p>
        </p:txBody>
      </p:sp>
      <p:sp>
        <p:nvSpPr>
          <p:cNvPr id="88" name="Rectangle 87"/>
          <p:cNvSpPr/>
          <p:nvPr/>
        </p:nvSpPr>
        <p:spPr>
          <a:xfrm>
            <a:off x="4352544" y="5111496"/>
            <a:ext cx="2871216" cy="50292"/>
          </a:xfrm>
          <a:prstGeom prst="rect">
            <a:avLst/>
          </a:prstGeom>
          <a:solidFill>
            <a:srgbClr val="27374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900416" y="2212848"/>
            <a:ext cx="3694176" cy="3694176"/>
          </a:xfrm>
          <a:prstGeom prst="rect">
            <a:avLst/>
          </a:prstGeom>
          <a:solidFill>
            <a:srgbClr val="101927"/>
          </a:solidFill>
          <a:ln w="12700">
            <a:solidFill>
              <a:srgbClr val="24334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8147304" y="2487168"/>
            <a:ext cx="1691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80" b="1" i="0">
                <a:solidFill>
                  <a:srgbClr val="4BD8F7"/>
                </a:solidFill>
                <a:latin typeface="Aptos"/>
              </a:rPr>
              <a:t>PROJECT CONTEXT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8147304" y="2834640"/>
            <a:ext cx="21945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F1F5FF"/>
                </a:solidFill>
                <a:latin typeface="Aptos Display"/>
              </a:rPr>
              <a:t>fetchOrders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147304" y="3273552"/>
            <a:ext cx="12161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SYMBOL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140696" y="3273552"/>
            <a:ext cx="10698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80" b="1" i="0">
                <a:solidFill>
                  <a:srgbClr val="5E83FF"/>
                </a:solidFill>
                <a:latin typeface="Aptos"/>
              </a:rPr>
              <a:t>function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8147304" y="3639312"/>
            <a:ext cx="12161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DEPENDENCIES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0140696" y="3639312"/>
            <a:ext cx="10698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80" b="1" i="0">
                <a:solidFill>
                  <a:srgbClr val="AE8BFF"/>
                </a:solidFill>
                <a:latin typeface="Aptos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8147304" y="4005072"/>
            <a:ext cx="12161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DEPENDENTS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10140696" y="4005072"/>
            <a:ext cx="10698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80" b="1" i="0">
                <a:solidFill>
                  <a:srgbClr val="4BD8F7"/>
                </a:solidFill>
                <a:latin typeface="Aptos"/>
              </a:rPr>
              <a:t>7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8147304" y="4370832"/>
            <a:ext cx="12161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10" b="0" i="0">
                <a:solidFill>
                  <a:srgbClr val="91A0BA"/>
                </a:solidFill>
                <a:latin typeface="Aptos"/>
              </a:rPr>
              <a:t>ARCHITECTURE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10140696" y="4370832"/>
            <a:ext cx="10698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80" b="1" i="0">
                <a:solidFill>
                  <a:srgbClr val="FFBF5B"/>
                </a:solidFill>
                <a:latin typeface="Aptos"/>
              </a:rPr>
              <a:t>backend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147304" y="4855464"/>
            <a:ext cx="3081528" cy="438912"/>
          </a:xfrm>
          <a:prstGeom prst="roundRect">
            <a:avLst/>
          </a:prstGeom>
          <a:solidFill>
            <a:srgbClr val="172A32"/>
          </a:solidFill>
          <a:ln w="12700">
            <a:solidFill>
              <a:srgbClr val="2B5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8385048" y="5010912"/>
            <a:ext cx="25968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10" b="1" i="0">
                <a:solidFill>
                  <a:srgbClr val="47DCA2"/>
                </a:solidFill>
                <a:latin typeface="Aptos"/>
              </a:rPr>
              <a:t>OPEN DIAGNOSIS  →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3657600" y="5449824"/>
            <a:ext cx="4242816" cy="457200"/>
          </a:xfrm>
          <a:prstGeom prst="roundRect">
            <a:avLst/>
          </a:prstGeom>
          <a:solidFill>
            <a:srgbClr val="162137"/>
          </a:solidFill>
          <a:ln w="12700">
            <a:solidFill>
              <a:srgbClr val="2B45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3867912" y="5605272"/>
            <a:ext cx="13258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60" b="1" i="0">
                <a:solidFill>
                  <a:srgbClr val="FFBF5B"/>
                </a:solidFill>
                <a:latin typeface="Aptos"/>
              </a:rPr>
              <a:t>MISSION CONTROL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385816" y="5605272"/>
            <a:ext cx="21579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780" b="1" i="0">
                <a:solidFill>
                  <a:srgbClr val="F1F5FF"/>
                </a:solidFill>
                <a:latin typeface="Aptos"/>
              </a:rPr>
              <a:t>3 tasks  ·  1 review  ·  0 writes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68096" y="6126480"/>
            <a:ext cx="104241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1">
                <a:solidFill>
                  <a:srgbClr val="91A0BA"/>
                </a:solidFill>
                <a:latin typeface="Aptos"/>
              </a:rPr>
              <a:t>One fixed frame. Many project surfaces. State-driven navigation keeps the environment coherent.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09 / SAFETY ARCHITECTURE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Intelligence can be fast. Mutation must be deliberate.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AURA separates analysis, proposal, approval, and file writes into inspectable boundaries.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HUMAN GATED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86384" y="1874519"/>
            <a:ext cx="1719072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41832" y="2103120"/>
            <a:ext cx="164592" cy="16459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34440" y="2011680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ANALYZE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230428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facts + signals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2542032" y="2276856"/>
            <a:ext cx="310895" cy="0"/>
          </a:xfrm>
          <a:prstGeom prst="line">
            <a:avLst/>
          </a:prstGeom>
          <a:ln w="1397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Isosceles Triangle 21"/>
          <p:cNvSpPr/>
          <p:nvPr/>
        </p:nvSpPr>
        <p:spPr>
          <a:xfrm rot="5400000">
            <a:off x="2816351" y="2240280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2935224" y="1874519"/>
            <a:ext cx="1719072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090672" y="2103120"/>
            <a:ext cx="164592" cy="16459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383280" y="2011680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PLAN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383280" y="230428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goals + DAG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4690872" y="2276856"/>
            <a:ext cx="310896" cy="0"/>
          </a:xfrm>
          <a:prstGeom prst="line">
            <a:avLst/>
          </a:prstGeom>
          <a:ln w="1397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Isosceles Triangle 27"/>
          <p:cNvSpPr/>
          <p:nvPr/>
        </p:nvSpPr>
        <p:spPr>
          <a:xfrm rot="5400000">
            <a:off x="4965192" y="2240280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084064" y="1874519"/>
            <a:ext cx="1719072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239512" y="2103120"/>
            <a:ext cx="164592" cy="164592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32120" y="2011680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PROPOSE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230428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diff + explanation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6839712" y="2276856"/>
            <a:ext cx="310896" cy="0"/>
          </a:xfrm>
          <a:prstGeom prst="line">
            <a:avLst/>
          </a:prstGeom>
          <a:ln w="1397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Isosceles Triangle 33"/>
          <p:cNvSpPr/>
          <p:nvPr/>
        </p:nvSpPr>
        <p:spPr>
          <a:xfrm rot="5400000">
            <a:off x="7114032" y="2240280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7232904" y="1874519"/>
            <a:ext cx="1719072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388352" y="2103120"/>
            <a:ext cx="164592" cy="16459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0" y="2011680"/>
            <a:ext cx="10241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40" b="1" i="0">
                <a:solidFill>
                  <a:srgbClr val="F1F5FF"/>
                </a:solidFill>
                <a:latin typeface="Aptos"/>
              </a:rPr>
              <a:t>WRITE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680960" y="230428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0" b="0" i="0">
                <a:solidFill>
                  <a:srgbClr val="91A0BA"/>
                </a:solidFill>
                <a:latin typeface="Aptos"/>
              </a:rPr>
              <a:t>accept + reindex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974336" y="2935224"/>
            <a:ext cx="1938528" cy="420624"/>
          </a:xfrm>
          <a:prstGeom prst="roundRect">
            <a:avLst/>
          </a:prstGeom>
          <a:solidFill>
            <a:srgbClr val="30291A"/>
          </a:solidFill>
          <a:ln w="12700">
            <a:solidFill>
              <a:srgbClr val="755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ounded Rectangle 39"/>
          <p:cNvSpPr/>
          <p:nvPr/>
        </p:nvSpPr>
        <p:spPr>
          <a:xfrm>
            <a:off x="5193792" y="3107496"/>
            <a:ext cx="164592" cy="118506"/>
          </a:xfrm>
          <a:prstGeom prst="roundRect">
            <a:avLst/>
          </a:prstGeom>
          <a:noFill/>
          <a:ln w="16510">
            <a:solidFill>
              <a:srgbClr val="FFB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Arc 40"/>
          <p:cNvSpPr/>
          <p:nvPr/>
        </p:nvSpPr>
        <p:spPr>
          <a:xfrm rot="10800000">
            <a:off x="5223418" y="3044952"/>
            <a:ext cx="105338" cy="102047"/>
          </a:xfrm>
          <a:prstGeom prst="arc">
            <a:avLst/>
          </a:prstGeom>
          <a:noFill/>
          <a:ln w="16510">
            <a:solidFill>
              <a:srgbClr val="FFBF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5267858" y="3143707"/>
            <a:ext cx="18105" cy="18105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95544" y="3081528"/>
            <a:ext cx="12252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FFBF5B"/>
                </a:solidFill>
                <a:latin typeface="Aptos"/>
              </a:rPr>
              <a:t>APPROVE PLAN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114032" y="2935224"/>
            <a:ext cx="1938528" cy="420624"/>
          </a:xfrm>
          <a:prstGeom prst="roundRect">
            <a:avLst/>
          </a:prstGeom>
          <a:solidFill>
            <a:srgbClr val="172D2D"/>
          </a:solidFill>
          <a:ln w="12700">
            <a:solidFill>
              <a:srgbClr val="2B625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ounded Rectangle 44"/>
          <p:cNvSpPr/>
          <p:nvPr/>
        </p:nvSpPr>
        <p:spPr>
          <a:xfrm>
            <a:off x="7333488" y="3107496"/>
            <a:ext cx="164592" cy="118506"/>
          </a:xfrm>
          <a:prstGeom prst="roundRect">
            <a:avLst/>
          </a:prstGeom>
          <a:noFill/>
          <a:ln w="1651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Arc 45"/>
          <p:cNvSpPr/>
          <p:nvPr/>
        </p:nvSpPr>
        <p:spPr>
          <a:xfrm rot="10800000">
            <a:off x="7363114" y="3044952"/>
            <a:ext cx="105338" cy="102047"/>
          </a:xfrm>
          <a:prstGeom prst="arc">
            <a:avLst/>
          </a:prstGeom>
          <a:noFill/>
          <a:ln w="16510">
            <a:solidFill>
              <a:srgbClr val="47DCA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407554" y="3143707"/>
            <a:ext cx="18105" cy="18105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635240" y="3081528"/>
            <a:ext cx="1225296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00" b="1" i="0">
                <a:solidFill>
                  <a:srgbClr val="47DCA2"/>
                </a:solidFill>
                <a:latin typeface="Aptos"/>
              </a:rPr>
              <a:t>ACCEPT TASK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5943600" y="2706624"/>
            <a:ext cx="0" cy="228600"/>
          </a:xfrm>
          <a:prstGeom prst="line">
            <a:avLst/>
          </a:prstGeom>
          <a:ln w="12700">
            <a:solidFill>
              <a:srgbClr val="FFBF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>
            <a:off x="8083296" y="2706624"/>
            <a:ext cx="0" cy="228600"/>
          </a:xfrm>
          <a:prstGeom prst="line">
            <a:avLst/>
          </a:prstGeom>
          <a:ln w="12700">
            <a:solidFill>
              <a:srgbClr val="47DCA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Rounded Rectangle 50"/>
          <p:cNvSpPr/>
          <p:nvPr/>
        </p:nvSpPr>
        <p:spPr>
          <a:xfrm>
            <a:off x="786384" y="3776472"/>
            <a:ext cx="5010912" cy="74980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996696" y="4005072"/>
            <a:ext cx="164592" cy="16459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307592" y="3941063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FFBF5B"/>
                </a:solidFill>
                <a:latin typeface="Aptos"/>
              </a:rPr>
              <a:t>RISK ENGINE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843784" y="3922776"/>
            <a:ext cx="27066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Deterministic risk floors prevent the model from downgrading a dangerous change.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6291072" y="3776472"/>
            <a:ext cx="5010912" cy="74980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01384" y="4005072"/>
            <a:ext cx="164592" cy="16459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812280" y="3941063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5E83FF"/>
                </a:solidFill>
                <a:latin typeface="Aptos"/>
              </a:rPr>
              <a:t>DIFF + SIMULATION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348471" y="3922776"/>
            <a:ext cx="27066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A/B/C candidates are compared, limited, and checked before acceptance.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786384" y="4736592"/>
            <a:ext cx="5010912" cy="74980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996696" y="4965192"/>
            <a:ext cx="164592" cy="16459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307592" y="4901183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BD8F7"/>
                </a:solidFill>
                <a:latin typeface="Aptos"/>
              </a:rPr>
              <a:t>PATH GUARD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843784" y="4882896"/>
            <a:ext cx="27066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Writes resolve inside the project root; traversal outside the project is rejected.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291072" y="4736592"/>
            <a:ext cx="5010912" cy="749808"/>
          </a:xfrm>
          <a:prstGeom prst="roundRect">
            <a:avLst/>
          </a:prstGeom>
          <a:solidFill>
            <a:srgbClr val="111827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6501384" y="4965192"/>
            <a:ext cx="164592" cy="16459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812280" y="4901183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7DCA2"/>
                </a:solidFill>
                <a:latin typeface="Aptos"/>
              </a:rPr>
              <a:t>REINDEX + MEMORY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48471" y="4882896"/>
            <a:ext cx="27066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Accepted changes reindex the project and record the engineering decision.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3675887" y="5760720"/>
            <a:ext cx="4791456" cy="365760"/>
          </a:xfrm>
          <a:prstGeom prst="roundRect">
            <a:avLst/>
          </a:prstGeom>
          <a:solidFill>
            <a:srgbClr val="172B33"/>
          </a:solidFill>
          <a:ln w="12700">
            <a:solidFill>
              <a:srgbClr val="2E62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3913632" y="5879592"/>
            <a:ext cx="43159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90" b="1" i="0">
                <a:solidFill>
                  <a:srgbClr val="47DCA2"/>
                </a:solidFill>
                <a:latin typeface="Aptos"/>
              </a:rPr>
              <a:t>HUMAN IN CONTROL  ·  NO UNATTENDED FILE MUTATION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10 / ENGINEERING INTELLIGENCE PLATFORM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One project truth. Multiple intelligence surfaces.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Knowledge, diagnosis, missions, and workspace are different views over the same engineering context.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SYSTEM VIEW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2020824"/>
            <a:ext cx="2148840" cy="2999232"/>
          </a:xfrm>
          <a:prstGeom prst="roundRect">
            <a:avLst/>
          </a:prstGeom>
          <a:solidFill>
            <a:srgbClr val="12253A"/>
          </a:solidFill>
          <a:ln w="12700">
            <a:solidFill>
              <a:srgbClr val="2C5C7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8" name="Connector 17"/>
          <p:cNvCxnSpPr/>
          <p:nvPr/>
        </p:nvCxnSpPr>
        <p:spPr>
          <a:xfrm flipV="1">
            <a:off x="1660550" y="2456809"/>
            <a:ext cx="245791" cy="39503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1660550" y="2496312"/>
            <a:ext cx="96561" cy="232623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1757111" y="2456809"/>
            <a:ext cx="149230" cy="272126"/>
          </a:xfrm>
          <a:prstGeom prst="line">
            <a:avLst/>
          </a:prstGeom>
          <a:ln w="1270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1603491" y="2439253"/>
            <a:ext cx="114117" cy="114117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1849282" y="2399751"/>
            <a:ext cx="114117" cy="114117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1700052" y="2671876"/>
            <a:ext cx="114117" cy="114117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4984" y="3044952"/>
            <a:ext cx="1645920" cy="4846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2000"/>
              </a:lnSpc>
            </a:pPr>
            <a:r>
              <a:rPr sz="2000" b="1" i="0">
                <a:solidFill>
                  <a:srgbClr val="F1F5FF"/>
                </a:solidFill>
                <a:latin typeface="Aptos Display"/>
              </a:rPr>
              <a:t>KNOWLEDGE</a:t>
            </a:r>
          </a:p>
          <a:p>
            <a:pPr algn="ctr">
              <a:lnSpc>
                <a:spcPct val="92000"/>
              </a:lnSpc>
            </a:pPr>
            <a:r>
              <a:rPr sz="2000" b="1" i="0">
                <a:solidFill>
                  <a:srgbClr val="F1F5FF"/>
                </a:solidFill>
                <a:latin typeface="Aptos Display"/>
              </a:rPr>
              <a:t>FABRIC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42415" y="3904487"/>
            <a:ext cx="16002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91A0BA"/>
                </a:solidFill>
                <a:latin typeface="Aptos"/>
              </a:rPr>
              <a:t>facts · entities</a:t>
            </a:r>
          </a:p>
          <a:p>
            <a:pPr algn="ctr">
              <a:lnSpc>
                <a:spcPct val="100000"/>
              </a:lnSpc>
            </a:pPr>
            <a:r>
              <a:rPr sz="1000" b="0" i="0">
                <a:solidFill>
                  <a:srgbClr val="91A0BA"/>
                </a:solidFill>
                <a:latin typeface="Aptos"/>
              </a:rPr>
              <a:t>relations · context</a:t>
            </a:r>
          </a:p>
        </p:txBody>
      </p:sp>
      <p:cxnSp>
        <p:nvCxnSpPr>
          <p:cNvPr id="26" name="Connector 25"/>
          <p:cNvCxnSpPr/>
          <p:nvPr/>
        </p:nvCxnSpPr>
        <p:spPr>
          <a:xfrm flipV="1">
            <a:off x="2990088" y="2615184"/>
            <a:ext cx="585216" cy="905256"/>
          </a:xfrm>
          <a:prstGeom prst="line">
            <a:avLst/>
          </a:prstGeom>
          <a:ln w="13970">
            <a:solidFill>
              <a:srgbClr val="3D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Isosceles Triangle 26"/>
          <p:cNvSpPr/>
          <p:nvPr/>
        </p:nvSpPr>
        <p:spPr>
          <a:xfrm>
            <a:off x="3543300" y="2583179"/>
            <a:ext cx="64008" cy="64008"/>
          </a:xfrm>
          <a:prstGeom prst="triangle">
            <a:avLst/>
          </a:prstGeom>
          <a:solidFill>
            <a:srgbClr val="3D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2990088" y="3520440"/>
            <a:ext cx="585216" cy="9144"/>
          </a:xfrm>
          <a:prstGeom prst="line">
            <a:avLst/>
          </a:prstGeom>
          <a:ln w="13970">
            <a:solidFill>
              <a:srgbClr val="3D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Isosceles Triangle 28"/>
          <p:cNvSpPr/>
          <p:nvPr/>
        </p:nvSpPr>
        <p:spPr>
          <a:xfrm rot="5400000">
            <a:off x="3543300" y="3497579"/>
            <a:ext cx="64008" cy="64008"/>
          </a:xfrm>
          <a:prstGeom prst="triangle">
            <a:avLst/>
          </a:prstGeom>
          <a:solidFill>
            <a:srgbClr val="3D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" name="Connector 29"/>
          <p:cNvCxnSpPr/>
          <p:nvPr/>
        </p:nvCxnSpPr>
        <p:spPr>
          <a:xfrm>
            <a:off x="2990088" y="3520440"/>
            <a:ext cx="585216" cy="923544"/>
          </a:xfrm>
          <a:prstGeom prst="line">
            <a:avLst/>
          </a:prstGeom>
          <a:ln w="13970">
            <a:solidFill>
              <a:srgbClr val="3D608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Isosceles Triangle 30"/>
          <p:cNvSpPr/>
          <p:nvPr/>
        </p:nvSpPr>
        <p:spPr>
          <a:xfrm rot="10800000">
            <a:off x="3543300" y="4411980"/>
            <a:ext cx="64008" cy="64008"/>
          </a:xfrm>
          <a:prstGeom prst="triangle">
            <a:avLst/>
          </a:prstGeom>
          <a:solidFill>
            <a:srgbClr val="3D608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657600" y="2020824"/>
            <a:ext cx="3383280" cy="69494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57600" y="2020824"/>
            <a:ext cx="54864" cy="694944"/>
          </a:xfrm>
          <a:prstGeom prst="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922776" y="2157984"/>
            <a:ext cx="267004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AI CODE INTELLIGENCE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922776" y="2414016"/>
            <a:ext cx="2724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91A0BA"/>
                </a:solidFill>
                <a:latin typeface="Aptos"/>
              </a:rPr>
              <a:t>selection → context → action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7086600" y="2368296"/>
            <a:ext cx="621792" cy="0"/>
          </a:xfrm>
          <a:prstGeom prst="line">
            <a:avLst/>
          </a:prstGeom>
          <a:ln w="12700">
            <a:solidFill>
              <a:srgbClr val="5E8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7676388" y="2336291"/>
            <a:ext cx="64008" cy="64008"/>
          </a:xfrm>
          <a:prstGeom prst="triangl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3657600" y="2935224"/>
            <a:ext cx="3383280" cy="69494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657600" y="2935224"/>
            <a:ext cx="54864" cy="694944"/>
          </a:xfrm>
          <a:prstGeom prst="rect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3922776" y="3072384"/>
            <a:ext cx="267004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DIAGNOSIS ENGINE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22776" y="3328416"/>
            <a:ext cx="2724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91A0BA"/>
                </a:solidFill>
                <a:latin typeface="Aptos"/>
              </a:rPr>
              <a:t>signals → candidates → review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7086600" y="3282696"/>
            <a:ext cx="621792" cy="0"/>
          </a:xfrm>
          <a:prstGeom prst="line">
            <a:avLst/>
          </a:prstGeom>
          <a:ln w="12700">
            <a:solidFill>
              <a:srgbClr val="AE8B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Isosceles Triangle 42"/>
          <p:cNvSpPr/>
          <p:nvPr/>
        </p:nvSpPr>
        <p:spPr>
          <a:xfrm rot="5400000">
            <a:off x="7676388" y="3250691"/>
            <a:ext cx="64008" cy="64008"/>
          </a:xfrm>
          <a:prstGeom prst="triangl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657600" y="3849624"/>
            <a:ext cx="3383280" cy="69494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657600" y="3849624"/>
            <a:ext cx="54864" cy="694944"/>
          </a:xfrm>
          <a:prstGeom prst="rect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22776" y="3986784"/>
            <a:ext cx="2670048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MISSION CONTROL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922776" y="4242816"/>
            <a:ext cx="272491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9" b="0" i="0">
                <a:solidFill>
                  <a:srgbClr val="91A0BA"/>
                </a:solidFill>
                <a:latin typeface="Aptos"/>
              </a:rPr>
              <a:t>intent → graph → execution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7086600" y="4197096"/>
            <a:ext cx="621792" cy="0"/>
          </a:xfrm>
          <a:prstGeom prst="line">
            <a:avLst/>
          </a:prstGeom>
          <a:ln w="12700">
            <a:solidFill>
              <a:srgbClr val="FFBF5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7676388" y="4165091"/>
            <a:ext cx="64008" cy="64008"/>
          </a:xfrm>
          <a:prstGeom prst="triangl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7772400" y="2020824"/>
            <a:ext cx="3639312" cy="2999232"/>
          </a:xfrm>
          <a:prstGeom prst="roundRect">
            <a:avLst/>
          </a:prstGeom>
          <a:solidFill>
            <a:srgbClr val="131F2D"/>
          </a:solidFill>
          <a:ln w="12700">
            <a:solidFill>
              <a:srgbClr val="2F465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046720" y="2304288"/>
            <a:ext cx="256032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7DCA2"/>
                </a:solidFill>
                <a:latin typeface="Aptos"/>
              </a:rPr>
              <a:t>SHARED GOVERNED LOOP</a:t>
            </a:r>
          </a:p>
        </p:txBody>
      </p:sp>
      <p:sp>
        <p:nvSpPr>
          <p:cNvPr id="52" name="Oval 51"/>
          <p:cNvSpPr/>
          <p:nvPr/>
        </p:nvSpPr>
        <p:spPr>
          <a:xfrm>
            <a:off x="8083296" y="2706624"/>
            <a:ext cx="109728" cy="10972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321040" y="268833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DIFF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8138160" y="2825496"/>
            <a:ext cx="0" cy="228600"/>
          </a:xfrm>
          <a:prstGeom prst="line">
            <a:avLst/>
          </a:prstGeom>
          <a:ln w="10160">
            <a:solidFill>
              <a:srgbClr val="39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Oval 54"/>
          <p:cNvSpPr/>
          <p:nvPr/>
        </p:nvSpPr>
        <p:spPr>
          <a:xfrm>
            <a:off x="8083296" y="3072384"/>
            <a:ext cx="109728" cy="109728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8321040" y="305409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APPROVAL</a:t>
            </a:r>
          </a:p>
        </p:txBody>
      </p:sp>
      <p:cxnSp>
        <p:nvCxnSpPr>
          <p:cNvPr id="57" name="Connector 56"/>
          <p:cNvCxnSpPr/>
          <p:nvPr/>
        </p:nvCxnSpPr>
        <p:spPr>
          <a:xfrm>
            <a:off x="8138160" y="3191256"/>
            <a:ext cx="0" cy="228600"/>
          </a:xfrm>
          <a:prstGeom prst="line">
            <a:avLst/>
          </a:prstGeom>
          <a:ln w="10160">
            <a:solidFill>
              <a:srgbClr val="39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Oval 57"/>
          <p:cNvSpPr/>
          <p:nvPr/>
        </p:nvSpPr>
        <p:spPr>
          <a:xfrm>
            <a:off x="8083296" y="3438144"/>
            <a:ext cx="109728" cy="10972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8321040" y="341985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EXECUTION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138160" y="3557016"/>
            <a:ext cx="0" cy="228600"/>
          </a:xfrm>
          <a:prstGeom prst="line">
            <a:avLst/>
          </a:prstGeom>
          <a:ln w="10160">
            <a:solidFill>
              <a:srgbClr val="39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Oval 60"/>
          <p:cNvSpPr/>
          <p:nvPr/>
        </p:nvSpPr>
        <p:spPr>
          <a:xfrm>
            <a:off x="8083296" y="3803904"/>
            <a:ext cx="109728" cy="10972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321040" y="378561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REINDEX</a:t>
            </a:r>
          </a:p>
        </p:txBody>
      </p:sp>
      <p:cxnSp>
        <p:nvCxnSpPr>
          <p:cNvPr id="63" name="Connector 62"/>
          <p:cNvCxnSpPr/>
          <p:nvPr/>
        </p:nvCxnSpPr>
        <p:spPr>
          <a:xfrm>
            <a:off x="8138160" y="3922776"/>
            <a:ext cx="0" cy="228600"/>
          </a:xfrm>
          <a:prstGeom prst="line">
            <a:avLst/>
          </a:prstGeom>
          <a:ln w="10160">
            <a:solidFill>
              <a:srgbClr val="39506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Oval 63"/>
          <p:cNvSpPr/>
          <p:nvPr/>
        </p:nvSpPr>
        <p:spPr>
          <a:xfrm>
            <a:off x="8083296" y="4169663"/>
            <a:ext cx="109728" cy="109728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321040" y="4151376"/>
            <a:ext cx="117043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60" b="1" i="0">
                <a:solidFill>
                  <a:srgbClr val="F1F5FF"/>
                </a:solidFill>
                <a:latin typeface="Aptos"/>
              </a:rPr>
              <a:t>MEMORY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321040" y="4590288"/>
            <a:ext cx="2697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" b="0" i="1">
                <a:solidFill>
                  <a:srgbClr val="91A0BA"/>
                </a:solidFill>
                <a:latin typeface="Aptos"/>
              </a:rPr>
              <a:t>The provider is a verbalizer over AURA context — not the source of truth.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768096" y="5449824"/>
            <a:ext cx="10643616" cy="512064"/>
          </a:xfrm>
          <a:prstGeom prst="roundRect">
            <a:avLst/>
          </a:prstGeom>
          <a:solidFill>
            <a:srgbClr val="162A39"/>
          </a:solidFill>
          <a:ln w="12700">
            <a:solidFill>
              <a:srgbClr val="2C5B7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060704" y="5623560"/>
            <a:ext cx="1007668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19" b="1" i="0">
                <a:solidFill>
                  <a:srgbClr val="4BD8F7"/>
                </a:solidFill>
                <a:latin typeface="Aptos"/>
              </a:rPr>
              <a:t>ONE GRAPH  ·  DIFFERENT CONTEXT PACKS  ·  EXPLICIT HUMAN CONTROL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11 / CURRENT STATUS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What is real in the current working tree.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Implemented surfaces only. No roadmap concepts are included on this slide.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IMPLEMENTED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12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74519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0976" y="2057400"/>
            <a:ext cx="155448" cy="15544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584" y="2020824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5E83FF"/>
                </a:solidFill>
                <a:latin typeface="Aptos"/>
              </a:rPr>
              <a:t>DESKTOP SHELL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0976" y="2295144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React/Vite · Zustand · command palette · theme tokens · Tauri v2 host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443983" y="1874519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4626864" y="2057400"/>
            <a:ext cx="155448" cy="15544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919471" y="2020824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BD8F7"/>
                </a:solidFill>
                <a:latin typeface="Aptos"/>
              </a:rPr>
              <a:t>PROJECT LIFECYCLE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26864" y="2295144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add / open / profile · session restore · project-scoped workspace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9871" y="1874519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302751" y="2057400"/>
            <a:ext cx="155448" cy="155448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595359" y="2020824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BD8F7"/>
                </a:solidFill>
                <a:latin typeface="Aptos"/>
              </a:rPr>
              <a:t>CODING KNOWLEDGE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02751" y="2295144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recursive + incremental index · BM25 search · token-budgeted context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" y="2944368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50976" y="3127248"/>
            <a:ext cx="155448" cy="15544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584" y="3090672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AE8BFF"/>
                </a:solidFill>
                <a:latin typeface="Aptos"/>
              </a:rPr>
              <a:t>FULL-STACK GRAPH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0976" y="3364991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five extractors · typed entities / relations · persistent graph-aware 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443983" y="2944368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626864" y="3127248"/>
            <a:ext cx="155448" cy="155448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919471" y="3090672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5E83FF"/>
                </a:solidFill>
                <a:latin typeface="Aptos"/>
              </a:rPr>
              <a:t>BYO AI RUNTIME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626864" y="3364991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provider adapters · streaming · model discovery · local HTTP/SSE service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8119871" y="2944368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8302751" y="3127248"/>
            <a:ext cx="155448" cy="155448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595359" y="3090672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AE8BFF"/>
                </a:solidFill>
                <a:latin typeface="Aptos"/>
              </a:rPr>
              <a:t>AI CODE WORKSPACE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02751" y="3364991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context panel · grounded actions · diff / new-file / findings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" y="4014215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950976" y="4197096"/>
            <a:ext cx="155448" cy="155448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43584" y="4160520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FFBF5B"/>
                </a:solidFill>
                <a:latin typeface="Aptos"/>
              </a:rPr>
              <a:t>DIAGNOSIS ENGINE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50976" y="4434840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real signals · A/B/C candidates · simulation · review · accept/reject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443983" y="4014215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4626864" y="4197096"/>
            <a:ext cx="155448" cy="155448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919471" y="4160520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FFBF5B"/>
                </a:solidFill>
                <a:latin typeface="Aptos"/>
              </a:rPr>
              <a:t>MISSION CONTROL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626864" y="4434840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goal graph · DAG waves · checkpoints · replay · global dashboard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119871" y="4014215"/>
            <a:ext cx="3383280" cy="81381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8302751" y="4197096"/>
            <a:ext cx="155448" cy="155448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8595359" y="4160520"/>
            <a:ext cx="26060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30" b="1" i="0">
                <a:solidFill>
                  <a:srgbClr val="47DCA2"/>
                </a:solidFill>
                <a:latin typeface="Aptos"/>
              </a:rPr>
              <a:t>WORKFLOWS + MEMORY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02751" y="4434840"/>
            <a:ext cx="2926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19" b="1" i="0">
                <a:solidFill>
                  <a:srgbClr val="F1F5FF"/>
                </a:solidFill>
                <a:latin typeface="Aptos"/>
              </a:rPr>
              <a:t>visual workflow store/run path · basic engineering decision/event records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" y="5385816"/>
            <a:ext cx="10771632" cy="512064"/>
          </a:xfrm>
          <a:prstGeom prst="roundRect">
            <a:avLst/>
          </a:prstGeom>
          <a:solidFill>
            <a:srgbClr val="172A2D"/>
          </a:solidFill>
          <a:ln w="12700">
            <a:solidFill>
              <a:srgbClr val="2D5A5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" y="5559552"/>
            <a:ext cx="1027785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00" b="1" i="0">
                <a:solidFill>
                  <a:srgbClr val="47DCA2"/>
                </a:solidFill>
                <a:latin typeface="Aptos"/>
              </a:rPr>
              <a:t>CURRENT TRUTH  ·  REAL FILES  ·  REAL INDEXES  ·  REAL SSE EVENTS  ·  HUMAN-GATED WRITES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12 / FUTURE ROADMAP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Build the learning loop — without weakening the gates.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The next horizon is separated from today’s implemented behavior by design.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FUTURE / IN PROGRESS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865376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87552" y="2029968"/>
            <a:ext cx="1426464" cy="246888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060704" y="2107692"/>
            <a:ext cx="82296" cy="8229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188720" y="207111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IN PROGRESS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88336" y="2048256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ENGINEERING MEMORY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" y="2386584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Durable decision and event records are integrated; pattern, experience, graph, and insight depth are still expanding.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72783" y="1865376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92240" y="2029968"/>
            <a:ext cx="1426464" cy="246888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6565392" y="2107692"/>
            <a:ext cx="82296" cy="82296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93407" y="2071116"/>
            <a:ext cx="117957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IN PROGRESS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193023" y="2048256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GOVERNANCE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92240" y="2386584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Backend modules and a dashboard surface exist; deeper product integration and enforcement are next.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68096" y="3072384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987552" y="3236976"/>
            <a:ext cx="1097280" cy="246888"/>
          </a:xfrm>
          <a:prstGeom prst="roundRect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1060704" y="3314700"/>
            <a:ext cx="82296" cy="82296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188720" y="3278124"/>
            <a:ext cx="850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5E83FF"/>
                </a:solidFill>
                <a:latin typeface="Aptos"/>
              </a:rPr>
              <a:t>FUTURE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3255264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PREDICTION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7552" y="3593592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Forecast hotspots, risk, and likely failure modes from accumulated engineering evidence.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272783" y="3072384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6492240" y="3236976"/>
            <a:ext cx="1097280" cy="246888"/>
          </a:xfrm>
          <a:prstGeom prst="roundRect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565392" y="3314700"/>
            <a:ext cx="82296" cy="82296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93407" y="3278124"/>
            <a:ext cx="850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AE8BFF"/>
                </a:solidFill>
                <a:latin typeface="Aptos"/>
              </a:rPr>
              <a:t>FUTURE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0" y="3255264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LEARNING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92240" y="3593592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Close the loop from accepted, rejected, and reverted outcomes — with provenance.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68096" y="4279392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ounded Rectangle 41"/>
          <p:cNvSpPr/>
          <p:nvPr/>
        </p:nvSpPr>
        <p:spPr>
          <a:xfrm>
            <a:off x="987552" y="4443983"/>
            <a:ext cx="1097280" cy="246888"/>
          </a:xfrm>
          <a:prstGeom prst="roundRect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1060704" y="4521707"/>
            <a:ext cx="82296" cy="82296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188720" y="4485131"/>
            <a:ext cx="850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4BD8F7"/>
                </a:solidFill>
                <a:latin typeface="Aptos"/>
              </a:rPr>
              <a:t>FUTURE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2359152" y="4462272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DIGITAL TWIN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87552" y="4800600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Continuously model system state, dependencies, health, and change impact.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272783" y="4279392"/>
            <a:ext cx="5010912" cy="95097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A395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ounded Rectangle 47"/>
          <p:cNvSpPr/>
          <p:nvPr/>
        </p:nvSpPr>
        <p:spPr>
          <a:xfrm>
            <a:off x="6492240" y="4443983"/>
            <a:ext cx="1097280" cy="246888"/>
          </a:xfrm>
          <a:prstGeom prst="roundRect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565392" y="4521707"/>
            <a:ext cx="82296" cy="82296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693407" y="4485131"/>
            <a:ext cx="85039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FBF5B"/>
                </a:solidFill>
                <a:latin typeface="Aptos"/>
              </a:rPr>
              <a:t>FUTURE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0" y="4462272"/>
            <a:ext cx="2560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00" b="1" i="0">
                <a:solidFill>
                  <a:srgbClr val="F1F5FF"/>
                </a:solidFill>
                <a:latin typeface="Aptos"/>
              </a:rPr>
              <a:t>AUTONOMOUS ENGINEERING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92240" y="4800600"/>
            <a:ext cx="4443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30" b="0" i="0">
                <a:solidFill>
                  <a:srgbClr val="91A0BA"/>
                </a:solidFill>
                <a:latin typeface="Aptos"/>
              </a:rPr>
              <a:t>Bounded execution policies may grow; explicit control remains a product principle.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768096" y="5669280"/>
            <a:ext cx="10771632" cy="384048"/>
          </a:xfrm>
          <a:prstGeom prst="roundRect">
            <a:avLst/>
          </a:prstGeom>
          <a:solidFill>
            <a:srgbClr val="2A2116"/>
          </a:solidFill>
          <a:ln w="12700">
            <a:solidFill>
              <a:srgbClr val="6A51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05840" y="5788152"/>
            <a:ext cx="10277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80" b="1" i="0">
                <a:solidFill>
                  <a:srgbClr val="FFBF5B"/>
                </a:solidFill>
                <a:latin typeface="Aptos"/>
              </a:rPr>
              <a:t>NORTH STAR  ·  MORE CAPABLE PROPOSALS  ·  NEVER LESS EXPLICIT CONTROL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13 / TECHNOLOGY STACK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A local-first stack with provider-neutral intelligence.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The architecture keeps the desktop responsive, the AI runtime replaceable, and the project data close to the engineer.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STACK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2057400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5E83FF"/>
                </a:solidFill>
                <a:latin typeface="Aptos"/>
              </a:rPr>
              <a:t>EXPERIENCE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2359152" y="2240279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281635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6207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React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7939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32511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TypeScript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74243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78815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Vite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20547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5119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Monaco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668512" y="1975103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714232" y="2148839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@aura/ui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2852928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DESKTOP + SERVICE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2359152" y="3035808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Rounded Rectangle 30"/>
          <p:cNvSpPr/>
          <p:nvPr/>
        </p:nvSpPr>
        <p:spPr>
          <a:xfrm>
            <a:off x="281635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207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Tauri v2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7939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32511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thin Rust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574243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78815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Node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20547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25119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localhost HTTP/SSE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668512" y="2770632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714232" y="2944368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Zustand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8096" y="3648456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AE8BFF"/>
                </a:solidFill>
                <a:latin typeface="Aptos"/>
              </a:rPr>
              <a:t>KNOWLEDGE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2359152" y="3831336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3" name="Rounded Rectangle 42"/>
          <p:cNvSpPr/>
          <p:nvPr/>
        </p:nvSpPr>
        <p:spPr>
          <a:xfrm>
            <a:off x="281635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86207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Coding Engine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27939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32511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FullStack Engine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74243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78815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BM25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720547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725119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persistent graph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8668512" y="3566160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8714232" y="3739896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graphify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68096" y="4443984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FFBF5B"/>
                </a:solidFill>
                <a:latin typeface="Aptos"/>
              </a:rPr>
              <a:t>AI RUNTIME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2359152" y="4626864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5" name="Rounded Rectangle 54"/>
          <p:cNvSpPr/>
          <p:nvPr/>
        </p:nvSpPr>
        <p:spPr>
          <a:xfrm>
            <a:off x="2816352" y="4361688"/>
            <a:ext cx="932688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2862072" y="4535424"/>
            <a:ext cx="8412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Anthropic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840480" y="4361688"/>
            <a:ext cx="932688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886200" y="4535424"/>
            <a:ext cx="8412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OpenAI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4864608" y="4361688"/>
            <a:ext cx="932688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4910328" y="4535424"/>
            <a:ext cx="8412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Gemini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88736" y="4361688"/>
            <a:ext cx="932688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934456" y="4535424"/>
            <a:ext cx="8412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Groq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912864" y="4361688"/>
            <a:ext cx="932688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58584" y="4535424"/>
            <a:ext cx="8412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Mistral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7936992" y="4361688"/>
            <a:ext cx="932688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982712" y="4535424"/>
            <a:ext cx="8412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NVIDIA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8961120" y="4361688"/>
            <a:ext cx="932688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9006840" y="4535424"/>
            <a:ext cx="8412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OpenRouter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9985248" y="4361688"/>
            <a:ext cx="932688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0030968" y="4535424"/>
            <a:ext cx="8412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F1F5FF"/>
                </a:solidFill>
                <a:latin typeface="Aptos"/>
              </a:rPr>
              <a:t>Kimi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8096" y="5239512"/>
            <a:ext cx="15727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7DCA2"/>
                </a:solidFill>
                <a:latin typeface="Aptos"/>
              </a:rPr>
              <a:t>ENGINEERING SYSTEMS</a:t>
            </a:r>
          </a:p>
        </p:txBody>
      </p:sp>
      <p:cxnSp>
        <p:nvCxnSpPr>
          <p:cNvPr id="72" name="Connector 71"/>
          <p:cNvCxnSpPr/>
          <p:nvPr/>
        </p:nvCxnSpPr>
        <p:spPr>
          <a:xfrm>
            <a:off x="2359152" y="5422392"/>
            <a:ext cx="310896" cy="0"/>
          </a:xfrm>
          <a:prstGeom prst="line">
            <a:avLst/>
          </a:prstGeom>
          <a:ln w="12700">
            <a:solidFill>
              <a:srgbClr val="30415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3" name="Rounded Rectangle 72"/>
          <p:cNvSpPr/>
          <p:nvPr/>
        </p:nvSpPr>
        <p:spPr>
          <a:xfrm>
            <a:off x="2816352" y="5157216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862072" y="5330951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Git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4279392" y="5157216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4325112" y="5330951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JSON stores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5742432" y="5157216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5788152" y="5330951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Diagnosis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7205472" y="5157216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251192" y="5330951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Mission Control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668512" y="5157216"/>
            <a:ext cx="1307592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8714232" y="5330951"/>
            <a:ext cx="1216151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Governance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7708392" y="5157216"/>
            <a:ext cx="877824" cy="512064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754112" y="5330951"/>
            <a:ext cx="78638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40" b="1" i="0">
                <a:solidFill>
                  <a:srgbClr val="F1F5FF"/>
                </a:solidFill>
                <a:latin typeface="Aptos"/>
              </a:rPr>
              <a:t>Architecture docs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768096" y="6007608"/>
            <a:ext cx="10771632" cy="274320"/>
          </a:xfrm>
          <a:prstGeom prst="roundRect">
            <a:avLst/>
          </a:prstGeom>
          <a:solidFill>
            <a:srgbClr val="182236"/>
          </a:solidFill>
          <a:ln w="12700">
            <a:solidFill>
              <a:srgbClr val="2D45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69264" y="6089904"/>
            <a:ext cx="10369296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90" b="1" i="0">
                <a:solidFill>
                  <a:srgbClr val="91A0BA"/>
                </a:solidFill>
                <a:latin typeface="Aptos"/>
              </a:rPr>
              <a:t>CURRENT RETRIEVAL IS KEYWORD + GRAPH; EMBEDDINGS / VECTOR SEARCH REMAIN A REPLACEABLE SEAM.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731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>
            <a:off x="3017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5303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589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>
            <a:off x="98755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11475720" y="329184"/>
            <a:ext cx="0" cy="5998464"/>
          </a:xfrm>
          <a:prstGeom prst="line">
            <a:avLst/>
          </a:prstGeom>
          <a:ln w="6985">
            <a:solidFill>
              <a:srgbClr val="0E172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694944" y="329184"/>
            <a:ext cx="10789920" cy="0"/>
          </a:xfrm>
          <a:prstGeom prst="line">
            <a:avLst/>
          </a:prstGeom>
          <a:ln w="7620">
            <a:solidFill>
              <a:srgbClr val="14213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713232" y="466344"/>
            <a:ext cx="7132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14 / LIVE DEMONSTRATION FLOW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94944"/>
            <a:ext cx="97840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2700" b="1" i="0">
                <a:solidFill>
                  <a:srgbClr val="F1F5FF"/>
                </a:solidFill>
                <a:latin typeface="Aptos Display"/>
              </a:rPr>
              <a:t>From an open project to an approved change.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1243584"/>
            <a:ext cx="9966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 i="0">
                <a:solidFill>
                  <a:srgbClr val="91A0BA"/>
                </a:solidFill>
                <a:latin typeface="Aptos"/>
              </a:rPr>
              <a:t>A single path makes the architecture tangible: each step exposes a real artifact or gate.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12680" y="475488"/>
            <a:ext cx="1417320" cy="228600"/>
          </a:xfrm>
          <a:prstGeom prst="roundRect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76688" y="507492"/>
            <a:ext cx="128930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50" b="1" i="0">
                <a:solidFill>
                  <a:srgbClr val="47DCA2"/>
                </a:solidFill>
                <a:latin typeface="Aptos"/>
              </a:rPr>
              <a:t>DEMO PATH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94944" y="6473952"/>
            <a:ext cx="1078992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713232" y="6556248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045952" y="6528816"/>
            <a:ext cx="43891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15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8096" y="197510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50976" y="2157984"/>
            <a:ext cx="347472" cy="34747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0976" y="227685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53895" y="215798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4BD8F7"/>
                </a:solidFill>
                <a:latin typeface="Aptos"/>
              </a:rPr>
              <a:t>OPEN PROJECT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0976" y="257860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profile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index status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099815" y="2542032"/>
            <a:ext cx="301753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Isosceles Triangle 22"/>
          <p:cNvSpPr/>
          <p:nvPr/>
        </p:nvSpPr>
        <p:spPr>
          <a:xfrm rot="5400000">
            <a:off x="3364991" y="250545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511296" y="197510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3694176" y="2157984"/>
            <a:ext cx="347472" cy="34747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694176" y="227685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197096" y="215798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5E83FF"/>
                </a:solidFill>
                <a:latin typeface="Aptos"/>
              </a:rPr>
              <a:t>KNOWLEDGE FABRIC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257860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files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graph context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5843016" y="2542032"/>
            <a:ext cx="301752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Isosceles Triangle 29"/>
          <p:cNvSpPr/>
          <p:nvPr/>
        </p:nvSpPr>
        <p:spPr>
          <a:xfrm rot="5400000">
            <a:off x="6108192" y="250545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54496" y="197510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437376" y="2157984"/>
            <a:ext cx="347472" cy="347472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37376" y="227685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0296" y="215798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AE8BFF"/>
                </a:solidFill>
                <a:latin typeface="Aptos"/>
              </a:rPr>
              <a:t>ASK AURA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37376" y="257860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grounded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conversation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586216" y="2542032"/>
            <a:ext cx="301751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Isosceles Triangle 36"/>
          <p:cNvSpPr/>
          <p:nvPr/>
        </p:nvSpPr>
        <p:spPr>
          <a:xfrm rot="5400000">
            <a:off x="8851392" y="250545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997696" y="197510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9180576" y="2157984"/>
            <a:ext cx="347472" cy="34747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80576" y="227685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83496" y="215798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FFBF5B"/>
                </a:solidFill>
                <a:latin typeface="Aptos"/>
              </a:rPr>
              <a:t>DIAGNOSIS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80576" y="257860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signals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A/B/C patches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768096" y="375818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950976" y="3941064"/>
            <a:ext cx="347472" cy="347472"/>
          </a:xfrm>
          <a:prstGeom prst="ellipse">
            <a:avLst/>
          </a:prstGeom>
          <a:solidFill>
            <a:srgbClr val="FFBF5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50976" y="405993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453895" y="394106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FFBF5B"/>
                </a:solidFill>
                <a:latin typeface="Aptos"/>
              </a:rPr>
              <a:t>MISSION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50976" y="436168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goal graph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execution DAG</a:t>
            </a:r>
          </a:p>
        </p:txBody>
      </p:sp>
      <p:cxnSp>
        <p:nvCxnSpPr>
          <p:cNvPr id="48" name="Connector 47"/>
          <p:cNvCxnSpPr/>
          <p:nvPr/>
        </p:nvCxnSpPr>
        <p:spPr>
          <a:xfrm>
            <a:off x="3099815" y="4325112"/>
            <a:ext cx="301753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Isosceles Triangle 48"/>
          <p:cNvSpPr/>
          <p:nvPr/>
        </p:nvSpPr>
        <p:spPr>
          <a:xfrm rot="5400000">
            <a:off x="3364991" y="428853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ounded Rectangle 49"/>
          <p:cNvSpPr/>
          <p:nvPr/>
        </p:nvSpPr>
        <p:spPr>
          <a:xfrm>
            <a:off x="3511296" y="375818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3694176" y="3941064"/>
            <a:ext cx="347472" cy="347472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94176" y="405993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197096" y="394106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5E83FF"/>
                </a:solidFill>
                <a:latin typeface="Aptos"/>
              </a:rPr>
              <a:t>REVIEW DIFF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3694176" y="436168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proposal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limiter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5843016" y="4325112"/>
            <a:ext cx="301752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Isosceles Triangle 55"/>
          <p:cNvSpPr/>
          <p:nvPr/>
        </p:nvSpPr>
        <p:spPr>
          <a:xfrm rot="5400000">
            <a:off x="6108192" y="428853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ounded Rectangle 56"/>
          <p:cNvSpPr/>
          <p:nvPr/>
        </p:nvSpPr>
        <p:spPr>
          <a:xfrm>
            <a:off x="6254496" y="375818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437376" y="3941064"/>
            <a:ext cx="347472" cy="347472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437376" y="405993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940296" y="394106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47DCA2"/>
                </a:solidFill>
                <a:latin typeface="Aptos"/>
              </a:rPr>
              <a:t>APPROVE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437376" y="436168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human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acceptance</a:t>
            </a:r>
          </a:p>
        </p:txBody>
      </p:sp>
      <p:cxnSp>
        <p:nvCxnSpPr>
          <p:cNvPr id="62" name="Connector 61"/>
          <p:cNvCxnSpPr/>
          <p:nvPr/>
        </p:nvCxnSpPr>
        <p:spPr>
          <a:xfrm>
            <a:off x="8586216" y="4325112"/>
            <a:ext cx="301751" cy="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Isosceles Triangle 62"/>
          <p:cNvSpPr/>
          <p:nvPr/>
        </p:nvSpPr>
        <p:spPr>
          <a:xfrm rot="5400000">
            <a:off x="8851392" y="4288536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8997696" y="3758184"/>
            <a:ext cx="2304288" cy="1124712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C3B5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9180576" y="3941064"/>
            <a:ext cx="347472" cy="347472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9180576" y="4059936"/>
            <a:ext cx="3474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80" b="1" i="0">
                <a:solidFill>
                  <a:srgbClr val="080C14"/>
                </a:solidFill>
                <a:latin typeface="Aptos"/>
              </a:rPr>
              <a:t>08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683496" y="3941064"/>
            <a:ext cx="141732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90" b="1" i="0">
                <a:solidFill>
                  <a:srgbClr val="4BD8F7"/>
                </a:solidFill>
                <a:latin typeface="Aptos"/>
              </a:rPr>
              <a:t>REINDEX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180576" y="4361688"/>
            <a:ext cx="171907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memory +</a:t>
            </a:r>
          </a:p>
          <a:p>
            <a:pPr algn="l">
              <a:lnSpc>
                <a:spcPct val="94000"/>
              </a:lnSpc>
            </a:pPr>
            <a:r>
              <a:rPr sz="1110" b="1" i="0">
                <a:solidFill>
                  <a:srgbClr val="F1F5FF"/>
                </a:solidFill>
                <a:latin typeface="Aptos"/>
              </a:rPr>
              <a:t>new context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9235440" y="3108960"/>
            <a:ext cx="0" cy="548640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Isosceles Triangle 69"/>
          <p:cNvSpPr/>
          <p:nvPr/>
        </p:nvSpPr>
        <p:spPr>
          <a:xfrm rot="10800000">
            <a:off x="9198864" y="3621024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1" name="Connector 70"/>
          <p:cNvCxnSpPr/>
          <p:nvPr/>
        </p:nvCxnSpPr>
        <p:spPr>
          <a:xfrm>
            <a:off x="3072384" y="4882896"/>
            <a:ext cx="0" cy="530352"/>
          </a:xfrm>
          <a:prstGeom prst="line">
            <a:avLst/>
          </a:prstGeom>
          <a:ln w="12700">
            <a:solidFill>
              <a:srgbClr val="45618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Isosceles Triangle 71"/>
          <p:cNvSpPr/>
          <p:nvPr/>
        </p:nvSpPr>
        <p:spPr>
          <a:xfrm rot="10800000">
            <a:off x="3035808" y="5376672"/>
            <a:ext cx="73152" cy="73152"/>
          </a:xfrm>
          <a:prstGeom prst="triangle">
            <a:avLst/>
          </a:prstGeom>
          <a:solidFill>
            <a:srgbClr val="45618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ounded Rectangle 72"/>
          <p:cNvSpPr/>
          <p:nvPr/>
        </p:nvSpPr>
        <p:spPr>
          <a:xfrm>
            <a:off x="768096" y="5577840"/>
            <a:ext cx="10771632" cy="438912"/>
          </a:xfrm>
          <a:prstGeom prst="roundRect">
            <a:avLst/>
          </a:prstGeom>
          <a:solidFill>
            <a:srgbClr val="142A37"/>
          </a:solidFill>
          <a:ln w="12700">
            <a:solidFill>
              <a:srgbClr val="2C5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024128" y="5724144"/>
            <a:ext cx="10277856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880" b="1" i="0">
                <a:solidFill>
                  <a:srgbClr val="4BD8F7"/>
                </a:solidFill>
                <a:latin typeface="Aptos"/>
              </a:rPr>
              <a:t>REAL FILES  ·  SSE STAGES  ·  SOURCE CONTEXT  ·  HUMAN CLICK BEFORE WRITE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0C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7699248" y="841248"/>
            <a:ext cx="4370832" cy="4370832"/>
          </a:xfrm>
          <a:prstGeom prst="ellipse">
            <a:avLst/>
          </a:prstGeom>
          <a:solidFill>
            <a:srgbClr val="1024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8311896" y="1453896"/>
            <a:ext cx="3127248" cy="3127248"/>
          </a:xfrm>
          <a:prstGeom prst="ellipse">
            <a:avLst/>
          </a:prstGeom>
          <a:solidFill>
            <a:srgbClr val="1A37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53465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53465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3465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53465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753465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53465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53465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3465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53465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53465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753465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53465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753465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53465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753465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3465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53465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767181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767181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67181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767181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767181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767181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767181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767181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767181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767181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767181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767181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767181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767181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767181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767181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767181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780897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780897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780897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780897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780897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780897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780897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780897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780897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780897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780897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780897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780897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780897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780897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780897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780897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794613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94613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94613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794613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794613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794613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794613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794613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94613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94613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94613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94613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94613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94613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94613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94613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94613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808329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808329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08329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808329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808329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808329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808329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08329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Oval 79"/>
          <p:cNvSpPr/>
          <p:nvPr/>
        </p:nvSpPr>
        <p:spPr>
          <a:xfrm>
            <a:off x="808329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Oval 80"/>
          <p:cNvSpPr/>
          <p:nvPr/>
        </p:nvSpPr>
        <p:spPr>
          <a:xfrm>
            <a:off x="808329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Oval 81"/>
          <p:cNvSpPr/>
          <p:nvPr/>
        </p:nvSpPr>
        <p:spPr>
          <a:xfrm>
            <a:off x="808329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Oval 82"/>
          <p:cNvSpPr/>
          <p:nvPr/>
        </p:nvSpPr>
        <p:spPr>
          <a:xfrm>
            <a:off x="808329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808329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808329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808329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808329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808329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822045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822045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822045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822045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822045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822045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822045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822045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822045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822045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822045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822045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822045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822045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822045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822045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22045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35761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35761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35761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Oval 108"/>
          <p:cNvSpPr/>
          <p:nvPr/>
        </p:nvSpPr>
        <p:spPr>
          <a:xfrm>
            <a:off x="835761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Oval 109"/>
          <p:cNvSpPr/>
          <p:nvPr/>
        </p:nvSpPr>
        <p:spPr>
          <a:xfrm>
            <a:off x="835761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Oval 110"/>
          <p:cNvSpPr/>
          <p:nvPr/>
        </p:nvSpPr>
        <p:spPr>
          <a:xfrm>
            <a:off x="835761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Oval 111"/>
          <p:cNvSpPr/>
          <p:nvPr/>
        </p:nvSpPr>
        <p:spPr>
          <a:xfrm>
            <a:off x="835761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Oval 112"/>
          <p:cNvSpPr/>
          <p:nvPr/>
        </p:nvSpPr>
        <p:spPr>
          <a:xfrm>
            <a:off x="835761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Oval 113"/>
          <p:cNvSpPr/>
          <p:nvPr/>
        </p:nvSpPr>
        <p:spPr>
          <a:xfrm>
            <a:off x="835761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Oval 114"/>
          <p:cNvSpPr/>
          <p:nvPr/>
        </p:nvSpPr>
        <p:spPr>
          <a:xfrm>
            <a:off x="835761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835761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835761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835761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835761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835761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835761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835761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849477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849477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849477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849477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849477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849477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849477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849477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849477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849477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849477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Oval 133"/>
          <p:cNvSpPr/>
          <p:nvPr/>
        </p:nvSpPr>
        <p:spPr>
          <a:xfrm>
            <a:off x="849477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Oval 134"/>
          <p:cNvSpPr/>
          <p:nvPr/>
        </p:nvSpPr>
        <p:spPr>
          <a:xfrm>
            <a:off x="849477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Oval 135"/>
          <p:cNvSpPr/>
          <p:nvPr/>
        </p:nvSpPr>
        <p:spPr>
          <a:xfrm>
            <a:off x="849477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Oval 136"/>
          <p:cNvSpPr/>
          <p:nvPr/>
        </p:nvSpPr>
        <p:spPr>
          <a:xfrm>
            <a:off x="849477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Oval 137"/>
          <p:cNvSpPr/>
          <p:nvPr/>
        </p:nvSpPr>
        <p:spPr>
          <a:xfrm>
            <a:off x="849477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Oval 138"/>
          <p:cNvSpPr/>
          <p:nvPr/>
        </p:nvSpPr>
        <p:spPr>
          <a:xfrm>
            <a:off x="849477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0" name="Oval 139"/>
          <p:cNvSpPr/>
          <p:nvPr/>
        </p:nvSpPr>
        <p:spPr>
          <a:xfrm>
            <a:off x="863193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863193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863193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863193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863193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863193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863193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863193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863193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863193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Oval 149"/>
          <p:cNvSpPr/>
          <p:nvPr/>
        </p:nvSpPr>
        <p:spPr>
          <a:xfrm>
            <a:off x="863193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Oval 150"/>
          <p:cNvSpPr/>
          <p:nvPr/>
        </p:nvSpPr>
        <p:spPr>
          <a:xfrm>
            <a:off x="863193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Oval 151"/>
          <p:cNvSpPr/>
          <p:nvPr/>
        </p:nvSpPr>
        <p:spPr>
          <a:xfrm>
            <a:off x="863193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Oval 152"/>
          <p:cNvSpPr/>
          <p:nvPr/>
        </p:nvSpPr>
        <p:spPr>
          <a:xfrm>
            <a:off x="863193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Oval 153"/>
          <p:cNvSpPr/>
          <p:nvPr/>
        </p:nvSpPr>
        <p:spPr>
          <a:xfrm>
            <a:off x="863193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Oval 154"/>
          <p:cNvSpPr/>
          <p:nvPr/>
        </p:nvSpPr>
        <p:spPr>
          <a:xfrm>
            <a:off x="863193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Oval 155"/>
          <p:cNvSpPr/>
          <p:nvPr/>
        </p:nvSpPr>
        <p:spPr>
          <a:xfrm>
            <a:off x="863193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Oval 156"/>
          <p:cNvSpPr/>
          <p:nvPr/>
        </p:nvSpPr>
        <p:spPr>
          <a:xfrm>
            <a:off x="876909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Oval 157"/>
          <p:cNvSpPr/>
          <p:nvPr/>
        </p:nvSpPr>
        <p:spPr>
          <a:xfrm>
            <a:off x="876909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Oval 158"/>
          <p:cNvSpPr/>
          <p:nvPr/>
        </p:nvSpPr>
        <p:spPr>
          <a:xfrm>
            <a:off x="876909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Oval 159"/>
          <p:cNvSpPr/>
          <p:nvPr/>
        </p:nvSpPr>
        <p:spPr>
          <a:xfrm>
            <a:off x="876909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Oval 160"/>
          <p:cNvSpPr/>
          <p:nvPr/>
        </p:nvSpPr>
        <p:spPr>
          <a:xfrm>
            <a:off x="876909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Oval 161"/>
          <p:cNvSpPr/>
          <p:nvPr/>
        </p:nvSpPr>
        <p:spPr>
          <a:xfrm>
            <a:off x="876909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876909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Oval 163"/>
          <p:cNvSpPr/>
          <p:nvPr/>
        </p:nvSpPr>
        <p:spPr>
          <a:xfrm>
            <a:off x="876909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Oval 164"/>
          <p:cNvSpPr/>
          <p:nvPr/>
        </p:nvSpPr>
        <p:spPr>
          <a:xfrm>
            <a:off x="876909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Oval 165"/>
          <p:cNvSpPr/>
          <p:nvPr/>
        </p:nvSpPr>
        <p:spPr>
          <a:xfrm>
            <a:off x="876909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Oval 166"/>
          <p:cNvSpPr/>
          <p:nvPr/>
        </p:nvSpPr>
        <p:spPr>
          <a:xfrm>
            <a:off x="876909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876909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Oval 168"/>
          <p:cNvSpPr/>
          <p:nvPr/>
        </p:nvSpPr>
        <p:spPr>
          <a:xfrm>
            <a:off x="876909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Oval 169"/>
          <p:cNvSpPr/>
          <p:nvPr/>
        </p:nvSpPr>
        <p:spPr>
          <a:xfrm>
            <a:off x="876909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Oval 170"/>
          <p:cNvSpPr/>
          <p:nvPr/>
        </p:nvSpPr>
        <p:spPr>
          <a:xfrm>
            <a:off x="876909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876909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876909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Oval 173"/>
          <p:cNvSpPr/>
          <p:nvPr/>
        </p:nvSpPr>
        <p:spPr>
          <a:xfrm>
            <a:off x="890625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890625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6" name="Oval 175"/>
          <p:cNvSpPr/>
          <p:nvPr/>
        </p:nvSpPr>
        <p:spPr>
          <a:xfrm>
            <a:off x="890625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Oval 176"/>
          <p:cNvSpPr/>
          <p:nvPr/>
        </p:nvSpPr>
        <p:spPr>
          <a:xfrm>
            <a:off x="890625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890625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890625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0" name="Oval 179"/>
          <p:cNvSpPr/>
          <p:nvPr/>
        </p:nvSpPr>
        <p:spPr>
          <a:xfrm>
            <a:off x="890625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Oval 180"/>
          <p:cNvSpPr/>
          <p:nvPr/>
        </p:nvSpPr>
        <p:spPr>
          <a:xfrm>
            <a:off x="890625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Oval 181"/>
          <p:cNvSpPr/>
          <p:nvPr/>
        </p:nvSpPr>
        <p:spPr>
          <a:xfrm>
            <a:off x="890625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Oval 182"/>
          <p:cNvSpPr/>
          <p:nvPr/>
        </p:nvSpPr>
        <p:spPr>
          <a:xfrm>
            <a:off x="890625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4" name="Oval 183"/>
          <p:cNvSpPr/>
          <p:nvPr/>
        </p:nvSpPr>
        <p:spPr>
          <a:xfrm>
            <a:off x="890625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Oval 184"/>
          <p:cNvSpPr/>
          <p:nvPr/>
        </p:nvSpPr>
        <p:spPr>
          <a:xfrm>
            <a:off x="890625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6" name="Oval 185"/>
          <p:cNvSpPr/>
          <p:nvPr/>
        </p:nvSpPr>
        <p:spPr>
          <a:xfrm>
            <a:off x="890625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Oval 186"/>
          <p:cNvSpPr/>
          <p:nvPr/>
        </p:nvSpPr>
        <p:spPr>
          <a:xfrm>
            <a:off x="890625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8" name="Oval 187"/>
          <p:cNvSpPr/>
          <p:nvPr/>
        </p:nvSpPr>
        <p:spPr>
          <a:xfrm>
            <a:off x="890625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Oval 188"/>
          <p:cNvSpPr/>
          <p:nvPr/>
        </p:nvSpPr>
        <p:spPr>
          <a:xfrm>
            <a:off x="890625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0" name="Oval 189"/>
          <p:cNvSpPr/>
          <p:nvPr/>
        </p:nvSpPr>
        <p:spPr>
          <a:xfrm>
            <a:off x="890625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Oval 190"/>
          <p:cNvSpPr/>
          <p:nvPr/>
        </p:nvSpPr>
        <p:spPr>
          <a:xfrm>
            <a:off x="904341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2" name="Oval 191"/>
          <p:cNvSpPr/>
          <p:nvPr/>
        </p:nvSpPr>
        <p:spPr>
          <a:xfrm>
            <a:off x="904341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Oval 192"/>
          <p:cNvSpPr/>
          <p:nvPr/>
        </p:nvSpPr>
        <p:spPr>
          <a:xfrm>
            <a:off x="904341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4" name="Oval 193"/>
          <p:cNvSpPr/>
          <p:nvPr/>
        </p:nvSpPr>
        <p:spPr>
          <a:xfrm>
            <a:off x="904341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Oval 194"/>
          <p:cNvSpPr/>
          <p:nvPr/>
        </p:nvSpPr>
        <p:spPr>
          <a:xfrm>
            <a:off x="904341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6" name="Oval 195"/>
          <p:cNvSpPr/>
          <p:nvPr/>
        </p:nvSpPr>
        <p:spPr>
          <a:xfrm>
            <a:off x="904341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Oval 196"/>
          <p:cNvSpPr/>
          <p:nvPr/>
        </p:nvSpPr>
        <p:spPr>
          <a:xfrm>
            <a:off x="904341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8" name="Oval 197"/>
          <p:cNvSpPr/>
          <p:nvPr/>
        </p:nvSpPr>
        <p:spPr>
          <a:xfrm>
            <a:off x="904341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Oval 198"/>
          <p:cNvSpPr/>
          <p:nvPr/>
        </p:nvSpPr>
        <p:spPr>
          <a:xfrm>
            <a:off x="904341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0" name="Oval 199"/>
          <p:cNvSpPr/>
          <p:nvPr/>
        </p:nvSpPr>
        <p:spPr>
          <a:xfrm>
            <a:off x="904341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Oval 200"/>
          <p:cNvSpPr/>
          <p:nvPr/>
        </p:nvSpPr>
        <p:spPr>
          <a:xfrm>
            <a:off x="904341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2" name="Oval 201"/>
          <p:cNvSpPr/>
          <p:nvPr/>
        </p:nvSpPr>
        <p:spPr>
          <a:xfrm>
            <a:off x="904341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Oval 202"/>
          <p:cNvSpPr/>
          <p:nvPr/>
        </p:nvSpPr>
        <p:spPr>
          <a:xfrm>
            <a:off x="904341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4" name="Oval 203"/>
          <p:cNvSpPr/>
          <p:nvPr/>
        </p:nvSpPr>
        <p:spPr>
          <a:xfrm>
            <a:off x="904341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Oval 204"/>
          <p:cNvSpPr/>
          <p:nvPr/>
        </p:nvSpPr>
        <p:spPr>
          <a:xfrm>
            <a:off x="904341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6" name="Oval 205"/>
          <p:cNvSpPr/>
          <p:nvPr/>
        </p:nvSpPr>
        <p:spPr>
          <a:xfrm>
            <a:off x="904341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Oval 206"/>
          <p:cNvSpPr/>
          <p:nvPr/>
        </p:nvSpPr>
        <p:spPr>
          <a:xfrm>
            <a:off x="904341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8" name="Oval 207"/>
          <p:cNvSpPr/>
          <p:nvPr/>
        </p:nvSpPr>
        <p:spPr>
          <a:xfrm>
            <a:off x="918057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Oval 208"/>
          <p:cNvSpPr/>
          <p:nvPr/>
        </p:nvSpPr>
        <p:spPr>
          <a:xfrm>
            <a:off x="918057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0" name="Oval 209"/>
          <p:cNvSpPr/>
          <p:nvPr/>
        </p:nvSpPr>
        <p:spPr>
          <a:xfrm>
            <a:off x="918057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Oval 210"/>
          <p:cNvSpPr/>
          <p:nvPr/>
        </p:nvSpPr>
        <p:spPr>
          <a:xfrm>
            <a:off x="918057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2" name="Oval 211"/>
          <p:cNvSpPr/>
          <p:nvPr/>
        </p:nvSpPr>
        <p:spPr>
          <a:xfrm>
            <a:off x="918057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Oval 212"/>
          <p:cNvSpPr/>
          <p:nvPr/>
        </p:nvSpPr>
        <p:spPr>
          <a:xfrm>
            <a:off x="918057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4" name="Oval 213"/>
          <p:cNvSpPr/>
          <p:nvPr/>
        </p:nvSpPr>
        <p:spPr>
          <a:xfrm>
            <a:off x="918057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Oval 214"/>
          <p:cNvSpPr/>
          <p:nvPr/>
        </p:nvSpPr>
        <p:spPr>
          <a:xfrm>
            <a:off x="918057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6" name="Oval 215"/>
          <p:cNvSpPr/>
          <p:nvPr/>
        </p:nvSpPr>
        <p:spPr>
          <a:xfrm>
            <a:off x="918057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Oval 216"/>
          <p:cNvSpPr/>
          <p:nvPr/>
        </p:nvSpPr>
        <p:spPr>
          <a:xfrm>
            <a:off x="918057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8" name="Oval 217"/>
          <p:cNvSpPr/>
          <p:nvPr/>
        </p:nvSpPr>
        <p:spPr>
          <a:xfrm>
            <a:off x="918057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Oval 218"/>
          <p:cNvSpPr/>
          <p:nvPr/>
        </p:nvSpPr>
        <p:spPr>
          <a:xfrm>
            <a:off x="918057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0" name="Oval 219"/>
          <p:cNvSpPr/>
          <p:nvPr/>
        </p:nvSpPr>
        <p:spPr>
          <a:xfrm>
            <a:off x="918057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Oval 220"/>
          <p:cNvSpPr/>
          <p:nvPr/>
        </p:nvSpPr>
        <p:spPr>
          <a:xfrm>
            <a:off x="918057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2" name="Oval 221"/>
          <p:cNvSpPr/>
          <p:nvPr/>
        </p:nvSpPr>
        <p:spPr>
          <a:xfrm>
            <a:off x="918057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Oval 222"/>
          <p:cNvSpPr/>
          <p:nvPr/>
        </p:nvSpPr>
        <p:spPr>
          <a:xfrm>
            <a:off x="918057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4" name="Oval 223"/>
          <p:cNvSpPr/>
          <p:nvPr/>
        </p:nvSpPr>
        <p:spPr>
          <a:xfrm>
            <a:off x="918057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Oval 224"/>
          <p:cNvSpPr/>
          <p:nvPr/>
        </p:nvSpPr>
        <p:spPr>
          <a:xfrm>
            <a:off x="931773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6" name="Oval 225"/>
          <p:cNvSpPr/>
          <p:nvPr/>
        </p:nvSpPr>
        <p:spPr>
          <a:xfrm>
            <a:off x="931773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Oval 226"/>
          <p:cNvSpPr/>
          <p:nvPr/>
        </p:nvSpPr>
        <p:spPr>
          <a:xfrm>
            <a:off x="931773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8" name="Oval 227"/>
          <p:cNvSpPr/>
          <p:nvPr/>
        </p:nvSpPr>
        <p:spPr>
          <a:xfrm>
            <a:off x="931773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Oval 228"/>
          <p:cNvSpPr/>
          <p:nvPr/>
        </p:nvSpPr>
        <p:spPr>
          <a:xfrm>
            <a:off x="931773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0" name="Oval 229"/>
          <p:cNvSpPr/>
          <p:nvPr/>
        </p:nvSpPr>
        <p:spPr>
          <a:xfrm>
            <a:off x="931773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1" name="Oval 230"/>
          <p:cNvSpPr/>
          <p:nvPr/>
        </p:nvSpPr>
        <p:spPr>
          <a:xfrm>
            <a:off x="931773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Oval 231"/>
          <p:cNvSpPr/>
          <p:nvPr/>
        </p:nvSpPr>
        <p:spPr>
          <a:xfrm>
            <a:off x="931773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3" name="Oval 232"/>
          <p:cNvSpPr/>
          <p:nvPr/>
        </p:nvSpPr>
        <p:spPr>
          <a:xfrm>
            <a:off x="931773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4" name="Oval 233"/>
          <p:cNvSpPr/>
          <p:nvPr/>
        </p:nvSpPr>
        <p:spPr>
          <a:xfrm>
            <a:off x="931773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Oval 234"/>
          <p:cNvSpPr/>
          <p:nvPr/>
        </p:nvSpPr>
        <p:spPr>
          <a:xfrm>
            <a:off x="931773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6" name="Oval 235"/>
          <p:cNvSpPr/>
          <p:nvPr/>
        </p:nvSpPr>
        <p:spPr>
          <a:xfrm>
            <a:off x="931773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7" name="Oval 236"/>
          <p:cNvSpPr/>
          <p:nvPr/>
        </p:nvSpPr>
        <p:spPr>
          <a:xfrm>
            <a:off x="931773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Oval 237"/>
          <p:cNvSpPr/>
          <p:nvPr/>
        </p:nvSpPr>
        <p:spPr>
          <a:xfrm>
            <a:off x="931773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9" name="Oval 238"/>
          <p:cNvSpPr/>
          <p:nvPr/>
        </p:nvSpPr>
        <p:spPr>
          <a:xfrm>
            <a:off x="931773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0" name="Oval 239"/>
          <p:cNvSpPr/>
          <p:nvPr/>
        </p:nvSpPr>
        <p:spPr>
          <a:xfrm>
            <a:off x="931773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Oval 240"/>
          <p:cNvSpPr/>
          <p:nvPr/>
        </p:nvSpPr>
        <p:spPr>
          <a:xfrm>
            <a:off x="931773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2" name="Oval 241"/>
          <p:cNvSpPr/>
          <p:nvPr/>
        </p:nvSpPr>
        <p:spPr>
          <a:xfrm>
            <a:off x="945489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3" name="Oval 242"/>
          <p:cNvSpPr/>
          <p:nvPr/>
        </p:nvSpPr>
        <p:spPr>
          <a:xfrm>
            <a:off x="945489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4" name="Oval 243"/>
          <p:cNvSpPr/>
          <p:nvPr/>
        </p:nvSpPr>
        <p:spPr>
          <a:xfrm>
            <a:off x="945489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5" name="Oval 244"/>
          <p:cNvSpPr/>
          <p:nvPr/>
        </p:nvSpPr>
        <p:spPr>
          <a:xfrm>
            <a:off x="945489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6" name="Oval 245"/>
          <p:cNvSpPr/>
          <p:nvPr/>
        </p:nvSpPr>
        <p:spPr>
          <a:xfrm>
            <a:off x="945489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7" name="Oval 246"/>
          <p:cNvSpPr/>
          <p:nvPr/>
        </p:nvSpPr>
        <p:spPr>
          <a:xfrm>
            <a:off x="945489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8" name="Oval 247"/>
          <p:cNvSpPr/>
          <p:nvPr/>
        </p:nvSpPr>
        <p:spPr>
          <a:xfrm>
            <a:off x="945489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9" name="Oval 248"/>
          <p:cNvSpPr/>
          <p:nvPr/>
        </p:nvSpPr>
        <p:spPr>
          <a:xfrm>
            <a:off x="945489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0" name="Oval 249"/>
          <p:cNvSpPr/>
          <p:nvPr/>
        </p:nvSpPr>
        <p:spPr>
          <a:xfrm>
            <a:off x="945489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1" name="Oval 250"/>
          <p:cNvSpPr/>
          <p:nvPr/>
        </p:nvSpPr>
        <p:spPr>
          <a:xfrm>
            <a:off x="945489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2" name="Oval 251"/>
          <p:cNvSpPr/>
          <p:nvPr/>
        </p:nvSpPr>
        <p:spPr>
          <a:xfrm>
            <a:off x="945489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3" name="Oval 252"/>
          <p:cNvSpPr/>
          <p:nvPr/>
        </p:nvSpPr>
        <p:spPr>
          <a:xfrm>
            <a:off x="945489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4" name="Oval 253"/>
          <p:cNvSpPr/>
          <p:nvPr/>
        </p:nvSpPr>
        <p:spPr>
          <a:xfrm>
            <a:off x="945489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5" name="Oval 254"/>
          <p:cNvSpPr/>
          <p:nvPr/>
        </p:nvSpPr>
        <p:spPr>
          <a:xfrm>
            <a:off x="945489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6" name="Oval 255"/>
          <p:cNvSpPr/>
          <p:nvPr/>
        </p:nvSpPr>
        <p:spPr>
          <a:xfrm>
            <a:off x="945489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7" name="Oval 256"/>
          <p:cNvSpPr/>
          <p:nvPr/>
        </p:nvSpPr>
        <p:spPr>
          <a:xfrm>
            <a:off x="945489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8" name="Oval 257"/>
          <p:cNvSpPr/>
          <p:nvPr/>
        </p:nvSpPr>
        <p:spPr>
          <a:xfrm>
            <a:off x="945489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9" name="Oval 258"/>
          <p:cNvSpPr/>
          <p:nvPr/>
        </p:nvSpPr>
        <p:spPr>
          <a:xfrm>
            <a:off x="959205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0" name="Oval 259"/>
          <p:cNvSpPr/>
          <p:nvPr/>
        </p:nvSpPr>
        <p:spPr>
          <a:xfrm>
            <a:off x="959205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1" name="Oval 260"/>
          <p:cNvSpPr/>
          <p:nvPr/>
        </p:nvSpPr>
        <p:spPr>
          <a:xfrm>
            <a:off x="959205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2" name="Oval 261"/>
          <p:cNvSpPr/>
          <p:nvPr/>
        </p:nvSpPr>
        <p:spPr>
          <a:xfrm>
            <a:off x="959205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3" name="Oval 262"/>
          <p:cNvSpPr/>
          <p:nvPr/>
        </p:nvSpPr>
        <p:spPr>
          <a:xfrm>
            <a:off x="959205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4" name="Oval 263"/>
          <p:cNvSpPr/>
          <p:nvPr/>
        </p:nvSpPr>
        <p:spPr>
          <a:xfrm>
            <a:off x="959205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5" name="Oval 264"/>
          <p:cNvSpPr/>
          <p:nvPr/>
        </p:nvSpPr>
        <p:spPr>
          <a:xfrm>
            <a:off x="959205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6" name="Oval 265"/>
          <p:cNvSpPr/>
          <p:nvPr/>
        </p:nvSpPr>
        <p:spPr>
          <a:xfrm>
            <a:off x="959205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7" name="Oval 266"/>
          <p:cNvSpPr/>
          <p:nvPr/>
        </p:nvSpPr>
        <p:spPr>
          <a:xfrm>
            <a:off x="959205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8" name="Oval 267"/>
          <p:cNvSpPr/>
          <p:nvPr/>
        </p:nvSpPr>
        <p:spPr>
          <a:xfrm>
            <a:off x="959205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9" name="Oval 268"/>
          <p:cNvSpPr/>
          <p:nvPr/>
        </p:nvSpPr>
        <p:spPr>
          <a:xfrm>
            <a:off x="959205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Oval 269"/>
          <p:cNvSpPr/>
          <p:nvPr/>
        </p:nvSpPr>
        <p:spPr>
          <a:xfrm>
            <a:off x="959205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1" name="Oval 270"/>
          <p:cNvSpPr/>
          <p:nvPr/>
        </p:nvSpPr>
        <p:spPr>
          <a:xfrm>
            <a:off x="959205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Oval 271"/>
          <p:cNvSpPr/>
          <p:nvPr/>
        </p:nvSpPr>
        <p:spPr>
          <a:xfrm>
            <a:off x="959205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3" name="Oval 272"/>
          <p:cNvSpPr/>
          <p:nvPr/>
        </p:nvSpPr>
        <p:spPr>
          <a:xfrm>
            <a:off x="959205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Oval 273"/>
          <p:cNvSpPr/>
          <p:nvPr/>
        </p:nvSpPr>
        <p:spPr>
          <a:xfrm>
            <a:off x="959205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5" name="Oval 274"/>
          <p:cNvSpPr/>
          <p:nvPr/>
        </p:nvSpPr>
        <p:spPr>
          <a:xfrm>
            <a:off x="959205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Oval 275"/>
          <p:cNvSpPr/>
          <p:nvPr/>
        </p:nvSpPr>
        <p:spPr>
          <a:xfrm>
            <a:off x="9729216" y="10789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7" name="Oval 276"/>
          <p:cNvSpPr/>
          <p:nvPr/>
        </p:nvSpPr>
        <p:spPr>
          <a:xfrm>
            <a:off x="9729216" y="121615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Oval 277"/>
          <p:cNvSpPr/>
          <p:nvPr/>
        </p:nvSpPr>
        <p:spPr>
          <a:xfrm>
            <a:off x="9729216" y="13533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9" name="Oval 278"/>
          <p:cNvSpPr/>
          <p:nvPr/>
        </p:nvSpPr>
        <p:spPr>
          <a:xfrm>
            <a:off x="9729216" y="14904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Oval 279"/>
          <p:cNvSpPr/>
          <p:nvPr/>
        </p:nvSpPr>
        <p:spPr>
          <a:xfrm>
            <a:off x="9729216" y="162763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1" name="Oval 280"/>
          <p:cNvSpPr/>
          <p:nvPr/>
        </p:nvSpPr>
        <p:spPr>
          <a:xfrm>
            <a:off x="9729216" y="176479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2" name="Oval 281"/>
          <p:cNvSpPr/>
          <p:nvPr/>
        </p:nvSpPr>
        <p:spPr>
          <a:xfrm>
            <a:off x="9729216" y="19019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3" name="Oval 282"/>
          <p:cNvSpPr/>
          <p:nvPr/>
        </p:nvSpPr>
        <p:spPr>
          <a:xfrm>
            <a:off x="9729216" y="203911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Oval 283"/>
          <p:cNvSpPr/>
          <p:nvPr/>
        </p:nvSpPr>
        <p:spPr>
          <a:xfrm>
            <a:off x="9729216" y="21762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5" name="Oval 284"/>
          <p:cNvSpPr/>
          <p:nvPr/>
        </p:nvSpPr>
        <p:spPr>
          <a:xfrm>
            <a:off x="9729216" y="23134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6" name="Oval 285"/>
          <p:cNvSpPr/>
          <p:nvPr/>
        </p:nvSpPr>
        <p:spPr>
          <a:xfrm>
            <a:off x="9729216" y="24505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7" name="Oval 286"/>
          <p:cNvSpPr/>
          <p:nvPr/>
        </p:nvSpPr>
        <p:spPr>
          <a:xfrm>
            <a:off x="9729216" y="25877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8" name="Oval 287"/>
          <p:cNvSpPr/>
          <p:nvPr/>
        </p:nvSpPr>
        <p:spPr>
          <a:xfrm>
            <a:off x="9729216" y="272491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9" name="Oval 288"/>
          <p:cNvSpPr/>
          <p:nvPr/>
        </p:nvSpPr>
        <p:spPr>
          <a:xfrm>
            <a:off x="9729216" y="286207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0" name="Oval 289"/>
          <p:cNvSpPr/>
          <p:nvPr/>
        </p:nvSpPr>
        <p:spPr>
          <a:xfrm>
            <a:off x="9729216" y="299923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1" name="Oval 290"/>
          <p:cNvSpPr/>
          <p:nvPr/>
        </p:nvSpPr>
        <p:spPr>
          <a:xfrm>
            <a:off x="9729216" y="3136391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2" name="Oval 291"/>
          <p:cNvSpPr/>
          <p:nvPr/>
        </p:nvSpPr>
        <p:spPr>
          <a:xfrm>
            <a:off x="9729216" y="3273552"/>
            <a:ext cx="22860" cy="22860"/>
          </a:xfrm>
          <a:prstGeom prst="ellipse">
            <a:avLst/>
          </a:prstGeom>
          <a:solidFill>
            <a:srgbClr val="1E335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93" name="Connector 292"/>
          <p:cNvCxnSpPr/>
          <p:nvPr/>
        </p:nvCxnSpPr>
        <p:spPr>
          <a:xfrm>
            <a:off x="749808" y="493776"/>
            <a:ext cx="10698480" cy="0"/>
          </a:xfrm>
          <a:prstGeom prst="line">
            <a:avLst/>
          </a:prstGeom>
          <a:ln w="8890">
            <a:solidFill>
              <a:srgbClr val="1C2A4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4" name="TextBox 293"/>
          <p:cNvSpPr txBox="1"/>
          <p:nvPr/>
        </p:nvSpPr>
        <p:spPr>
          <a:xfrm>
            <a:off x="768096" y="658368"/>
            <a:ext cx="182880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1" i="0">
                <a:solidFill>
                  <a:srgbClr val="4BD8F7"/>
                </a:solidFill>
                <a:latin typeface="Aptos"/>
              </a:rPr>
              <a:t>AURA / CLOSING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768096" y="1481328"/>
            <a:ext cx="5486400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2000"/>
              </a:lnSpc>
            </a:pPr>
            <a:r>
              <a:rPr sz="3100" b="1" i="0">
                <a:solidFill>
                  <a:srgbClr val="F1F5FF"/>
                </a:solidFill>
                <a:latin typeface="Aptos Display"/>
              </a:rPr>
              <a:t>The next engineering</a:t>
            </a:r>
          </a:p>
          <a:p>
            <a:pPr algn="l">
              <a:lnSpc>
                <a:spcPct val="92000"/>
              </a:lnSpc>
            </a:pPr>
            <a:r>
              <a:rPr sz="3100" b="1" i="0">
                <a:solidFill>
                  <a:srgbClr val="F1F5FF"/>
                </a:solidFill>
                <a:latin typeface="Aptos Display"/>
              </a:rPr>
              <a:t>environment is a system.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804672" y="2971800"/>
            <a:ext cx="493776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1600" b="0" i="0">
                <a:solidFill>
                  <a:srgbClr val="91A0BA"/>
                </a:solidFill>
                <a:latin typeface="Aptos"/>
              </a:rPr>
              <a:t>It understands the project, reasons over evidence,</a:t>
            </a:r>
          </a:p>
          <a:p>
            <a:pPr algn="l">
              <a:lnSpc>
                <a:spcPct val="103000"/>
              </a:lnSpc>
            </a:pPr>
            <a:r>
              <a:rPr sz="1600" b="0" i="0">
                <a:solidFill>
                  <a:srgbClr val="91A0BA"/>
                </a:solidFill>
                <a:latin typeface="Aptos"/>
              </a:rPr>
              <a:t>and waits for the engineer.</a:t>
            </a:r>
          </a:p>
        </p:txBody>
      </p:sp>
      <p:sp>
        <p:nvSpPr>
          <p:cNvPr id="297" name="Oval 296"/>
          <p:cNvSpPr/>
          <p:nvPr/>
        </p:nvSpPr>
        <p:spPr>
          <a:xfrm>
            <a:off x="9071579" y="1939259"/>
            <a:ext cx="1790760" cy="1790760"/>
          </a:xfrm>
          <a:prstGeom prst="ellipse">
            <a:avLst/>
          </a:prstGeom>
          <a:noFill/>
          <a:ln w="12700">
            <a:solidFill>
              <a:srgbClr val="2843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8" name="Oval 297"/>
          <p:cNvSpPr/>
          <p:nvPr/>
        </p:nvSpPr>
        <p:spPr>
          <a:xfrm>
            <a:off x="9345168" y="2212848"/>
            <a:ext cx="1243584" cy="1243584"/>
          </a:xfrm>
          <a:prstGeom prst="ellipse">
            <a:avLst/>
          </a:prstGeom>
          <a:noFill/>
          <a:ln w="22860">
            <a:solidFill>
              <a:srgbClr val="5E8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9" name="Oval 298"/>
          <p:cNvSpPr/>
          <p:nvPr/>
        </p:nvSpPr>
        <p:spPr>
          <a:xfrm>
            <a:off x="9718243" y="2585923"/>
            <a:ext cx="497433" cy="497433"/>
          </a:xfrm>
          <a:prstGeom prst="ellipse">
            <a:avLst/>
          </a:prstGeom>
          <a:solidFill>
            <a:srgbClr val="5E8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00" name="Connector 299"/>
          <p:cNvCxnSpPr/>
          <p:nvPr/>
        </p:nvCxnSpPr>
        <p:spPr>
          <a:xfrm>
            <a:off x="8785555" y="2834640"/>
            <a:ext cx="534741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1" name="Connector 300"/>
          <p:cNvCxnSpPr/>
          <p:nvPr/>
        </p:nvCxnSpPr>
        <p:spPr>
          <a:xfrm>
            <a:off x="10613623" y="2834640"/>
            <a:ext cx="534741" cy="0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2" name="Connector 301"/>
          <p:cNvCxnSpPr/>
          <p:nvPr/>
        </p:nvCxnSpPr>
        <p:spPr>
          <a:xfrm>
            <a:off x="9966960" y="1653235"/>
            <a:ext cx="0" cy="534741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3" name="Connector 302"/>
          <p:cNvCxnSpPr/>
          <p:nvPr/>
        </p:nvCxnSpPr>
        <p:spPr>
          <a:xfrm>
            <a:off x="9966960" y="3481303"/>
            <a:ext cx="0" cy="534741"/>
          </a:xfrm>
          <a:prstGeom prst="line">
            <a:avLst/>
          </a:prstGeom>
          <a:ln w="15240">
            <a:solidFill>
              <a:srgbClr val="4BD8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4" name="Rounded Rectangle 303"/>
          <p:cNvSpPr/>
          <p:nvPr/>
        </p:nvSpPr>
        <p:spPr>
          <a:xfrm>
            <a:off x="804672" y="4828032"/>
            <a:ext cx="2212848" cy="67665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5" name="Oval 304"/>
          <p:cNvSpPr/>
          <p:nvPr/>
        </p:nvSpPr>
        <p:spPr>
          <a:xfrm>
            <a:off x="969264" y="5047488"/>
            <a:ext cx="137160" cy="137160"/>
          </a:xfrm>
          <a:prstGeom prst="ellipse">
            <a:avLst/>
          </a:prstGeom>
          <a:solidFill>
            <a:srgbClr val="4BD8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6" name="TextBox 305"/>
          <p:cNvSpPr txBox="1"/>
          <p:nvPr/>
        </p:nvSpPr>
        <p:spPr>
          <a:xfrm>
            <a:off x="1225296" y="4965192"/>
            <a:ext cx="15727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BD8F7"/>
                </a:solidFill>
                <a:latin typeface="Aptos"/>
              </a:rPr>
              <a:t>SHARED TRUTH</a:t>
            </a:r>
          </a:p>
        </p:txBody>
      </p:sp>
      <p:sp>
        <p:nvSpPr>
          <p:cNvPr id="307" name="TextBox 306"/>
          <p:cNvSpPr txBox="1"/>
          <p:nvPr/>
        </p:nvSpPr>
        <p:spPr>
          <a:xfrm>
            <a:off x="969264" y="52486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1F5FF"/>
                </a:solidFill>
                <a:latin typeface="Aptos"/>
              </a:rPr>
              <a:t>The repository becomes queryable context.</a:t>
            </a:r>
          </a:p>
        </p:txBody>
      </p:sp>
      <p:sp>
        <p:nvSpPr>
          <p:cNvPr id="308" name="Rounded Rectangle 307"/>
          <p:cNvSpPr/>
          <p:nvPr/>
        </p:nvSpPr>
        <p:spPr>
          <a:xfrm>
            <a:off x="3291840" y="4828032"/>
            <a:ext cx="2212848" cy="67665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9" name="Oval 308"/>
          <p:cNvSpPr/>
          <p:nvPr/>
        </p:nvSpPr>
        <p:spPr>
          <a:xfrm>
            <a:off x="3456432" y="5047488"/>
            <a:ext cx="137160" cy="137160"/>
          </a:xfrm>
          <a:prstGeom prst="ellipse">
            <a:avLst/>
          </a:prstGeom>
          <a:solidFill>
            <a:srgbClr val="47DCA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0" name="TextBox 309"/>
          <p:cNvSpPr txBox="1"/>
          <p:nvPr/>
        </p:nvSpPr>
        <p:spPr>
          <a:xfrm>
            <a:off x="3712464" y="4965192"/>
            <a:ext cx="15727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47DCA2"/>
                </a:solidFill>
                <a:latin typeface="Aptos"/>
              </a:rPr>
              <a:t>SAFER CHANGE</a:t>
            </a:r>
          </a:p>
        </p:txBody>
      </p:sp>
      <p:sp>
        <p:nvSpPr>
          <p:cNvPr id="311" name="TextBox 310"/>
          <p:cNvSpPr txBox="1"/>
          <p:nvPr/>
        </p:nvSpPr>
        <p:spPr>
          <a:xfrm>
            <a:off x="3456432" y="52486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1F5FF"/>
                </a:solidFill>
                <a:latin typeface="Aptos"/>
              </a:rPr>
              <a:t>Every mutation has a visible gate.</a:t>
            </a:r>
          </a:p>
        </p:txBody>
      </p:sp>
      <p:sp>
        <p:nvSpPr>
          <p:cNvPr id="312" name="Rounded Rectangle 311"/>
          <p:cNvSpPr/>
          <p:nvPr/>
        </p:nvSpPr>
        <p:spPr>
          <a:xfrm>
            <a:off x="5779008" y="4828032"/>
            <a:ext cx="2212848" cy="676656"/>
          </a:xfrm>
          <a:prstGeom prst="roundRect">
            <a:avLst/>
          </a:prstGeom>
          <a:solidFill>
            <a:srgbClr val="151F31"/>
          </a:solidFill>
          <a:ln w="12700">
            <a:solidFill>
              <a:srgbClr val="2B3A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3" name="Oval 312"/>
          <p:cNvSpPr/>
          <p:nvPr/>
        </p:nvSpPr>
        <p:spPr>
          <a:xfrm>
            <a:off x="5943600" y="5047488"/>
            <a:ext cx="137160" cy="137160"/>
          </a:xfrm>
          <a:prstGeom prst="ellipse">
            <a:avLst/>
          </a:prstGeom>
          <a:solidFill>
            <a:srgbClr val="AE8B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4" name="TextBox 313"/>
          <p:cNvSpPr txBox="1"/>
          <p:nvPr/>
        </p:nvSpPr>
        <p:spPr>
          <a:xfrm>
            <a:off x="6199632" y="4965192"/>
            <a:ext cx="15727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E8BFF"/>
                </a:solidFill>
                <a:latin typeface="Aptos"/>
              </a:rPr>
              <a:t>DURABLE CONTEXT</a:t>
            </a:r>
          </a:p>
        </p:txBody>
      </p:sp>
      <p:sp>
        <p:nvSpPr>
          <p:cNvPr id="315" name="TextBox 314"/>
          <p:cNvSpPr txBox="1"/>
          <p:nvPr/>
        </p:nvSpPr>
        <p:spPr>
          <a:xfrm>
            <a:off x="5943600" y="5248656"/>
            <a:ext cx="181051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850" b="1" i="0">
                <a:solidFill>
                  <a:srgbClr val="F1F5FF"/>
                </a:solidFill>
                <a:latin typeface="Aptos"/>
              </a:rPr>
              <a:t>Decisions can outlive the chat.</a:t>
            </a:r>
          </a:p>
        </p:txBody>
      </p:sp>
      <p:sp>
        <p:nvSpPr>
          <p:cNvPr id="316" name="Rounded Rectangle 315"/>
          <p:cNvSpPr/>
          <p:nvPr/>
        </p:nvSpPr>
        <p:spPr>
          <a:xfrm>
            <a:off x="8540496" y="4965192"/>
            <a:ext cx="2880360" cy="457200"/>
          </a:xfrm>
          <a:prstGeom prst="roundRect">
            <a:avLst/>
          </a:prstGeom>
          <a:solidFill>
            <a:srgbClr val="172A37"/>
          </a:solidFill>
          <a:ln w="12700">
            <a:solidFill>
              <a:srgbClr val="2E5D6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7" name="TextBox 316"/>
          <p:cNvSpPr txBox="1"/>
          <p:nvPr/>
        </p:nvSpPr>
        <p:spPr>
          <a:xfrm>
            <a:off x="8714232" y="5120640"/>
            <a:ext cx="254203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770" b="1" i="0">
                <a:solidFill>
                  <a:srgbClr val="4BD8F7"/>
                </a:solidFill>
                <a:latin typeface="Aptos"/>
              </a:rPr>
              <a:t>AURA HUB  ·  AI NATIVE ENGINEERING OPERATING ENVIRONMENT</a:t>
            </a:r>
          </a:p>
        </p:txBody>
      </p:sp>
      <p:cxnSp>
        <p:nvCxnSpPr>
          <p:cNvPr id="318" name="Connector 317"/>
          <p:cNvCxnSpPr/>
          <p:nvPr/>
        </p:nvCxnSpPr>
        <p:spPr>
          <a:xfrm>
            <a:off x="749808" y="6473952"/>
            <a:ext cx="10698480" cy="0"/>
          </a:xfrm>
          <a:prstGeom prst="line">
            <a:avLst/>
          </a:prstGeom>
          <a:ln w="8890">
            <a:solidFill>
              <a:srgbClr val="1B263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9" name="TextBox 318"/>
          <p:cNvSpPr txBox="1"/>
          <p:nvPr/>
        </p:nvSpPr>
        <p:spPr>
          <a:xfrm>
            <a:off x="768096" y="6565392"/>
            <a:ext cx="694944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730" b="1" i="0">
                <a:solidFill>
                  <a:srgbClr val="60708D"/>
                </a:solidFill>
                <a:latin typeface="Aptos"/>
              </a:rPr>
              <a:t>AURA HUB  /  ENGINEERING OPERATING ENVIRONMENT  /  REPO-VERIFIED</a:t>
            </a:r>
          </a:p>
        </p:txBody>
      </p:sp>
      <p:sp>
        <p:nvSpPr>
          <p:cNvPr id="320" name="TextBox 319"/>
          <p:cNvSpPr txBox="1"/>
          <p:nvPr/>
        </p:nvSpPr>
        <p:spPr>
          <a:xfrm>
            <a:off x="11045952" y="6537960"/>
            <a:ext cx="402336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5000"/>
              </a:lnSpc>
            </a:pPr>
            <a:r>
              <a:rPr sz="850" b="1" i="0">
                <a:solidFill>
                  <a:srgbClr val="91A0BA"/>
                </a:solidFill>
                <a:latin typeface="Aptos"/>
              </a:rPr>
              <a:t>16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AURA — AI Native Engineering Operating Environment</dc:title>
  <dc:subject>Repository-grounded architecture presentation</dc:subject>
  <dc:creator>AURA Hub</dc:creator>
  <cp:keywords>AURA, engineering intelligence, knowledge fabric, mission control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